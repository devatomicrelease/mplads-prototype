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95f647f7e74fbd" /><Relationship Type="http://schemas.openxmlformats.org/officeDocument/2006/relationships/extended-properties" Target="/docProps/app.xml" Id="R8b52f3181e9e45df" /><Relationship Type="http://schemas.openxmlformats.org/officeDocument/2006/relationships/officeDocument" Target="/ppt/presentation.xml" Id="R6b30f923a3dd443e" /></Relationships>
</file>

<file path=ppt/presentation.xml><?xml version="1.0" encoding="utf-8"?>
<p:presentation xmlns:p="http://schemas.openxmlformats.org/presentationml/2006/main">
  <p:sldMasterIdLst>
    <p:sldMasterId xmlns:r="http://schemas.openxmlformats.org/officeDocument/2006/relationships" id="2147483648" r:id="R5c8b51918ecf4580"/>
  </p:sldMasterIdLst>
  <p:notesMasterIdLst>
    <p:notesMasterId xmlns:r="http://schemas.openxmlformats.org/officeDocument/2006/relationships" r:id="R5f68a42c9eca48e5"/>
  </p:notesMasterIdLst>
  <p:sldIdLst>
    <p:sldId xmlns:r="http://schemas.openxmlformats.org/officeDocument/2006/relationships" id="256" r:id="Rea200079188a4f36"/>
    <p:sldId xmlns:r="http://schemas.openxmlformats.org/officeDocument/2006/relationships" id="257" r:id="R1f111e63c9684a20"/>
    <p:sldId xmlns:r="http://schemas.openxmlformats.org/officeDocument/2006/relationships" id="258" r:id="R5329ebb34fdc4ca1"/>
    <p:sldId xmlns:r="http://schemas.openxmlformats.org/officeDocument/2006/relationships" id="259" r:id="R98ec33d5c97b48ab"/>
    <p:sldId xmlns:r="http://schemas.openxmlformats.org/officeDocument/2006/relationships" id="260" r:id="R96411c9954764711"/>
    <p:sldId xmlns:r="http://schemas.openxmlformats.org/officeDocument/2006/relationships" id="261" r:id="R1df23af09a2945b7"/>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441fa45c064d74" /><Relationship Type="http://schemas.openxmlformats.org/officeDocument/2006/relationships/slideMaster" Target="/ppt/slideMasters/slideMaster1.xml" Id="R5c8b51918ecf4580" /><Relationship Type="http://schemas.openxmlformats.org/officeDocument/2006/relationships/notesMaster" Target="/ppt/notesMasters/notesMaster1.xml" Id="R5f68a42c9eca48e5" /><Relationship Type="http://schemas.openxmlformats.org/officeDocument/2006/relationships/presProps" Target="/ppt/presProps.xml" Id="R591333e8461947a5" /><Relationship Type="http://schemas.openxmlformats.org/officeDocument/2006/relationships/tableStyles" Target="/ppt/tableStyles.xml" Id="Rab887816e9a343a6" /><Relationship Type="http://schemas.openxmlformats.org/officeDocument/2006/relationships/slide" Target="/ppt/slides/slide1.xml" Id="Rea200079188a4f36" /><Relationship Type="http://schemas.openxmlformats.org/officeDocument/2006/relationships/slide" Target="/ppt/slides/slide2.xml" Id="R1f111e63c9684a20" /><Relationship Type="http://schemas.openxmlformats.org/officeDocument/2006/relationships/slide" Target="/ppt/slides/slide3.xml" Id="R5329ebb34fdc4ca1" /><Relationship Type="http://schemas.openxmlformats.org/officeDocument/2006/relationships/slide" Target="/ppt/slides/slide4.xml" Id="R98ec33d5c97b48ab" /><Relationship Type="http://schemas.openxmlformats.org/officeDocument/2006/relationships/slide" Target="/ppt/slides/slide5.xml" Id="R96411c9954764711" /><Relationship Type="http://schemas.openxmlformats.org/officeDocument/2006/relationships/slide" Target="/ppt/slides/slide6.xml" Id="R1df23af09a2945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4ff4639d674fe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5f90d2b9ef4532" /><Relationship Type="http://schemas.openxmlformats.org/officeDocument/2006/relationships/notesMaster" Target="/ppt/notesMasters/notesMaster1.xml" Id="Rab3bd3e4aca849e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b230e8847a4844" /><Relationship Type="http://schemas.openxmlformats.org/officeDocument/2006/relationships/notesMaster" Target="/ppt/notesMasters/notesMaster1.xml" Id="Ra7f2778c36384a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1c0ddee4e0416e" /><Relationship Type="http://schemas.openxmlformats.org/officeDocument/2006/relationships/notesMaster" Target="/ppt/notesMasters/notesMaster1.xml" Id="Re1925e30151447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ea80867afb4923" /><Relationship Type="http://schemas.openxmlformats.org/officeDocument/2006/relationships/notesMaster" Target="/ppt/notesMasters/notesMaster1.xml" Id="R36b7fdaef0a343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15922565b4e4697" /><Relationship Type="http://schemas.openxmlformats.org/officeDocument/2006/relationships/notesMaster" Target="/ppt/notesMasters/notesMaster1.xml" Id="Reab789cf17d447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eac9030d974f9c" /><Relationship Type="http://schemas.openxmlformats.org/officeDocument/2006/relationships/notesMaster" Target="/ppt/notesMasters/notesMaster1.xml" Id="Re61aa719da3049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MPLADS-GUARD. Team: Quantum Coders. Event: Smart India Hackathon 2026. Problem Statement ID: SIH26102 (numeric ID 26102). Theme: Smart Automation. PS category: Software.</a:t>
            </a:r>
          </a:p>
          <a:p xmlns:a="http://schemas.openxmlformats.org/drawingml/2006/main">
            <a:r>
              <a:t>Official title supplied in the project: Development of an AI-powered system to detect anomalies, fraud, and inefficiencies in MPLAD Scheme implementation regd.</a:t>
            </a:r>
          </a:p>
          <a:p xmlns:a="http://schemas.openxmlformats.org/drawingml/2006/main">
            <a:r>
              <a:t>MPLADS means Members of Parliament Local Area Development Scheme. The platform concept covers approvals and sanctions, expenditure, cost estimates, payments, work progress, completion status and asset evidence. It serves Members of Parliament, State Nodal Authorities, District Authorities and the Ministry.</a:t>
            </a:r>
          </a:p>
          <a:p xmlns:a="http://schemas.openxmlformats.org/drawingml/2006/main">
            <a:r>
              <a:t>Source: user-supplied project PDF, page 1; project Problem statement.txt. Project status here is a proposed solution overview. Team ID was not supplied.</a:t>
            </a:r>
          </a:p>
          <a:p xmlns:a="http://schemas.openxmlformats.org/drawingml/2006/main">
            <a:r>
              <a:t>The cover artwork is a conceptual illustration generated for the presentation, not evidence of a real project or inspection. SIH2026-IDEA-Presentation-Format.pptx supplies the event identity and content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a:t>
            </a:r>
          </a:p>
          <a:p xmlns:a="http://schemas.openxmlformats.org/drawingml/2006/main">
            <a:r>
              <a:t>Manual tracking of financial and project records at scheme scale creates oversight gaps. The proposal translates broad notions of fraud and inefficiency into concrete, computable signals. A flagged anomaly is a reason to investigate, not a legal finding of fraud.</a:t>
            </a:r>
          </a:p>
          <a:p xmlns:a="http://schemas.openxmlformats.org/drawingml/2006/main">
            <a:r>
              <a:t>March Rush: identify unusually fast or unverified expenditure before the end of the financial year. MPLADS funds are non-lapsable, so this signal should measure unusual behavior rather than assume funds must be spent by year end.</a:t>
            </a:r>
          </a:p>
          <a:p xmlns:a="http://schemas.openxmlformats.org/drawingml/2006/main">
            <a:r>
              <a:t>Ghost assets: projects marked completed without verifiable geotagged proof.</a:t>
            </a:r>
          </a:p>
          <a:p xmlns:a="http://schemas.openxmlformats.org/drawingml/2006/main">
            <a:r>
              <a:t>Duplicate assets and billing: compare work descriptions, invoices, vendor records and geospatial proximity.</a:t>
            </a:r>
          </a:p>
          <a:p xmlns:a="http://schemas.openxmlformats.org/drawingml/2006/main">
            <a:r>
              <a:t>Compliance gaps: monitor SC and ST allocation rules independently and version the thresholds to the applicable guidelines. The source PDF states a combined 15% SC/ST quota; its intended allocation-compliance feature is retained. The 15% SC and 7.5% ST benchmarks appear separately in official MPLADS reference material; verify the applicable 2023 guideline and amendments before activating compliance rules.</a:t>
            </a:r>
          </a:p>
          <a:p xmlns:a="http://schemas.openxmlformats.org/drawingml/2006/main">
            <a:r>
              <a:t>Skewed utility: funds concentrated on a single asset type can warrant assessment against local needs. Concentration alone does not establish misuse.</a:t>
            </a:r>
          </a:p>
          <a:p xmlns:a="http://schemas.openxmlformats.org/drawingml/2006/main">
            <a:r>
              <a:t>SOLUTION AND DISTINCTIVENESS</a:t>
            </a:r>
          </a:p>
          <a:p xmlns:a="http://schemas.openxmlformats.org/drawingml/2006/main">
            <a:r>
              <a:t>Raw government data enters a rule engine and AI/ML analysis stage. Computable signals feed anomaly flags and dashboards. Historical financial behavior supports detection of vendor favoritism, March Rush and other outliers. Cross-verification of images, coordinates and invoices supports review of ghost and duplicate works. Alerts cover SC/ST allocation drops and mid-project cost overruns, with timeliness dependent on incoming data.</a:t>
            </a:r>
          </a:p>
          <a:p xmlns:a="http://schemas.openxmlformats.org/drawingml/2006/main">
            <a:r>
              <a:t>Key value proposition: prevent financial leakage from ghost works and inflated costs, make portal data understandable and support eventual nationwide scale. These are intended benefits to validate, not measured outcomes.</a:t>
            </a:r>
          </a:p>
          <a:p xmlns:a="http://schemas.openxmlformats.org/drawingml/2006/main">
            <a:r>
              <a:t>Source: user-supplied project PDF, page 2. Supporting government context: https://mplads.gov.in/ and https://mplads.gov.in/MPLADS/En/2034.aspx. CAG historical performance audit: https://cag.gov.in/en/audit-report/details/2341.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 ARCHITECTURE</a:t>
            </a:r>
          </a:p>
          <a:p xmlns:a="http://schemas.openxmlformats.org/drawingml/2006/main">
            <a:r>
              <a:t>Client and UI: React.js administrative dashboard, live risk heatmaps and charts. The client sends API requests and receives JSON responses.</a:t>
            </a:r>
          </a:p>
          <a:p xmlns:a="http://schemas.openxmlformats.org/drawingml/2006/main">
            <a:r>
              <a:t>API gateway: FastAPI implements authentication, routing and REST API endpoints. FastAPI handles requests for source records, sends normalized records to Python analytics services and returns risk flags to the client. The Python API service also manages data access and returns evidence for each alert.</a:t>
            </a:r>
          </a:p>
          <a:p xmlns:a="http://schemas.openxmlformats.org/drawingml/2006/main">
            <a:r>
              <a:t>Database: MongoDB retains invoices, tenders, relevant project records and analytics results. Authorized records are fetched for processing.</a:t>
            </a:r>
          </a:p>
          <a:p xmlns:a="http://schemas.openxmlformats.org/drawingml/2006/main">
            <a:r>
              <a:t>AI/ML core: Pandas data cleansing, feature engineering for March Rush and geotags, inference using Isolation Forest and other scikit-learn models, and a risk-scoring matrix with high, medium and low tiers.</a:t>
            </a:r>
          </a:p>
          <a:p xmlns:a="http://schemas.openxmlformats.org/drawingml/2006/main">
            <a:r>
              <a:t>DETAILED AI/ML PIPELINE</a:t>
            </a:r>
          </a:p>
          <a:p xmlns:a="http://schemas.openxmlformats.org/drawingml/2006/main">
            <a:r>
              <a:t>1. Ingestion and cleansing: raw financial logs comprising invoices and tenders; Pandas pipeline for missing-value imputation and normalization.</a:t>
            </a:r>
          </a:p>
          <a:p xmlns:a="http://schemas.openxmlformats.org/drawingml/2006/main">
            <a:r>
              <a:t>2. Advanced feature engineering: spatial coordinate verifier for geotag proximity and matches; financial ratio matrix for cost overruns and deficit ratios; time-series extractor for March Rush spending velocity.</a:t>
            </a:r>
          </a:p>
          <a:p xmlns:a="http://schemas.openxmlformats.org/drawingml/2006/main">
            <a:r>
              <a:t>3. Multi-model inference: vector similarity matcher for duplicate invoices and vendor checks; Isolation Forest for unsupervised outliers; a Random Forest classifier retained as a candidate for labeled case classification. Explicit scheme compliance remains in a deterministic rule engine.</a:t>
            </a:r>
          </a:p>
          <a:p xmlns:a="http://schemas.openxmlformats.org/drawingml/2006/main">
            <a:r>
              <a:t>4. Risk aggregation and scoring: a weighted risk engine combines the signals. A configurable dynamic threshold matrix assigns high, medium or low risk with supporting evidence.</a:t>
            </a:r>
          </a:p>
          <a:p xmlns:a="http://schemas.openxmlformats.org/drawingml/2006/main">
            <a:r>
              <a:t>Technology list: Python, TensorFlow, NumPy, Pandas, scikit-learn, MongoDB, FastAPI and React.js. TensorFlow remains in the proposed AI toolkit. Supervised models depend on suitable verified labels and evaluation.</a:t>
            </a:r>
          </a:p>
          <a:p xmlns:a="http://schemas.openxmlformats.org/drawingml/2006/main">
            <a:r>
              <a:t>DATA SOURCES</a:t>
            </a:r>
          </a:p>
          <a:p xmlns:a="http://schemas.openxmlformats.org/drawingml/2006/main">
            <a:r>
              <a:t>MPLADS portal: allocations, MP recommendations and expenditure reports.</a:t>
            </a:r>
          </a:p>
          <a:p xmlns:a="http://schemas.openxmlformats.org/drawingml/2006/main">
            <a:r>
              <a:t>PFMS: proposed authorized digital transaction trails and vendor-payment records. Access is a project dependency, not an established integration.</a:t>
            </a:r>
          </a:p>
          <a:p xmlns:a="http://schemas.openxmlformats.org/drawingml/2006/main">
            <a:r>
              <a:t>Geospatial records: district maps, coordinates and geotagged asset logs.</a:t>
            </a:r>
          </a:p>
          <a:p xmlns:a="http://schemas.openxmlformats.org/drawingml/2006/main">
            <a:r>
              <a:t>Source: user-supplied PDF, page 3 (both architecture diagrams and technology list) and page 6. Documentation: https://fastapi.tiangolo.com/features/ and https://scikit-learn.org/stable/modules/generated/sklearn.ensemble.IsolationForest.html. Data source references: https://mplads.gov.in/ and https://pfms.nic.in/.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RISK ASSESSMENT AND MITIGATION</a:t>
            </a:r>
          </a:p>
          <a:p xmlns:a="http://schemas.openxmlformats.org/drawingml/2006/main">
            <a:r>
              <a:t>Data transparency risk: district expenditure reports can be vague or delayed. Proposed mitigation is automated invoice and tender ingestion through the FastAPI backend, with schema and freshness checks. Automation cannot recover evidence that authorities do not provide. Near-real-time monitoring requires suitably timely authorized feeds.</a:t>
            </a:r>
          </a:p>
          <a:p xmlns:a="http://schemas.openxmlformats.org/drawingml/2006/main">
            <a:r>
              <a:t>Auditing bottlenecks: manual auditing is costly and creates oversight lags. Isolation Forest and automated anomaly screening prioritize suspicious cases and reduce repetitive manual work. Physical inspections remain appropriate when documentary evidence is insufficient.</a:t>
            </a:r>
          </a:p>
          <a:p xmlns:a="http://schemas.openxmlformats.org/drawingml/2006/main">
            <a:r>
              <a:t>False positives and credibility: reviewers may question whether a flagged case indicates corruption. A multi-tier risk scoring matrix should expose verifiable district-level evidence. Human investigation determines whether a flag reflects genuine misuse.</a:t>
            </a:r>
          </a:p>
          <a:p xmlns:a="http://schemas.openxmlformats.org/drawingml/2006/main">
            <a:r>
              <a:t>TECHNICAL FEASIBILITY</a:t>
            </a:r>
          </a:p>
          <a:p xmlns:a="http://schemas.openxmlformats.org/drawingml/2006/main">
            <a:r>
              <a:t>React.js UI, FastAPI APIs and MongoDB persistence form the application. Python analytics services use Pandas for cleansing and scikit-learn for financial behavior modeling. NumPy supports numeric processing; TensorFlow is retained for advanced model work. REST interfaces connect the components. Secure cloud architecture targets nationwide district transaction volumes, subject to load and security testing.</a:t>
            </a:r>
          </a:p>
          <a:p xmlns:a="http://schemas.openxmlformats.org/drawingml/2006/main">
            <a:r>
              <a:t>RESOURCE REQUIREMENTS</a:t>
            </a:r>
          </a:p>
          <a:p xmlns:a="http://schemas.openxmlformats.org/drawingml/2006/main">
            <a:r>
              <a:t>Backend and database hosting, with AWS or Render among the original deployment options. Vercel can host the React frontend. The UI needs responsive dashboard components, charting libraries and live risk heatmaps.</a:t>
            </a:r>
          </a:p>
          <a:p xmlns:a="http://schemas.openxmlformats.org/drawingml/2006/main">
            <a:r>
              <a:t>ECONOMIC APPROACH</a:t>
            </a:r>
          </a:p>
          <a:p xmlns:a="http://schemas.openxmlformats.org/drawingml/2006/main">
            <a:r>
              <a:t>Administrative cost efficiency: reduce physical audit delays, paperwork and bureaucratic burden for district authorities.</a:t>
            </a:r>
          </a:p>
          <a:p xmlns:a="http://schemas.openxmlformats.org/drawingml/2006/main">
            <a:r>
              <a:t>Optimized public spending: identify suspicious year-end spending and ghost projects to reduce avoidable loss. The original proposal expresses potential savings in crores, but provides no quantified evaluation; that ambition is unvalidated.</a:t>
            </a:r>
          </a:p>
          <a:p xmlns:a="http://schemas.openxmlformats.org/drawingml/2006/main">
            <a:r>
              <a:t>National scalability and SaaS potential: adapt the platform for other ministries, states and enterprise governance use cases.</a:t>
            </a:r>
          </a:p>
          <a:p xmlns:a="http://schemas.openxmlformats.org/drawingml/2006/main">
            <a:r>
              <a:t>Source: user-supplied PDF, page 4 and technical documentation section on page 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IMPACT AND BENEFITS</a:t>
            </a:r>
          </a:p>
          <a:p xmlns:a="http://schemas.openxmlformats.org/drawingml/2006/main">
            <a:r>
              <a:t>Governance and transparency: reduce information asymmetry between central authorities, local districts and citizens with a shared, traceable view of fund use and project progress.</a:t>
            </a:r>
          </a:p>
          <a:p xmlns:a="http://schemas.openxmlformats.org/drawingml/2006/main">
            <a:r>
              <a:t>Economic and financial impact: prevent avoidable loss from suspicious March Rush spending, ghost-project funding and misallocation. Financial savings require measurement in a pilot.</a:t>
            </a:r>
          </a:p>
          <a:p xmlns:a="http://schemas.openxmlformats.org/drawingml/2006/main">
            <a:r>
              <a:t>Operational impact: the source proposal targets 100% automated screening to replace slow sample-based monitoring. The practical target is to screen all ingested eligible digital records, issue timely alerts and support prioritized human or physical audits. This is not a claim of 100% fraud-detection accuracy or a measured result.</a:t>
            </a:r>
          </a:p>
          <a:p xmlns:a="http://schemas.openxmlformats.org/drawingml/2006/main">
            <a:r>
              <a:t>National and community impact: strengthen grassroots infrastructure and ensure that MPLADS spending benefits intended communities. The objective is financial transparency and greater public welfare.</a:t>
            </a:r>
          </a:p>
          <a:p xmlns:a="http://schemas.openxmlformats.org/drawingml/2006/main">
            <a:r>
              <a:t>FUTURE PROSPECTS</a:t>
            </a:r>
          </a:p>
          <a:p xmlns:a="http://schemas.openxmlformats.org/drawingml/2006/main">
            <a:r>
              <a:t>1. Cross-scheme scalability: adapt the architecture beyond MPLADS to MGNREGA, PMGSY (Pradhan Mantri Gram Sadak Yojana) and other central and state welfare schemes.</a:t>
            </a:r>
          </a:p>
          <a:p xmlns:a="http://schemas.openxmlformats.org/drawingml/2006/main">
            <a:r>
              <a:t>2. Predictive AI: advanced time-series models to forecast budget deficits and fund overruns.</a:t>
            </a:r>
          </a:p>
          <a:p xmlns:a="http://schemas.openxmlformats.org/drawingml/2006/main">
            <a:r>
              <a:t>3. Blockchain integration: explore immutable vendor-invoice logging to improve traceability and resistance to tampering. Such a ledger does not independently prove input truth or eliminate every duplicate.</a:t>
            </a:r>
          </a:p>
          <a:p xmlns:a="http://schemas.openxmlformats.org/drawingml/2006/main">
            <a:r>
              <a:t>4. Citizen mobile app: crowdsource geotagged inspections of local public assets.</a:t>
            </a:r>
          </a:p>
          <a:p xmlns:a="http://schemas.openxmlformats.org/drawingml/2006/main">
            <a:r>
              <a:t>5. Automated policy recommendations: use historical anomaly patterns to suggest improved compliance guidelines for ministry review.</a:t>
            </a:r>
          </a:p>
          <a:p xmlns:a="http://schemas.openxmlformats.org/drawingml/2006/main">
            <a:r>
              <a:t>RESEARCH AND REFERENCES</a:t>
            </a:r>
          </a:p>
          <a:p xmlns:a="http://schemas.openxmlformats.org/drawingml/2006/main">
            <a:r>
              <a:t>Supporting research: CAG performance audit reports motivate attention to fund slippages, delays and unutilized allocations. Historical MPLADS audit example: Report No. 31 of 2010, tabled 18 March 2011. https://cag.gov.in/en/audit-report/details/2341</a:t>
            </a:r>
          </a:p>
          <a:p xmlns:a="http://schemas.openxmlformats.org/drawingml/2006/main">
            <a:r>
              <a:t>Academic research areas retained from the source: automated fraud detection, GovTech, public financial management systems (PFMS), and unsupervised anomaly detection in the public sector. The original PDF provides no individual paper titles, so no specific paper is claimed as reviewed.</a:t>
            </a:r>
          </a:p>
          <a:p xmlns:a="http://schemas.openxmlformats.org/drawingml/2006/main">
            <a:r>
              <a:t>Data sources: MPLADS allocations, recommendations and expenditure reporting (https://mplads.gov.in/); proposed authorized PFMS transaction trails and vendor-payment records (https://pfms.nic.in/); district maps, coordinates and geotagged asset logs.</a:t>
            </a:r>
          </a:p>
          <a:p xmlns:a="http://schemas.openxmlformats.org/drawingml/2006/main">
            <a:r>
              <a:t>Market research hypotheses: state and central ministries need transparency tools; broader digital coverage could improve on manual sampling; the same approach could apply across schemes. These represent proposed demand and efficiency hypotheses, not a completed market study.</a:t>
            </a:r>
          </a:p>
          <a:p xmlns:a="http://schemas.openxmlformats.org/drawingml/2006/main">
            <a:r>
              <a:t>Technical references: Python analytics with Pandas, NumPy, scikit-learn and TensorFlow; React.js UI, MongoDB data storage and FastAPI REST microservices. FastAPI documentation: https://fastapi.tiangolo.com/features/. Isolation Forest documentation: https://scikit-learn.org/stable/modules/generated/sklearn.ensemble.IsolationForest.html. Official MPLADS guidelines landing page: https://mplads.gov.in/MPLADS/En/2034.aspx.</a:t>
            </a:r>
          </a:p>
          <a:p xmlns:a="http://schemas.openxmlformats.org/drawingml/2006/main">
            <a:r>
              <a:t>Source content: user-supplied PDF, pages 5 and 6. All roadmap items are proposed, not implemented capabilities.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a:t>
            </a:r>
          </a:p>
          <a:p xmlns:a="http://schemas.openxmlformats.org/drawingml/2006/main">
            <a:r>
              <a:t>Registered team name: Quantum Coders. College: F.E.T Agra College Agra. Team Leader: Krish Sehgal.</a:t>
            </a:r>
          </a:p>
          <a:p xmlns:a="http://schemas.openxmlformats.org/drawingml/2006/main">
            <a:r>
              <a:t>Surya Pratap Singh Bais; roll 2500020100118; suryasinghbais@gmail.com; CSE, 2nd year.</a:t>
            </a:r>
          </a:p>
          <a:p xmlns:a="http://schemas.openxmlformats.org/drawingml/2006/main">
            <a:r>
              <a:t>Aqsa Mushir; roll 2400020100016; aqsamushir@gmail.com; CSE, 3rd year.</a:t>
            </a:r>
          </a:p>
          <a:p xmlns:a="http://schemas.openxmlformats.org/drawingml/2006/main">
            <a:r>
              <a:t>Shahin Khan; roll 2400020100092; shahin01cse@gmail.com; CSE, 3rd year.</a:t>
            </a:r>
          </a:p>
          <a:p xmlns:a="http://schemas.openxmlformats.org/drawingml/2006/main">
            <a:r>
              <a:t>Raj Prajapati; roll 2300020100061; rajt65800@gmail.com; CSE, 4th year.</a:t>
            </a:r>
          </a:p>
          <a:p xmlns:a="http://schemas.openxmlformats.org/drawingml/2006/main">
            <a:r>
              <a:t>Krish Sehgal; roll 2300020100043; krishsehgal08@gmail.com; CSE, 4th year.</a:t>
            </a:r>
          </a:p>
          <a:p xmlns:a="http://schemas.openxmlformats.org/drawingml/2006/main">
            <a:r>
              <a:t>Vishal Sharma; roll 2300020100079; vishal.sept05@gmail.com; CSE, 4th year.</a:t>
            </a:r>
          </a:p>
          <a:p xmlns:a="http://schemas.openxmlformats.org/drawingml/2006/main">
            <a:r>
              <a:t>Source: user-supplied project PDF, page 7. Logo: original artwork embedded in SIH2026-IDEA-Presentation-Format.pptx.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d807027f3542a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e5e30245e04fe6" /><Relationship Type="http://schemas.openxmlformats.org/officeDocument/2006/relationships/slideLayout" Target="/ppt/slideLayouts/slideLayout1.xml" Id="R506eba510f1a49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6eba510f1a49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754a302daa467a" /><Relationship Type="http://schemas.openxmlformats.org/officeDocument/2006/relationships/image" Target="/ppt/media/image.png" Id="R180dd6ac68fb4bc9" /><Relationship Type="http://schemas.openxmlformats.org/officeDocument/2006/relationships/notesSlide" Target="/ppt/notesSlides/notesSlide1.xml" Id="Red16740f69f346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3a11c09ab92447b" /><Relationship Type="http://schemas.openxmlformats.org/officeDocument/2006/relationships/notesSlide" Target="/ppt/notesSlides/notesSlide2.xml" Id="R4e3e72667b564ba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6b2ab1bbc0f4b8a" /><Relationship Type="http://schemas.openxmlformats.org/officeDocument/2006/relationships/notesSlide" Target="/ppt/notesSlides/notesSlide3.xml" Id="R450fb029f00a4e5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2d9670f0ec64d70" /><Relationship Type="http://schemas.openxmlformats.org/officeDocument/2006/relationships/notesSlide" Target="/ppt/notesSlides/notesSlide4.xml" Id="R1092233a9e3f41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9d8ee8e552d42cf" /><Relationship Type="http://schemas.openxmlformats.org/officeDocument/2006/relationships/hyperlink" Target="https://mplads.gov.in/MPLADS/En/2034.aspx" TargetMode="External" Id="R2d184357bb994d6d" /><Relationship Type="http://schemas.openxmlformats.org/officeDocument/2006/relationships/hyperlink" Target="https://cag.gov.in/en/audit-report/details/2341" TargetMode="External" Id="R40f62ed612034aba" /><Relationship Type="http://schemas.openxmlformats.org/officeDocument/2006/relationships/hyperlink" Target="https://fastapi.tiangolo.com/features/" TargetMode="External" Id="R927c2ff343b2425b" /><Relationship Type="http://schemas.openxmlformats.org/officeDocument/2006/relationships/hyperlink" Target="https://scikit-learn.org/stable/modules/generated/sklearn.ensemble.IsolationForest.html" TargetMode="External" Id="R7b52149732404215" /><Relationship Type="http://schemas.openxmlformats.org/officeDocument/2006/relationships/notesSlide" Target="/ppt/notesSlides/notesSlide5.xml" Id="Rc61978b7f56b4c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862181d50274ef2" /><Relationship Type="http://schemas.openxmlformats.org/officeDocument/2006/relationships/image" Target="/ppt/media/image2.png" Id="R40ce97bd33a34f5f" /><Relationship Type="http://schemas.openxmlformats.org/officeDocument/2006/relationships/notesSlide" Target="/ppt/notesSlides/notesSlide6.xml" Id="R2ce8fb589ff14165" /></Relationships>
</file>

<file path=ppt/slides/slide1.xml><?xml version="1.0" encoding="utf-8"?>
<p:sld xmlns:p="http://schemas.openxmlformats.org/presentationml/2006/main">
  <p:cSld>
    <p:bg>
      <p:bgPr>
        <a:solidFill xmlns:a="http://schemas.openxmlformats.org/drawingml/2006/main">
          <a:srgbClr val="102A36"/>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80dd6ac68fb4bc9"/>
          <a:stretch xmlns:a="http://schemas.openxmlformats.org/drawingml/2006/main"/>
        </p:blipFill>
        <p:spPr>
          <a:xfrm xmlns:a="http://schemas.openxmlformats.org/drawingml/2006/main">
            <a:off x="8696325" y="0"/>
            <a:ext cx="6429375" cy="8572500"/>
          </a:xfrm>
          <a:prstGeom xmlns:a="http://schemas.openxmlformats.org/drawingml/2006/main" prst="rect">
            <a:avLst/>
          </a:prstGeom>
        </p:spPr>
      </p:pic>
      <p:sp>
        <p:nvSpPr>
          <p:cNvPr id="2" name="SMART INDIA HACKATHON 2026">
            <a:extLst xmlns:a="http://schemas.openxmlformats.org/drawingml/2006/main">
              <a:ext uri="{FF2B5EF4-FFF2-40B4-BE49-F238E27FC236}">
                <a16:creationId xmlns:a16="http://schemas.microsoft.com/office/drawing/2014/main" id="{9D6ACDF6-A1E1-4C79-880E-1C7C95B2523B}"/>
              </a:ext>
            </a:extLst>
          </p:cNvPr>
          <p:cNvSpPr>
            <a:spLocks xmlns:a="http://schemas.openxmlformats.org/drawingml/2006/main" noGrp="1"/>
          </p:cNvSpPr>
          <p:nvPr/>
        </p:nvSpPr>
        <p:spPr>
          <a:xfrm xmlns:a="http://schemas.openxmlformats.org/drawingml/2006/main">
            <a:off x="742950" y="685800"/>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A5D3C4"/>
                </a:solidFill>
                <a:latin typeface="Calibri"/>
                <a:ea typeface="Calibri"/>
                <a:cs typeface="Calibri"/>
              </a:defRPr>
            </a:pPr>
            <a:r>
              <a:rPr sz="2100" b="1">
                <a:solidFill>
                  <a:srgbClr val="A5D3C4"/>
                </a:solidFill>
                <a:latin typeface="Calibri"/>
                <a:ea typeface="Calibri"/>
                <a:cs typeface="Calibri"/>
              </a:rPr>
              <a:t>SMART INDIA HACKATHON 2026</a:t>
            </a:r>
          </a:p>
        </p:txBody>
      </p:sp>
      <p:sp>
        <p:nvSpPr>
          <p:cNvPr id="3" name="MPLADS-GUARD">
            <a:extLst xmlns:a="http://schemas.openxmlformats.org/drawingml/2006/main">
              <a:ext uri="{FF2B5EF4-FFF2-40B4-BE49-F238E27FC236}">
                <a16:creationId xmlns:a16="http://schemas.microsoft.com/office/drawing/2014/main" id="{E2E9E9B2-60E5-43C9-A754-4F6E817C62A2}"/>
              </a:ext>
            </a:extLst>
          </p:cNvPr>
          <p:cNvSpPr>
            <a:spLocks xmlns:a="http://schemas.openxmlformats.org/drawingml/2006/main" noGrp="1"/>
          </p:cNvSpPr>
          <p:nvPr/>
        </p:nvSpPr>
        <p:spPr>
          <a:xfrm xmlns:a="http://schemas.openxmlformats.org/drawingml/2006/main">
            <a:off x="685800" y="2124075"/>
            <a:ext cx="8191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600" b="1">
                <a:solidFill>
                  <a:srgbClr val="FFFFFF"/>
                </a:solidFill>
                <a:latin typeface="Calibri"/>
                <a:ea typeface="Calibri"/>
                <a:cs typeface="Calibri"/>
              </a:defRPr>
            </a:pPr>
            <a:r>
              <a:rPr sz="6600" b="1">
                <a:solidFill>
                  <a:srgbClr val="FFFFFF"/>
                </a:solidFill>
                <a:latin typeface="Calibri"/>
                <a:ea typeface="Calibri"/>
                <a:cs typeface="Calibri"/>
              </a:rPr>
              <a:t>MPLADS-GUARD</a:t>
            </a:r>
          </a:p>
        </p:txBody>
      </p:sp>
      <p:sp>
        <p:nvSpPr>
          <p:cNvPr id="4" name="AI-powered monitoring of&#10;public funds and community ass">
            <a:extLst xmlns:a="http://schemas.openxmlformats.org/drawingml/2006/main">
              <a:ext uri="{FF2B5EF4-FFF2-40B4-BE49-F238E27FC236}">
                <a16:creationId xmlns:a16="http://schemas.microsoft.com/office/drawing/2014/main" id="{4D56F937-579F-43C9-8FB2-6A92559DF70B}"/>
              </a:ext>
            </a:extLst>
          </p:cNvPr>
          <p:cNvSpPr>
            <a:spLocks xmlns:a="http://schemas.openxmlformats.org/drawingml/2006/main" noGrp="1"/>
          </p:cNvSpPr>
          <p:nvPr/>
        </p:nvSpPr>
        <p:spPr>
          <a:xfrm xmlns:a="http://schemas.openxmlformats.org/drawingml/2006/main">
            <a:off x="742950" y="3286125"/>
            <a:ext cx="77628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0">
                <a:solidFill>
                  <a:srgbClr val="FFFFFF"/>
                </a:solidFill>
                <a:latin typeface="Calibri"/>
                <a:ea typeface="Calibri"/>
                <a:cs typeface="Calibri"/>
              </a:defRPr>
            </a:pPr>
            <a:r>
              <a:rPr sz="3150" b="0">
                <a:solidFill>
                  <a:srgbClr val="FFFFFF"/>
                </a:solidFill>
                <a:latin typeface="Calibri"/>
                <a:ea typeface="Calibri"/>
                <a:cs typeface="Calibri"/>
              </a:rPr>
              <a:t>AI-powered monitoring of</a:t>
            </a:r>
          </a:p>
          <a:p xmlns:a="http://schemas.openxmlformats.org/drawingml/2006/main">
            <a:pPr>
              <a:defRPr sz="3150" b="0">
                <a:solidFill>
                  <a:srgbClr val="FFFFFF"/>
                </a:solidFill>
                <a:latin typeface="Calibri"/>
                <a:ea typeface="Calibri"/>
                <a:cs typeface="Calibri"/>
              </a:defRPr>
            </a:pPr>
            <a:r>
              <a:rPr sz="3150" b="0">
                <a:solidFill>
                  <a:srgbClr val="FFFFFF"/>
                </a:solidFill>
                <a:latin typeface="Calibri"/>
                <a:ea typeface="Calibri"/>
                <a:cs typeface="Calibri"/>
              </a:rPr>
              <a:t>public funds and community assets</a:t>
            </a:r>
          </a:p>
        </p:txBody>
      </p:sp>
      <p:sp>
        <p:nvSpPr>
          <p:cNvPr id="5" name="PROBLEM STATEMENT  SIH26102">
            <a:extLst xmlns:a="http://schemas.openxmlformats.org/drawingml/2006/main">
              <a:ext uri="{FF2B5EF4-FFF2-40B4-BE49-F238E27FC236}">
                <a16:creationId xmlns:a16="http://schemas.microsoft.com/office/drawing/2014/main" id="{C863D908-AAD9-4331-B114-8E970A473B4D}"/>
              </a:ext>
            </a:extLst>
          </p:cNvPr>
          <p:cNvSpPr>
            <a:spLocks xmlns:a="http://schemas.openxmlformats.org/drawingml/2006/main" noGrp="1"/>
          </p:cNvSpPr>
          <p:nvPr/>
        </p:nvSpPr>
        <p:spPr>
          <a:xfrm xmlns:a="http://schemas.openxmlformats.org/drawingml/2006/main">
            <a:off x="742950" y="5181600"/>
            <a:ext cx="771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A5D3C4"/>
                </a:solidFill>
                <a:latin typeface="Calibri"/>
                <a:ea typeface="Calibri"/>
                <a:cs typeface="Calibri"/>
              </a:defRPr>
            </a:pPr>
            <a:r>
              <a:rPr sz="1800" b="1">
                <a:solidFill>
                  <a:srgbClr val="A5D3C4"/>
                </a:solidFill>
                <a:latin typeface="Calibri"/>
                <a:ea typeface="Calibri"/>
                <a:cs typeface="Calibri"/>
              </a:rPr>
              <a:t>PROBLEM STATEMENT  SIH26102</a:t>
            </a:r>
          </a:p>
        </p:txBody>
      </p:sp>
      <p:sp>
        <p:nvSpPr>
          <p:cNvPr id="6" name="Development of an AI-powered system to detect&#10;anomalies">
            <a:extLst xmlns:a="http://schemas.openxmlformats.org/drawingml/2006/main">
              <a:ext uri="{FF2B5EF4-FFF2-40B4-BE49-F238E27FC236}">
                <a16:creationId xmlns:a16="http://schemas.microsoft.com/office/drawing/2014/main" id="{9A1E557E-B424-49C8-B27A-0A7689D5D84F}"/>
              </a:ext>
            </a:extLst>
          </p:cNvPr>
          <p:cNvSpPr>
            <a:spLocks xmlns:a="http://schemas.openxmlformats.org/drawingml/2006/main" noGrp="1"/>
          </p:cNvSpPr>
          <p:nvPr/>
        </p:nvSpPr>
        <p:spPr>
          <a:xfrm xmlns:a="http://schemas.openxmlformats.org/drawingml/2006/main">
            <a:off x="742950" y="5657850"/>
            <a:ext cx="77152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FFFFFF"/>
                </a:solidFill>
                <a:latin typeface="Calibri"/>
                <a:ea typeface="Calibri"/>
                <a:cs typeface="Calibri"/>
              </a:defRPr>
            </a:pPr>
            <a:r>
              <a:rPr sz="2175" b="0">
                <a:solidFill>
                  <a:srgbClr val="FFFFFF"/>
                </a:solidFill>
                <a:latin typeface="Calibri"/>
                <a:ea typeface="Calibri"/>
                <a:cs typeface="Calibri"/>
              </a:rPr>
              <a:t>Development of an AI-powered system to detect</a:t>
            </a:r>
          </a:p>
          <a:p xmlns:a="http://schemas.openxmlformats.org/drawingml/2006/main">
            <a:pPr>
              <a:defRPr sz="2175" b="0">
                <a:solidFill>
                  <a:srgbClr val="FFFFFF"/>
                </a:solidFill>
                <a:latin typeface="Calibri"/>
                <a:ea typeface="Calibri"/>
                <a:cs typeface="Calibri"/>
              </a:defRPr>
            </a:pPr>
            <a:r>
              <a:rPr sz="2175" b="0">
                <a:solidFill>
                  <a:srgbClr val="FFFFFF"/>
                </a:solidFill>
                <a:latin typeface="Calibri"/>
                <a:ea typeface="Calibri"/>
                <a:cs typeface="Calibri"/>
              </a:rPr>
              <a:t>anomalies, fraud, and inefficiencies in MPLAD</a:t>
            </a:r>
          </a:p>
          <a:p xmlns:a="http://schemas.openxmlformats.org/drawingml/2006/main">
            <a:pPr>
              <a:defRPr sz="2175" b="0">
                <a:solidFill>
                  <a:srgbClr val="FFFFFF"/>
                </a:solidFill>
                <a:latin typeface="Calibri"/>
                <a:ea typeface="Calibri"/>
                <a:cs typeface="Calibri"/>
              </a:defRPr>
            </a:pPr>
            <a:r>
              <a:rPr sz="2175" b="0">
                <a:solidFill>
                  <a:srgbClr val="FFFFFF"/>
                </a:solidFill>
                <a:latin typeface="Calibri"/>
                <a:ea typeface="Calibri"/>
                <a:cs typeface="Calibri"/>
              </a:rPr>
              <a:t>Scheme implementation regd.</a:t>
            </a:r>
          </a:p>
        </p:txBody>
      </p:sp>
      <p:sp>
        <p:nvSpPr>
          <p:cNvPr id="7" name="Smart Automation">
            <a:extLst xmlns:a="http://schemas.openxmlformats.org/drawingml/2006/main">
              <a:ext uri="{FF2B5EF4-FFF2-40B4-BE49-F238E27FC236}">
                <a16:creationId xmlns:a16="http://schemas.microsoft.com/office/drawing/2014/main" id="{B339F2D2-EAD6-480A-A6D6-1C07BF684FE0}"/>
              </a:ext>
            </a:extLst>
          </p:cNvPr>
          <p:cNvSpPr>
            <a:spLocks xmlns:a="http://schemas.openxmlformats.org/drawingml/2006/main" noGrp="1"/>
          </p:cNvSpPr>
          <p:nvPr/>
        </p:nvSpPr>
        <p:spPr>
          <a:xfrm xmlns:a="http://schemas.openxmlformats.org/drawingml/2006/main">
            <a:off x="742950" y="71913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A5D3C4"/>
                </a:solidFill>
                <a:latin typeface="Calibri"/>
                <a:ea typeface="Calibri"/>
                <a:cs typeface="Calibri"/>
              </a:defRPr>
            </a:pPr>
            <a:r>
              <a:rPr sz="2175" b="1">
                <a:solidFill>
                  <a:srgbClr val="A5D3C4"/>
                </a:solidFill>
                <a:latin typeface="Calibri"/>
                <a:ea typeface="Calibri"/>
                <a:cs typeface="Calibri"/>
              </a:rPr>
              <a:t>Smart Automation</a:t>
            </a:r>
          </a:p>
        </p:txBody>
      </p:sp>
      <p:sp>
        <p:nvSpPr>
          <p:cNvPr id="8" name="Software">
            <a:extLst xmlns:a="http://schemas.openxmlformats.org/drawingml/2006/main">
              <a:ext uri="{FF2B5EF4-FFF2-40B4-BE49-F238E27FC236}">
                <a16:creationId xmlns:a16="http://schemas.microsoft.com/office/drawing/2014/main" id="{08A95EF0-6F8F-442B-BDB5-D1444AC539D8}"/>
              </a:ext>
            </a:extLst>
          </p:cNvPr>
          <p:cNvSpPr>
            <a:spLocks xmlns:a="http://schemas.openxmlformats.org/drawingml/2006/main" noGrp="1"/>
          </p:cNvSpPr>
          <p:nvPr/>
        </p:nvSpPr>
        <p:spPr>
          <a:xfrm xmlns:a="http://schemas.openxmlformats.org/drawingml/2006/main">
            <a:off x="5191125" y="7191375"/>
            <a:ext cx="2619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A5D3C4"/>
                </a:solidFill>
                <a:latin typeface="Calibri"/>
                <a:ea typeface="Calibri"/>
                <a:cs typeface="Calibri"/>
              </a:defRPr>
            </a:pPr>
            <a:r>
              <a:rPr sz="2175" b="1">
                <a:solidFill>
                  <a:srgbClr val="A5D3C4"/>
                </a:solidFill>
                <a:latin typeface="Calibri"/>
                <a:ea typeface="Calibri"/>
                <a:cs typeface="Calibri"/>
              </a:rPr>
              <a:t>Software</a:t>
            </a:r>
          </a:p>
        </p:txBody>
      </p:sp>
      <p:sp>
        <p:nvSpPr>
          <p:cNvPr id="9" name="Quantum Coders">
            <a:extLst xmlns:a="http://schemas.openxmlformats.org/drawingml/2006/main">
              <a:ext uri="{FF2B5EF4-FFF2-40B4-BE49-F238E27FC236}">
                <a16:creationId xmlns:a16="http://schemas.microsoft.com/office/drawing/2014/main" id="{7B800BB7-A8FC-4CDE-B0BA-92370BCE7D25}"/>
              </a:ext>
            </a:extLst>
          </p:cNvPr>
          <p:cNvSpPr>
            <a:spLocks xmlns:a="http://schemas.openxmlformats.org/drawingml/2006/main" noGrp="1"/>
          </p:cNvSpPr>
          <p:nvPr/>
        </p:nvSpPr>
        <p:spPr>
          <a:xfrm xmlns:a="http://schemas.openxmlformats.org/drawingml/2006/main">
            <a:off x="742950" y="7896225"/>
            <a:ext cx="6238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Quantum Coders</a:t>
            </a:r>
          </a:p>
        </p:txBody>
      </p:sp>
      <p:sp>
        <p:nvSpPr>
          <p:cNvPr id="10" name="01 / 06">
            <a:extLst xmlns:a="http://schemas.openxmlformats.org/drawingml/2006/main">
              <a:ext uri="{FF2B5EF4-FFF2-40B4-BE49-F238E27FC236}">
                <a16:creationId xmlns:a16="http://schemas.microsoft.com/office/drawing/2014/main" id="{5AEC3B2E-3CB6-4531-856D-D4EF3ACC7F4C}"/>
              </a:ext>
            </a:extLst>
          </p:cNvPr>
          <p:cNvSpPr>
            <a:spLocks xmlns:a="http://schemas.openxmlformats.org/drawingml/2006/main" noGrp="1"/>
          </p:cNvSpPr>
          <p:nvPr/>
        </p:nvSpPr>
        <p:spPr>
          <a:xfrm xmlns:a="http://schemas.openxmlformats.org/drawingml/2006/main">
            <a:off x="7620000" y="8039100"/>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A5D3C4"/>
                </a:solidFill>
                <a:latin typeface="Calibri"/>
                <a:ea typeface="Calibri"/>
                <a:cs typeface="Calibri"/>
              </a:defRPr>
            </a:pPr>
            <a:r>
              <a:rPr sz="1500" b="0">
                <a:solidFill>
                  <a:srgbClr val="A5D3C4"/>
                </a:solidFill>
                <a:latin typeface="Calibri"/>
                <a:ea typeface="Calibri"/>
                <a:cs typeface="Calibri"/>
              </a:rPr>
              <a:t>01 / 06</a:t>
            </a:r>
          </a:p>
        </p:txBody>
      </p:sp>
    </p:spTree>
    <p:extLst>
      <p:ext uri="{BB962C8B-B14F-4D97-AF65-F5344CB8AC3E}">
        <p14:creationId xmlns:p14="http://schemas.microsoft.com/office/powerpoint/2010/main" val="743994600"/>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Problem and proposed solution">
            <a:extLst xmlns:a="http://schemas.openxmlformats.org/drawingml/2006/main">
              <a:ext uri="{FF2B5EF4-FFF2-40B4-BE49-F238E27FC236}">
                <a16:creationId xmlns:a16="http://schemas.microsoft.com/office/drawing/2014/main" id="{BD75100C-FECF-4C28-8EAE-030C9AE81EA5}"/>
              </a:ext>
            </a:extLst>
          </p:cNvPr>
          <p:cNvSpPr>
            <a:spLocks xmlns:a="http://schemas.openxmlformats.org/drawingml/2006/main" noGrp="1"/>
          </p:cNvSpPr>
          <p:nvPr/>
        </p:nvSpPr>
        <p:spPr>
          <a:xfrm xmlns:a="http://schemas.openxmlformats.org/drawingml/2006/main">
            <a:off x="723900" y="590550"/>
            <a:ext cx="1323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125" b="1">
                <a:solidFill>
                  <a:srgbClr val="173843"/>
                </a:solidFill>
                <a:latin typeface="Calibri"/>
                <a:ea typeface="Calibri"/>
                <a:cs typeface="Calibri"/>
              </a:defRPr>
            </a:pPr>
            <a:r>
              <a:rPr sz="4125" b="1">
                <a:solidFill>
                  <a:srgbClr val="173843"/>
                </a:solidFill>
                <a:latin typeface="Calibri"/>
                <a:ea typeface="Calibri"/>
                <a:cs typeface="Calibri"/>
              </a:rPr>
              <a:t>Problem and proposed solution</a:t>
            </a:r>
          </a:p>
        </p:txBody>
      </p:sp>
      <p:sp>
        <p:nvSpPr>
          <p:cNvPr id="2" name="MPLADS-GUARD converts broad monitoring concerns into me">
            <a:extLst xmlns:a="http://schemas.openxmlformats.org/drawingml/2006/main">
              <a:ext uri="{FF2B5EF4-FFF2-40B4-BE49-F238E27FC236}">
                <a16:creationId xmlns:a16="http://schemas.microsoft.com/office/drawing/2014/main" id="{FDC4A697-24B0-4BFA-86DC-9496EE8D9FD8}"/>
              </a:ext>
            </a:extLst>
          </p:cNvPr>
          <p:cNvSpPr>
            <a:spLocks xmlns:a="http://schemas.openxmlformats.org/drawingml/2006/main" noGrp="1"/>
          </p:cNvSpPr>
          <p:nvPr/>
        </p:nvSpPr>
        <p:spPr>
          <a:xfrm xmlns:a="http://schemas.openxmlformats.org/drawingml/2006/main">
            <a:off x="742950" y="1438275"/>
            <a:ext cx="1357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526970"/>
                </a:solidFill>
                <a:latin typeface="Calibri"/>
                <a:ea typeface="Calibri"/>
                <a:cs typeface="Calibri"/>
              </a:defRPr>
            </a:pPr>
            <a:r>
              <a:rPr sz="2100" b="0">
                <a:solidFill>
                  <a:srgbClr val="526970"/>
                </a:solidFill>
                <a:latin typeface="Calibri"/>
                <a:ea typeface="Calibri"/>
                <a:cs typeface="Calibri"/>
              </a:rPr>
              <a:t>MPLADS-GUARD converts broad monitoring concerns into measurable signals and evidence for review.</a:t>
            </a:r>
          </a:p>
        </p:txBody>
      </p:sp>
      <p:sp>
        <p:nvSpPr>
          <p:cNvPr id="3" name="MPLADS-GUARD">
            <a:extLst xmlns:a="http://schemas.openxmlformats.org/drawingml/2006/main">
              <a:ext uri="{FF2B5EF4-FFF2-40B4-BE49-F238E27FC236}">
                <a16:creationId xmlns:a16="http://schemas.microsoft.com/office/drawing/2014/main" id="{9D075699-D59A-45FA-8350-F5A9E938DA81}"/>
              </a:ext>
            </a:extLst>
          </p:cNvPr>
          <p:cNvSpPr>
            <a:spLocks xmlns:a="http://schemas.openxmlformats.org/drawingml/2006/main" noGrp="1"/>
          </p:cNvSpPr>
          <p:nvPr/>
        </p:nvSpPr>
        <p:spPr>
          <a:xfrm xmlns:a="http://schemas.openxmlformats.org/drawingml/2006/main">
            <a:off x="742950" y="806767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970"/>
                </a:solidFill>
                <a:latin typeface="Calibri"/>
                <a:ea typeface="Calibri"/>
                <a:cs typeface="Calibri"/>
              </a:defRPr>
            </a:pPr>
            <a:r>
              <a:rPr sz="1500" b="0">
                <a:solidFill>
                  <a:srgbClr val="526970"/>
                </a:solidFill>
                <a:latin typeface="Calibri"/>
                <a:ea typeface="Calibri"/>
                <a:cs typeface="Calibri"/>
              </a:rPr>
              <a:t>MPLADS-GUARD</a:t>
            </a:r>
          </a:p>
        </p:txBody>
      </p:sp>
      <p:sp>
        <p:nvSpPr>
          <p:cNvPr id="4" name="02 / 06">
            <a:extLst xmlns:a="http://schemas.openxmlformats.org/drawingml/2006/main">
              <a:ext uri="{FF2B5EF4-FFF2-40B4-BE49-F238E27FC236}">
                <a16:creationId xmlns:a16="http://schemas.microsoft.com/office/drawing/2014/main" id="{EADB5074-506C-4998-ACAD-F922443416CE}"/>
              </a:ext>
            </a:extLst>
          </p:cNvPr>
          <p:cNvSpPr>
            <a:spLocks xmlns:a="http://schemas.openxmlformats.org/drawingml/2006/main" noGrp="1"/>
          </p:cNvSpPr>
          <p:nvPr/>
        </p:nvSpPr>
        <p:spPr>
          <a:xfrm xmlns:a="http://schemas.openxmlformats.org/drawingml/2006/main">
            <a:off x="13525500" y="806767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970"/>
                </a:solidFill>
                <a:latin typeface="Calibri"/>
                <a:ea typeface="Calibri"/>
                <a:cs typeface="Calibri"/>
              </a:defRPr>
            </a:pPr>
            <a:r>
              <a:rPr sz="1500" b="0">
                <a:solidFill>
                  <a:srgbClr val="526970"/>
                </a:solidFill>
                <a:latin typeface="Calibri"/>
                <a:ea typeface="Calibri"/>
                <a:cs typeface="Calibri"/>
              </a:rPr>
              <a:t>02 / 06</a:t>
            </a:r>
          </a:p>
        </p:txBody>
      </p:sp>
      <p:graphicFrame>
        <p:nvGraphicFramePr>
          <p:cNvPr id="12" name=""/>
          <p:cNvGraphicFramePr/>
          <p:nvPr/>
        </p:nvGraphicFramePr>
        <p:xfrm>
          <a:off xmlns:a="http://schemas.openxmlformats.org/drawingml/2006/main" x="742950" y="2190750"/>
          <a:ext xmlns:a="http://schemas.openxmlformats.org/drawingml/2006/main" cx="13754100" cy="5029200"/>
        </p:xfrm>
        <a:graphic xmlns:a="http://schemas.openxmlformats.org/drawingml/2006/main">
          <a:graphicData uri="http://schemas.openxmlformats.org/drawingml/2006/table">
            <a:tbl>
              <a:tblPr firstRow="0" bandRow="0"/>
              <a:tblGrid>
                <a:gridCol w="4095750"/>
                <a:gridCol w="9658350"/>
              </a:tblGrid>
              <a:tr h="552450">
                <a:tc>
                  <a:txBody>
                    <a:bodyPr lIns="190500" tIns="76200" rIns="171450" bIns="76200">
                      <a:noAutofit/>
                    </a:bodyPr>
                    <a:lstStyle/>
                    <a:p>
                      <a:r>
                        <a:rPr sz="1950" b="1">
                          <a:solidFill>
                            <a:srgbClr val="FFFFFF"/>
                          </a:solidFill>
                          <a:latin typeface="Calibri"/>
                          <a:ea typeface="Calibri"/>
                          <a:cs typeface="Calibri"/>
                        </a:rPr>
                        <a:t>Monitoring concern</a:t>
                      </a:r>
                    </a:p>
                  </a:txBody>
                  <a:tcPr marL="190500" marR="171450" marT="76200" marB="76200" anchor="ctr">
                    <a:solidFill>
                      <a:srgbClr val="102A36"/>
                    </a:solidFill>
                  </a:tcPr>
                </a:tc>
                <a:tc>
                  <a:txBody>
                    <a:bodyPr lIns="190500" tIns="76200" rIns="171450" bIns="76200">
                      <a:noAutofit/>
                    </a:bodyPr>
                    <a:lstStyle/>
                    <a:p>
                      <a:r>
                        <a:rPr sz="1950" b="1">
                          <a:solidFill>
                            <a:srgbClr val="FFFFFF"/>
                          </a:solidFill>
                          <a:latin typeface="Calibri"/>
                          <a:ea typeface="Calibri"/>
                          <a:cs typeface="Calibri"/>
                        </a:rPr>
                        <a:t>Proposed response</a:t>
                      </a:r>
                    </a:p>
                  </a:txBody>
                  <a:tcPr marL="190500" marR="171450" marT="76200" marB="76200" anchor="ctr">
                    <a:solidFill>
                      <a:srgbClr val="102A36"/>
                    </a:solidFill>
                  </a:tcPr>
                </a:tc>
              </a:tr>
              <a:tr h="895350">
                <a:tc>
                  <a:txBody>
                    <a:bodyPr lIns="190500" tIns="76200" rIns="171450" bIns="76200">
                      <a:noAutofit/>
                    </a:bodyPr>
                    <a:lstStyle/>
                    <a:p>
                      <a:r>
                        <a:rPr sz="2025" b="1">
                          <a:solidFill>
                            <a:srgbClr val="173843"/>
                          </a:solidFill>
                          <a:latin typeface="Calibri"/>
                          <a:ea typeface="Calibri"/>
                          <a:cs typeface="Calibri"/>
                        </a:rPr>
                        <a:t>Unusual expenditure</a:t>
                      </a:r>
                    </a:p>
                  </a:txBody>
                  <a:tcPr marL="190500" marR="171450" marT="76200" marB="76200" anchor="ctr">
                    <a:solidFill>
                      <a:srgbClr val="FFFFFF"/>
                    </a:solidFill>
                  </a:tcPr>
                </a:tc>
                <a:tc>
                  <a:txBody>
                    <a:bodyPr lIns="190500" tIns="76200" rIns="171450" bIns="76200">
                      <a:noAutofit/>
                    </a:bodyPr>
                    <a:lstStyle/>
                    <a:p>
                      <a:r>
                        <a:rPr sz="2025" b="0">
                          <a:solidFill>
                            <a:srgbClr val="173843"/>
                          </a:solidFill>
                          <a:latin typeface="Calibri"/>
                          <a:ea typeface="Calibri"/>
                          <a:cs typeface="Calibri"/>
                        </a:rPr>
                        <a:t>Analyze historical payments for March Rush spending spikes, vendor favoritism and cost inflation.</a:t>
                      </a:r>
                    </a:p>
                  </a:txBody>
                  <a:tcPr marL="190500" marR="171450" marT="76200" marB="76200" anchor="ctr">
                    <a:solidFill>
                      <a:srgbClr val="FFFFFF"/>
                    </a:solidFill>
                  </a:tcPr>
                </a:tc>
              </a:tr>
              <a:tr h="895350">
                <a:tc>
                  <a:txBody>
                    <a:bodyPr lIns="190500" tIns="76200" rIns="171450" bIns="76200">
                      <a:noAutofit/>
                    </a:bodyPr>
                    <a:lstStyle/>
                    <a:p>
                      <a:r>
                        <a:rPr sz="2025" b="1">
                          <a:solidFill>
                            <a:srgbClr val="173843"/>
                          </a:solidFill>
                          <a:latin typeface="Calibri"/>
                          <a:ea typeface="Calibri"/>
                          <a:cs typeface="Calibri"/>
                        </a:rPr>
                        <a:t>Ghost and duplicate assets</a:t>
                      </a:r>
                    </a:p>
                  </a:txBody>
                  <a:tcPr marL="190500" marR="171450" marT="76200" marB="76200" anchor="ctr">
                    <a:solidFill>
                      <a:srgbClr val="EDF2EE"/>
                    </a:solidFill>
                  </a:tcPr>
                </a:tc>
                <a:tc>
                  <a:txBody>
                    <a:bodyPr lIns="190500" tIns="76200" rIns="171450" bIns="76200">
                      <a:noAutofit/>
                    </a:bodyPr>
                    <a:lstStyle/>
                    <a:p>
                      <a:r>
                        <a:rPr sz="2025" b="0">
                          <a:solidFill>
                            <a:srgbClr val="173843"/>
                          </a:solidFill>
                          <a:latin typeface="Calibri"/>
                          <a:ea typeface="Calibri"/>
                          <a:cs typeface="Calibri"/>
                        </a:rPr>
                        <a:t>Cross-check geotagged images, invoices and locations to flag missing proof, repeated works and billing.</a:t>
                      </a:r>
                    </a:p>
                  </a:txBody>
                  <a:tcPr marL="190500" marR="171450" marT="76200" marB="76200" anchor="ctr">
                    <a:solidFill>
                      <a:srgbClr val="EDF2EE"/>
                    </a:solidFill>
                  </a:tcPr>
                </a:tc>
              </a:tr>
              <a:tr h="895350">
                <a:tc>
                  <a:txBody>
                    <a:bodyPr lIns="190500" tIns="76200" rIns="171450" bIns="76200">
                      <a:noAutofit/>
                    </a:bodyPr>
                    <a:lstStyle/>
                    <a:p>
                      <a:r>
                        <a:rPr sz="2025" b="1">
                          <a:solidFill>
                            <a:srgbClr val="173843"/>
                          </a:solidFill>
                          <a:latin typeface="Calibri"/>
                          <a:ea typeface="Calibri"/>
                          <a:cs typeface="Calibri"/>
                        </a:rPr>
                        <a:t>Compliance gaps</a:t>
                      </a:r>
                    </a:p>
                  </a:txBody>
                  <a:tcPr marL="190500" marR="171450" marT="76200" marB="76200" anchor="ctr">
                    <a:solidFill>
                      <a:srgbClr val="FFFFFF"/>
                    </a:solidFill>
                  </a:tcPr>
                </a:tc>
                <a:tc>
                  <a:txBody>
                    <a:bodyPr lIns="190500" tIns="76200" rIns="171450" bIns="76200">
                      <a:noAutofit/>
                    </a:bodyPr>
                    <a:lstStyle/>
                    <a:p>
                      <a:r>
                        <a:rPr sz="2025" b="0">
                          <a:solidFill>
                            <a:srgbClr val="173843"/>
                          </a:solidFill>
                          <a:latin typeface="Calibri"/>
                          <a:ea typeface="Calibri"/>
                          <a:cs typeface="Calibri"/>
                        </a:rPr>
                        <a:t>Track SC/ST allocation thresholds and deviations from scheme norms through rule-based alerts.</a:t>
                      </a:r>
                    </a:p>
                  </a:txBody>
                  <a:tcPr marL="190500" marR="171450" marT="76200" marB="76200" anchor="ctr">
                    <a:solidFill>
                      <a:srgbClr val="FFFFFF"/>
                    </a:solidFill>
                  </a:tcPr>
                </a:tc>
              </a:tr>
              <a:tr h="895350">
                <a:tc>
                  <a:txBody>
                    <a:bodyPr lIns="190500" tIns="76200" rIns="171450" bIns="76200">
                      <a:noAutofit/>
                    </a:bodyPr>
                    <a:lstStyle/>
                    <a:p>
                      <a:r>
                        <a:rPr sz="2025" b="1">
                          <a:solidFill>
                            <a:srgbClr val="173843"/>
                          </a:solidFill>
                          <a:latin typeface="Calibri"/>
                          <a:ea typeface="Calibri"/>
                          <a:cs typeface="Calibri"/>
                        </a:rPr>
                        <a:t>Cost overruns and delays</a:t>
                      </a:r>
                    </a:p>
                  </a:txBody>
                  <a:tcPr marL="190500" marR="171450" marT="76200" marB="76200" anchor="ctr">
                    <a:solidFill>
                      <a:srgbClr val="EDF2EE"/>
                    </a:solidFill>
                  </a:tcPr>
                </a:tc>
                <a:tc>
                  <a:txBody>
                    <a:bodyPr lIns="190500" tIns="76200" rIns="171450" bIns="76200">
                      <a:noAutofit/>
                    </a:bodyPr>
                    <a:lstStyle/>
                    <a:p>
                      <a:r>
                        <a:rPr sz="2025" b="0">
                          <a:solidFill>
                            <a:srgbClr val="173843"/>
                          </a:solidFill>
                          <a:latin typeface="Calibri"/>
                          <a:ea typeface="Calibri"/>
                          <a:cs typeface="Calibri"/>
                        </a:rPr>
                        <a:t>Monitor estimates, expenditure and work progress to flag problems during execution.</a:t>
                      </a:r>
                    </a:p>
                  </a:txBody>
                  <a:tcPr marL="190500" marR="171450" marT="76200" marB="76200" anchor="ctr">
                    <a:solidFill>
                      <a:srgbClr val="EDF2EE"/>
                    </a:solidFill>
                  </a:tcPr>
                </a:tc>
              </a:tr>
              <a:tr h="895350">
                <a:tc>
                  <a:txBody>
                    <a:bodyPr lIns="190500" tIns="76200" rIns="171450" bIns="76200">
                      <a:noAutofit/>
                    </a:bodyPr>
                    <a:lstStyle/>
                    <a:p>
                      <a:r>
                        <a:rPr sz="2025" b="1">
                          <a:solidFill>
                            <a:srgbClr val="173843"/>
                          </a:solidFill>
                          <a:latin typeface="Calibri"/>
                          <a:ea typeface="Calibri"/>
                          <a:cs typeface="Calibri"/>
                        </a:rPr>
                        <a:t>Skewed use of funds</a:t>
                      </a:r>
                    </a:p>
                  </a:txBody>
                  <a:tcPr marL="190500" marR="171450" marT="76200" marB="76200" anchor="ctr">
                    <a:solidFill>
                      <a:srgbClr val="FFFFFF"/>
                    </a:solidFill>
                  </a:tcPr>
                </a:tc>
                <a:tc>
                  <a:txBody>
                    <a:bodyPr lIns="190500" tIns="76200" rIns="171450" bIns="76200">
                      <a:noAutofit/>
                    </a:bodyPr>
                    <a:lstStyle/>
                    <a:p>
                      <a:r>
                        <a:rPr sz="2025" b="0">
                          <a:solidFill>
                            <a:srgbClr val="173843"/>
                          </a:solidFill>
                          <a:latin typeface="Calibri"/>
                          <a:ea typeface="Calibri"/>
                          <a:cs typeface="Calibri"/>
                        </a:rPr>
                        <a:t>Compare spending across asset categories to reveal concentration that may overlook local needs.</a:t>
                      </a:r>
                    </a:p>
                  </a:txBody>
                  <a:tcPr marL="190500" marR="171450" marT="76200" marB="76200" anchor="ctr">
                    <a:solidFill>
                      <a:srgbClr val="FFFFFF"/>
                    </a:solidFill>
                  </a:tcPr>
                </a:tc>
              </a:tr>
            </a:tbl>
          </a:graphicData>
        </a:graphic>
      </p:graphicFrame>
      <p:sp>
        <p:nvSpPr>
          <p:cNvPr id="6" name="What makes it different">
            <a:extLst xmlns:a="http://schemas.openxmlformats.org/drawingml/2006/main">
              <a:ext uri="{FF2B5EF4-FFF2-40B4-BE49-F238E27FC236}">
                <a16:creationId xmlns:a16="http://schemas.microsoft.com/office/drawing/2014/main" id="{EE543D87-AACE-430F-A34C-BAE16EC8C843}"/>
              </a:ext>
            </a:extLst>
          </p:cNvPr>
          <p:cNvSpPr>
            <a:spLocks xmlns:a="http://schemas.openxmlformats.org/drawingml/2006/main" noGrp="1"/>
          </p:cNvSpPr>
          <p:nvPr/>
        </p:nvSpPr>
        <p:spPr>
          <a:xfrm xmlns:a="http://schemas.openxmlformats.org/drawingml/2006/main">
            <a:off x="762000" y="7515225"/>
            <a:ext cx="4048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D72"/>
                </a:solidFill>
                <a:latin typeface="Calibri"/>
                <a:ea typeface="Calibri"/>
                <a:cs typeface="Calibri"/>
              </a:defRPr>
            </a:pPr>
            <a:r>
              <a:rPr sz="2025" b="1">
                <a:solidFill>
                  <a:srgbClr val="087D72"/>
                </a:solidFill>
                <a:latin typeface="Calibri"/>
                <a:ea typeface="Calibri"/>
                <a:cs typeface="Calibri"/>
              </a:rPr>
              <a:t>What makes it different</a:t>
            </a:r>
          </a:p>
        </p:txBody>
      </p:sp>
      <p:sp>
        <p:nvSpPr>
          <p:cNvPr id="7" name="Measurable rules, early alerts and cross-verified evide">
            <a:extLst xmlns:a="http://schemas.openxmlformats.org/drawingml/2006/main">
              <a:ext uri="{FF2B5EF4-FFF2-40B4-BE49-F238E27FC236}">
                <a16:creationId xmlns:a16="http://schemas.microsoft.com/office/drawing/2014/main" id="{F7D54374-2650-4BF2-80EF-B0B99CFD300B}"/>
              </a:ext>
            </a:extLst>
          </p:cNvPr>
          <p:cNvSpPr>
            <a:spLocks xmlns:a="http://schemas.openxmlformats.org/drawingml/2006/main" noGrp="1"/>
          </p:cNvSpPr>
          <p:nvPr/>
        </p:nvSpPr>
        <p:spPr>
          <a:xfrm xmlns:a="http://schemas.openxmlformats.org/drawingml/2006/main">
            <a:off x="4857750" y="7515225"/>
            <a:ext cx="9477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3843"/>
                </a:solidFill>
                <a:latin typeface="Calibri"/>
                <a:ea typeface="Calibri"/>
                <a:cs typeface="Calibri"/>
              </a:defRPr>
            </a:pPr>
            <a:r>
              <a:rPr sz="2025" b="0">
                <a:solidFill>
                  <a:srgbClr val="173843"/>
                </a:solidFill>
                <a:latin typeface="Calibri"/>
                <a:ea typeface="Calibri"/>
                <a:cs typeface="Calibri"/>
              </a:rPr>
              <a:t>Measurable rules, early alerts and cross-verified evidence in one pipeline.</a:t>
            </a:r>
          </a:p>
        </p:txBody>
      </p:sp>
    </p:spTree>
    <p:extLst>
      <p:ext uri="{BB962C8B-B14F-4D97-AF65-F5344CB8AC3E}">
        <p14:creationId xmlns:p14="http://schemas.microsoft.com/office/powerpoint/2010/main" val="845943818"/>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6" name="Technical approach">
            <a:extLst xmlns:a="http://schemas.openxmlformats.org/drawingml/2006/main">
              <a:ext uri="{FF2B5EF4-FFF2-40B4-BE49-F238E27FC236}">
                <a16:creationId xmlns:a16="http://schemas.microsoft.com/office/drawing/2014/main" id="{D63D25DA-36A5-4C73-9329-7CB3011D29A1}"/>
              </a:ext>
            </a:extLst>
          </p:cNvPr>
          <p:cNvSpPr>
            <a:spLocks xmlns:a="http://schemas.openxmlformats.org/drawingml/2006/main" noGrp="1"/>
          </p:cNvSpPr>
          <p:nvPr/>
        </p:nvSpPr>
        <p:spPr>
          <a:xfrm xmlns:a="http://schemas.openxmlformats.org/drawingml/2006/main">
            <a:off x="723900" y="590550"/>
            <a:ext cx="1323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125" b="1">
                <a:solidFill>
                  <a:srgbClr val="173843"/>
                </a:solidFill>
                <a:latin typeface="Calibri"/>
                <a:ea typeface="Calibri"/>
                <a:cs typeface="Calibri"/>
              </a:defRPr>
            </a:pPr>
            <a:r>
              <a:rPr sz="4125" b="1">
                <a:solidFill>
                  <a:srgbClr val="173843"/>
                </a:solidFill>
                <a:latin typeface="Calibri"/>
                <a:ea typeface="Calibri"/>
                <a:cs typeface="Calibri"/>
              </a:rPr>
              <a:t>Technical approach</a:t>
            </a:r>
          </a:p>
        </p:txBody>
      </p:sp>
      <p:sp>
        <p:nvSpPr>
          <p:cNvPr id="2" name="FastAPI provides the Python backend for ingestion, anal">
            <a:extLst xmlns:a="http://schemas.openxmlformats.org/drawingml/2006/main">
              <a:ext uri="{FF2B5EF4-FFF2-40B4-BE49-F238E27FC236}">
                <a16:creationId xmlns:a16="http://schemas.microsoft.com/office/drawing/2014/main" id="{456348B0-EA65-4B54-A8B9-462E69847141}"/>
              </a:ext>
            </a:extLst>
          </p:cNvPr>
          <p:cNvSpPr>
            <a:spLocks xmlns:a="http://schemas.openxmlformats.org/drawingml/2006/main" noGrp="1"/>
          </p:cNvSpPr>
          <p:nvPr/>
        </p:nvSpPr>
        <p:spPr>
          <a:xfrm xmlns:a="http://schemas.openxmlformats.org/drawingml/2006/main">
            <a:off x="742950" y="1438275"/>
            <a:ext cx="1357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526970"/>
                </a:solidFill>
                <a:latin typeface="Calibri"/>
                <a:ea typeface="Calibri"/>
                <a:cs typeface="Calibri"/>
              </a:defRPr>
            </a:pPr>
            <a:r>
              <a:rPr sz="2100" b="0">
                <a:solidFill>
                  <a:srgbClr val="526970"/>
                </a:solidFill>
                <a:latin typeface="Calibri"/>
                <a:ea typeface="Calibri"/>
                <a:cs typeface="Calibri"/>
              </a:rPr>
              <a:t>FastAPI provides the Python backend for ingestion, analytics and secure REST APIs.</a:t>
            </a:r>
          </a:p>
        </p:txBody>
      </p:sp>
      <p:sp>
        <p:nvSpPr>
          <p:cNvPr id="3" name="MPLADS-GUARD">
            <a:extLst xmlns:a="http://schemas.openxmlformats.org/drawingml/2006/main">
              <a:ext uri="{FF2B5EF4-FFF2-40B4-BE49-F238E27FC236}">
                <a16:creationId xmlns:a16="http://schemas.microsoft.com/office/drawing/2014/main" id="{FC7AD4D6-98CB-46C4-8105-3A8EBCFC62AA}"/>
              </a:ext>
            </a:extLst>
          </p:cNvPr>
          <p:cNvSpPr>
            <a:spLocks xmlns:a="http://schemas.openxmlformats.org/drawingml/2006/main" noGrp="1"/>
          </p:cNvSpPr>
          <p:nvPr/>
        </p:nvSpPr>
        <p:spPr>
          <a:xfrm xmlns:a="http://schemas.openxmlformats.org/drawingml/2006/main">
            <a:off x="742950" y="806767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970"/>
                </a:solidFill>
                <a:latin typeface="Calibri"/>
                <a:ea typeface="Calibri"/>
                <a:cs typeface="Calibri"/>
              </a:defRPr>
            </a:pPr>
            <a:r>
              <a:rPr sz="1500" b="0">
                <a:solidFill>
                  <a:srgbClr val="526970"/>
                </a:solidFill>
                <a:latin typeface="Calibri"/>
                <a:ea typeface="Calibri"/>
                <a:cs typeface="Calibri"/>
              </a:rPr>
              <a:t>MPLADS-GUARD</a:t>
            </a:r>
          </a:p>
        </p:txBody>
      </p:sp>
      <p:sp>
        <p:nvSpPr>
          <p:cNvPr id="4" name="03 / 06">
            <a:extLst xmlns:a="http://schemas.openxmlformats.org/drawingml/2006/main">
              <a:ext uri="{FF2B5EF4-FFF2-40B4-BE49-F238E27FC236}">
                <a16:creationId xmlns:a16="http://schemas.microsoft.com/office/drawing/2014/main" id="{D3225AEC-B445-431F-9DFC-090278146155}"/>
              </a:ext>
            </a:extLst>
          </p:cNvPr>
          <p:cNvSpPr>
            <a:spLocks xmlns:a="http://schemas.openxmlformats.org/drawingml/2006/main" noGrp="1"/>
          </p:cNvSpPr>
          <p:nvPr/>
        </p:nvSpPr>
        <p:spPr>
          <a:xfrm xmlns:a="http://schemas.openxmlformats.org/drawingml/2006/main">
            <a:off x="13525500" y="806767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970"/>
                </a:solidFill>
                <a:latin typeface="Calibri"/>
                <a:ea typeface="Calibri"/>
                <a:cs typeface="Calibri"/>
              </a:defRPr>
            </a:pPr>
            <a:r>
              <a:rPr sz="1500" b="0">
                <a:solidFill>
                  <a:srgbClr val="526970"/>
                </a:solidFill>
                <a:latin typeface="Calibri"/>
                <a:ea typeface="Calibri"/>
                <a:cs typeface="Calibri"/>
              </a:rPr>
              <a:t>03 / 06</a:t>
            </a:r>
          </a:p>
        </p:txBody>
      </p:sp>
      <p:sp>
        <p:nvSpPr>
          <p:cNvPr id="5" name="01">
            <a:extLst xmlns:a="http://schemas.openxmlformats.org/drawingml/2006/main">
              <a:ext uri="{FF2B5EF4-FFF2-40B4-BE49-F238E27FC236}">
                <a16:creationId xmlns:a16="http://schemas.microsoft.com/office/drawing/2014/main" id="{5A7D6EBB-A086-48A6-9750-72424A5CCF12}"/>
              </a:ext>
            </a:extLst>
          </p:cNvPr>
          <p:cNvSpPr>
            <a:spLocks xmlns:a="http://schemas.openxmlformats.org/drawingml/2006/main" noGrp="1"/>
          </p:cNvSpPr>
          <p:nvPr/>
        </p:nvSpPr>
        <p:spPr>
          <a:xfrm xmlns:a="http://schemas.openxmlformats.org/drawingml/2006/main">
            <a:off x="742950" y="2324100"/>
            <a:ext cx="695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75" b="1">
                <a:solidFill>
                  <a:srgbClr val="CF7135"/>
                </a:solidFill>
                <a:latin typeface="Calibri"/>
                <a:ea typeface="Calibri"/>
                <a:cs typeface="Calibri"/>
              </a:defRPr>
            </a:pPr>
            <a:r>
              <a:rPr sz="3075" b="1">
                <a:solidFill>
                  <a:srgbClr val="CF7135"/>
                </a:solidFill>
                <a:latin typeface="Calibri"/>
                <a:ea typeface="Calibri"/>
                <a:cs typeface="Calibri"/>
              </a:rPr>
              <a:t>01</a:t>
            </a:r>
          </a:p>
        </p:txBody>
      </p:sp>
      <p:sp>
        <p:nvSpPr>
          <p:cNvPr id="6" name="Ingest and clean">
            <a:extLst xmlns:a="http://schemas.openxmlformats.org/drawingml/2006/main">
              <a:ext uri="{FF2B5EF4-FFF2-40B4-BE49-F238E27FC236}">
                <a16:creationId xmlns:a16="http://schemas.microsoft.com/office/drawing/2014/main" id="{8532199E-54E8-4231-B5B5-351524151A74}"/>
              </a:ext>
            </a:extLst>
          </p:cNvPr>
          <p:cNvSpPr>
            <a:spLocks xmlns:a="http://schemas.openxmlformats.org/drawingml/2006/main" noGrp="1"/>
          </p:cNvSpPr>
          <p:nvPr/>
        </p:nvSpPr>
        <p:spPr>
          <a:xfrm xmlns:a="http://schemas.openxmlformats.org/drawingml/2006/main">
            <a:off x="1666875" y="232410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87D72"/>
                </a:solidFill>
                <a:latin typeface="Calibri"/>
                <a:ea typeface="Calibri"/>
                <a:cs typeface="Calibri"/>
              </a:defRPr>
            </a:pPr>
            <a:r>
              <a:rPr sz="2400" b="1">
                <a:solidFill>
                  <a:srgbClr val="087D72"/>
                </a:solidFill>
                <a:latin typeface="Calibri"/>
                <a:ea typeface="Calibri"/>
                <a:cs typeface="Calibri"/>
              </a:rPr>
              <a:t>Ingest and clean</a:t>
            </a:r>
          </a:p>
        </p:txBody>
      </p:sp>
      <p:sp>
        <p:nvSpPr>
          <p:cNvPr id="7" name="MPLADS records, invoices and tenders. Pandas and NumPy ">
            <a:extLst xmlns:a="http://schemas.openxmlformats.org/drawingml/2006/main">
              <a:ext uri="{FF2B5EF4-FFF2-40B4-BE49-F238E27FC236}">
                <a16:creationId xmlns:a16="http://schemas.microsoft.com/office/drawing/2014/main" id="{B1176469-617C-4643-8532-BAE9C7FEA14B}"/>
              </a:ext>
            </a:extLst>
          </p:cNvPr>
          <p:cNvSpPr>
            <a:spLocks xmlns:a="http://schemas.openxmlformats.org/drawingml/2006/main" noGrp="1"/>
          </p:cNvSpPr>
          <p:nvPr/>
        </p:nvSpPr>
        <p:spPr>
          <a:xfrm xmlns:a="http://schemas.openxmlformats.org/drawingml/2006/main">
            <a:off x="1666875" y="2781300"/>
            <a:ext cx="7334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3843"/>
                </a:solidFill>
                <a:latin typeface="Calibri"/>
                <a:ea typeface="Calibri"/>
                <a:cs typeface="Calibri"/>
              </a:defRPr>
            </a:pPr>
            <a:r>
              <a:rPr sz="2025" b="0">
                <a:solidFill>
                  <a:srgbClr val="173843"/>
                </a:solidFill>
                <a:latin typeface="Calibri"/>
                <a:ea typeface="Calibri"/>
                <a:cs typeface="Calibri"/>
              </a:rPr>
              <a:t>MPLADS records, invoices and tenders. Pandas and NumPy normalize values and handle missing data.</a:t>
            </a:r>
          </a:p>
        </p:txBody>
      </p:sp>
      <p:sp>
        <p:nvSpPr>
          <p:cNvPr id="8" name="02">
            <a:extLst xmlns:a="http://schemas.openxmlformats.org/drawingml/2006/main">
              <a:ext uri="{FF2B5EF4-FFF2-40B4-BE49-F238E27FC236}">
                <a16:creationId xmlns:a16="http://schemas.microsoft.com/office/drawing/2014/main" id="{92ECD057-2C9F-4A8C-9832-D63945E2A29A}"/>
              </a:ext>
            </a:extLst>
          </p:cNvPr>
          <p:cNvSpPr>
            <a:spLocks xmlns:a="http://schemas.openxmlformats.org/drawingml/2006/main" noGrp="1"/>
          </p:cNvSpPr>
          <p:nvPr/>
        </p:nvSpPr>
        <p:spPr>
          <a:xfrm xmlns:a="http://schemas.openxmlformats.org/drawingml/2006/main">
            <a:off x="742950" y="3609975"/>
            <a:ext cx="695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75" b="1">
                <a:solidFill>
                  <a:srgbClr val="CF7135"/>
                </a:solidFill>
                <a:latin typeface="Calibri"/>
                <a:ea typeface="Calibri"/>
                <a:cs typeface="Calibri"/>
              </a:defRPr>
            </a:pPr>
            <a:r>
              <a:rPr sz="3075" b="1">
                <a:solidFill>
                  <a:srgbClr val="CF7135"/>
                </a:solidFill>
                <a:latin typeface="Calibri"/>
                <a:ea typeface="Calibri"/>
                <a:cs typeface="Calibri"/>
              </a:rPr>
              <a:t>02</a:t>
            </a:r>
          </a:p>
        </p:txBody>
      </p:sp>
      <p:sp>
        <p:nvSpPr>
          <p:cNvPr id="9" name="Create features">
            <a:extLst xmlns:a="http://schemas.openxmlformats.org/drawingml/2006/main">
              <a:ext uri="{FF2B5EF4-FFF2-40B4-BE49-F238E27FC236}">
                <a16:creationId xmlns:a16="http://schemas.microsoft.com/office/drawing/2014/main" id="{E4E9DD64-F24C-429E-9ABE-F2D24C92099B}"/>
              </a:ext>
            </a:extLst>
          </p:cNvPr>
          <p:cNvSpPr>
            <a:spLocks xmlns:a="http://schemas.openxmlformats.org/drawingml/2006/main" noGrp="1"/>
          </p:cNvSpPr>
          <p:nvPr/>
        </p:nvSpPr>
        <p:spPr>
          <a:xfrm xmlns:a="http://schemas.openxmlformats.org/drawingml/2006/main">
            <a:off x="1666875" y="3609975"/>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87D72"/>
                </a:solidFill>
                <a:latin typeface="Calibri"/>
                <a:ea typeface="Calibri"/>
                <a:cs typeface="Calibri"/>
              </a:defRPr>
            </a:pPr>
            <a:r>
              <a:rPr sz="2400" b="1">
                <a:solidFill>
                  <a:srgbClr val="087D72"/>
                </a:solidFill>
                <a:latin typeface="Calibri"/>
                <a:ea typeface="Calibri"/>
                <a:cs typeface="Calibri"/>
              </a:rPr>
              <a:t>Create features</a:t>
            </a:r>
          </a:p>
        </p:txBody>
      </p:sp>
      <p:sp>
        <p:nvSpPr>
          <p:cNvPr id="10" name="Geotag proximity, cost and deficit ratios, and time-ser">
            <a:extLst xmlns:a="http://schemas.openxmlformats.org/drawingml/2006/main">
              <a:ext uri="{FF2B5EF4-FFF2-40B4-BE49-F238E27FC236}">
                <a16:creationId xmlns:a16="http://schemas.microsoft.com/office/drawing/2014/main" id="{32A140D7-9CAE-441E-ACF7-C248E6B526D0}"/>
              </a:ext>
            </a:extLst>
          </p:cNvPr>
          <p:cNvSpPr>
            <a:spLocks xmlns:a="http://schemas.openxmlformats.org/drawingml/2006/main" noGrp="1"/>
          </p:cNvSpPr>
          <p:nvPr/>
        </p:nvSpPr>
        <p:spPr>
          <a:xfrm xmlns:a="http://schemas.openxmlformats.org/drawingml/2006/main">
            <a:off x="1666875" y="4067175"/>
            <a:ext cx="7334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3843"/>
                </a:solidFill>
                <a:latin typeface="Calibri"/>
                <a:ea typeface="Calibri"/>
                <a:cs typeface="Calibri"/>
              </a:defRPr>
            </a:pPr>
            <a:r>
              <a:rPr sz="2025" b="0">
                <a:solidFill>
                  <a:srgbClr val="173843"/>
                </a:solidFill>
                <a:latin typeface="Calibri"/>
                <a:ea typeface="Calibri"/>
                <a:cs typeface="Calibri"/>
              </a:rPr>
              <a:t>Geotag proximity, cost and deficit ratios, and time-series spending velocity for March Rush analysis.</a:t>
            </a:r>
          </a:p>
        </p:txBody>
      </p:sp>
      <p:sp>
        <p:nvSpPr>
          <p:cNvPr id="11" name="03">
            <a:extLst xmlns:a="http://schemas.openxmlformats.org/drawingml/2006/main">
              <a:ext uri="{FF2B5EF4-FFF2-40B4-BE49-F238E27FC236}">
                <a16:creationId xmlns:a16="http://schemas.microsoft.com/office/drawing/2014/main" id="{79727B7A-9AFE-4FEB-8385-5D9AB5DA0F9D}"/>
              </a:ext>
            </a:extLst>
          </p:cNvPr>
          <p:cNvSpPr>
            <a:spLocks xmlns:a="http://schemas.openxmlformats.org/drawingml/2006/main" noGrp="1"/>
          </p:cNvSpPr>
          <p:nvPr/>
        </p:nvSpPr>
        <p:spPr>
          <a:xfrm xmlns:a="http://schemas.openxmlformats.org/drawingml/2006/main">
            <a:off x="742950" y="4895850"/>
            <a:ext cx="695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75" b="1">
                <a:solidFill>
                  <a:srgbClr val="CF7135"/>
                </a:solidFill>
                <a:latin typeface="Calibri"/>
                <a:ea typeface="Calibri"/>
                <a:cs typeface="Calibri"/>
              </a:defRPr>
            </a:pPr>
            <a:r>
              <a:rPr sz="3075" b="1">
                <a:solidFill>
                  <a:srgbClr val="CF7135"/>
                </a:solidFill>
                <a:latin typeface="Calibri"/>
                <a:ea typeface="Calibri"/>
                <a:cs typeface="Calibri"/>
              </a:rPr>
              <a:t>03</a:t>
            </a:r>
          </a:p>
        </p:txBody>
      </p:sp>
      <p:sp>
        <p:nvSpPr>
          <p:cNvPr id="12" name="Detect and score">
            <a:extLst xmlns:a="http://schemas.openxmlformats.org/drawingml/2006/main">
              <a:ext uri="{FF2B5EF4-FFF2-40B4-BE49-F238E27FC236}">
                <a16:creationId xmlns:a16="http://schemas.microsoft.com/office/drawing/2014/main" id="{C72B3A21-9FC0-4FEE-9EBA-C25E19B518E8}"/>
              </a:ext>
            </a:extLst>
          </p:cNvPr>
          <p:cNvSpPr>
            <a:spLocks xmlns:a="http://schemas.openxmlformats.org/drawingml/2006/main" noGrp="1"/>
          </p:cNvSpPr>
          <p:nvPr/>
        </p:nvSpPr>
        <p:spPr>
          <a:xfrm xmlns:a="http://schemas.openxmlformats.org/drawingml/2006/main">
            <a:off x="1666875" y="48958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87D72"/>
                </a:solidFill>
                <a:latin typeface="Calibri"/>
                <a:ea typeface="Calibri"/>
                <a:cs typeface="Calibri"/>
              </a:defRPr>
            </a:pPr>
            <a:r>
              <a:rPr sz="2400" b="1">
                <a:solidFill>
                  <a:srgbClr val="087D72"/>
                </a:solidFill>
                <a:latin typeface="Calibri"/>
                <a:ea typeface="Calibri"/>
                <a:cs typeface="Calibri"/>
              </a:rPr>
              <a:t>Detect and score</a:t>
            </a:r>
          </a:p>
        </p:txBody>
      </p:sp>
      <p:sp>
        <p:nvSpPr>
          <p:cNvPr id="13" name="Compliance rules, Isolation Forest and vector similarit">
            <a:extLst xmlns:a="http://schemas.openxmlformats.org/drawingml/2006/main">
              <a:ext uri="{FF2B5EF4-FFF2-40B4-BE49-F238E27FC236}">
                <a16:creationId xmlns:a16="http://schemas.microsoft.com/office/drawing/2014/main" id="{1C2672D5-BA24-4EFD-8CEE-70A06A3981E9}"/>
              </a:ext>
            </a:extLst>
          </p:cNvPr>
          <p:cNvSpPr>
            <a:spLocks xmlns:a="http://schemas.openxmlformats.org/drawingml/2006/main" noGrp="1"/>
          </p:cNvSpPr>
          <p:nvPr/>
        </p:nvSpPr>
        <p:spPr>
          <a:xfrm xmlns:a="http://schemas.openxmlformats.org/drawingml/2006/main">
            <a:off x="1666875" y="5353050"/>
            <a:ext cx="7334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3843"/>
                </a:solidFill>
                <a:latin typeface="Calibri"/>
                <a:ea typeface="Calibri"/>
                <a:cs typeface="Calibri"/>
              </a:defRPr>
            </a:pPr>
            <a:r>
              <a:rPr sz="2025" b="0">
                <a:solidFill>
                  <a:srgbClr val="173843"/>
                </a:solidFill>
                <a:latin typeface="Calibri"/>
                <a:ea typeface="Calibri"/>
                <a:cs typeface="Calibri"/>
              </a:rPr>
              <a:t>Compliance rules, Isolation Forest and vector similarity. Weighted scores classify high, medium or low risk.</a:t>
            </a:r>
          </a:p>
        </p:txBody>
      </p:sp>
      <p:sp>
        <p:nvSpPr>
          <p:cNvPr id="14" name="04">
            <a:extLst xmlns:a="http://schemas.openxmlformats.org/drawingml/2006/main">
              <a:ext uri="{FF2B5EF4-FFF2-40B4-BE49-F238E27FC236}">
                <a16:creationId xmlns:a16="http://schemas.microsoft.com/office/drawing/2014/main" id="{C6C5BDF2-0405-40F4-8F3C-1A3626302FDC}"/>
              </a:ext>
            </a:extLst>
          </p:cNvPr>
          <p:cNvSpPr>
            <a:spLocks xmlns:a="http://schemas.openxmlformats.org/drawingml/2006/main" noGrp="1"/>
          </p:cNvSpPr>
          <p:nvPr/>
        </p:nvSpPr>
        <p:spPr>
          <a:xfrm xmlns:a="http://schemas.openxmlformats.org/drawingml/2006/main">
            <a:off x="742950" y="6181725"/>
            <a:ext cx="6953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75" b="1">
                <a:solidFill>
                  <a:srgbClr val="CF7135"/>
                </a:solidFill>
                <a:latin typeface="Calibri"/>
                <a:ea typeface="Calibri"/>
                <a:cs typeface="Calibri"/>
              </a:defRPr>
            </a:pPr>
            <a:r>
              <a:rPr sz="3075" b="1">
                <a:solidFill>
                  <a:srgbClr val="CF7135"/>
                </a:solidFill>
                <a:latin typeface="Calibri"/>
                <a:ea typeface="Calibri"/>
                <a:cs typeface="Calibri"/>
              </a:rPr>
              <a:t>04</a:t>
            </a:r>
          </a:p>
        </p:txBody>
      </p:sp>
      <p:sp>
        <p:nvSpPr>
          <p:cNvPr id="15" name="Review and act">
            <a:extLst xmlns:a="http://schemas.openxmlformats.org/drawingml/2006/main">
              <a:ext uri="{FF2B5EF4-FFF2-40B4-BE49-F238E27FC236}">
                <a16:creationId xmlns:a16="http://schemas.microsoft.com/office/drawing/2014/main" id="{0A53B23E-BF01-443A-86B1-7C5573327D6E}"/>
              </a:ext>
            </a:extLst>
          </p:cNvPr>
          <p:cNvSpPr>
            <a:spLocks xmlns:a="http://schemas.openxmlformats.org/drawingml/2006/main" noGrp="1"/>
          </p:cNvSpPr>
          <p:nvPr/>
        </p:nvSpPr>
        <p:spPr>
          <a:xfrm xmlns:a="http://schemas.openxmlformats.org/drawingml/2006/main">
            <a:off x="1666875" y="6181725"/>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87D72"/>
                </a:solidFill>
                <a:latin typeface="Calibri"/>
                <a:ea typeface="Calibri"/>
                <a:cs typeface="Calibri"/>
              </a:defRPr>
            </a:pPr>
            <a:r>
              <a:rPr sz="2400" b="1">
                <a:solidFill>
                  <a:srgbClr val="087D72"/>
                </a:solidFill>
                <a:latin typeface="Calibri"/>
                <a:ea typeface="Calibri"/>
                <a:cs typeface="Calibri"/>
              </a:rPr>
              <a:t>Review and act</a:t>
            </a:r>
          </a:p>
        </p:txBody>
      </p:sp>
      <p:sp>
        <p:nvSpPr>
          <p:cNvPr id="16" name="React.js dashboards display live risk heatmaps, charts,">
            <a:extLst xmlns:a="http://schemas.openxmlformats.org/drawingml/2006/main">
              <a:ext uri="{FF2B5EF4-FFF2-40B4-BE49-F238E27FC236}">
                <a16:creationId xmlns:a16="http://schemas.microsoft.com/office/drawing/2014/main" id="{5E28E03B-36F3-473A-9089-44AF3FC90551}"/>
              </a:ext>
            </a:extLst>
          </p:cNvPr>
          <p:cNvSpPr>
            <a:spLocks xmlns:a="http://schemas.openxmlformats.org/drawingml/2006/main" noGrp="1"/>
          </p:cNvSpPr>
          <p:nvPr/>
        </p:nvSpPr>
        <p:spPr>
          <a:xfrm xmlns:a="http://schemas.openxmlformats.org/drawingml/2006/main">
            <a:off x="1666875" y="6638925"/>
            <a:ext cx="73342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3843"/>
                </a:solidFill>
                <a:latin typeface="Calibri"/>
                <a:ea typeface="Calibri"/>
                <a:cs typeface="Calibri"/>
              </a:defRPr>
            </a:pPr>
            <a:r>
              <a:rPr sz="2025" b="0">
                <a:solidFill>
                  <a:srgbClr val="173843"/>
                </a:solidFill>
                <a:latin typeface="Calibri"/>
                <a:ea typeface="Calibri"/>
                <a:cs typeface="Calibri"/>
              </a:rPr>
              <a:t>React.js dashboards display live risk heatmaps, charts, alerts and district-level evidence for officials.</a:t>
            </a:r>
          </a:p>
        </p:txBody>
      </p:sp>
      <p:sp>
        <p:nvSpPr>
          <p:cNvPr id="17" name="System components">
            <a:extLst xmlns:a="http://schemas.openxmlformats.org/drawingml/2006/main">
              <a:ext uri="{FF2B5EF4-FFF2-40B4-BE49-F238E27FC236}">
                <a16:creationId xmlns:a16="http://schemas.microsoft.com/office/drawing/2014/main" id="{49240A40-2967-429A-9E5B-0EC95DA76490}"/>
              </a:ext>
            </a:extLst>
          </p:cNvPr>
          <p:cNvSpPr>
            <a:spLocks xmlns:a="http://schemas.openxmlformats.org/drawingml/2006/main" noGrp="1"/>
          </p:cNvSpPr>
          <p:nvPr/>
        </p:nvSpPr>
        <p:spPr>
          <a:xfrm xmlns:a="http://schemas.openxmlformats.org/drawingml/2006/main">
            <a:off x="9810750" y="2324100"/>
            <a:ext cx="4476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87D72"/>
                </a:solidFill>
                <a:latin typeface="Calibri"/>
                <a:ea typeface="Calibri"/>
                <a:cs typeface="Calibri"/>
              </a:defRPr>
            </a:pPr>
            <a:r>
              <a:rPr sz="2400" b="1">
                <a:solidFill>
                  <a:srgbClr val="087D72"/>
                </a:solidFill>
                <a:latin typeface="Calibri"/>
                <a:ea typeface="Calibri"/>
                <a:cs typeface="Calibri"/>
              </a:rPr>
              <a:t>System components</a:t>
            </a:r>
          </a:p>
        </p:txBody>
      </p:sp>
      <p:sp>
        <p:nvSpPr>
          <p:cNvPr id="18" name="FastAPI + Python">
            <a:extLst xmlns:a="http://schemas.openxmlformats.org/drawingml/2006/main">
              <a:ext uri="{FF2B5EF4-FFF2-40B4-BE49-F238E27FC236}">
                <a16:creationId xmlns:a16="http://schemas.microsoft.com/office/drawing/2014/main" id="{ECEF15F4-E098-4AE3-80CC-1423236480B1}"/>
              </a:ext>
            </a:extLst>
          </p:cNvPr>
          <p:cNvSpPr>
            <a:spLocks xmlns:a="http://schemas.openxmlformats.org/drawingml/2006/main" noGrp="1"/>
          </p:cNvSpPr>
          <p:nvPr/>
        </p:nvSpPr>
        <p:spPr>
          <a:xfrm xmlns:a="http://schemas.openxmlformats.org/drawingml/2006/main">
            <a:off x="9810750" y="3028950"/>
            <a:ext cx="4429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87D72"/>
                </a:solidFill>
                <a:latin typeface="Calibri"/>
                <a:ea typeface="Calibri"/>
                <a:cs typeface="Calibri"/>
              </a:defRPr>
            </a:pPr>
            <a:r>
              <a:rPr sz="2250" b="1">
                <a:solidFill>
                  <a:srgbClr val="087D72"/>
                </a:solidFill>
                <a:latin typeface="Calibri"/>
                <a:ea typeface="Calibri"/>
                <a:cs typeface="Calibri"/>
              </a:rPr>
              <a:t>FastAPI + Python</a:t>
            </a:r>
          </a:p>
        </p:txBody>
      </p:sp>
      <p:sp>
        <p:nvSpPr>
          <p:cNvPr id="19" name="Authentication, routing and JSON APIs">
            <a:extLst xmlns:a="http://schemas.openxmlformats.org/drawingml/2006/main">
              <a:ext uri="{FF2B5EF4-FFF2-40B4-BE49-F238E27FC236}">
                <a16:creationId xmlns:a16="http://schemas.microsoft.com/office/drawing/2014/main" id="{3C85C4F6-DDB0-4A50-88D6-D4E189CA30C2}"/>
              </a:ext>
            </a:extLst>
          </p:cNvPr>
          <p:cNvSpPr>
            <a:spLocks xmlns:a="http://schemas.openxmlformats.org/drawingml/2006/main" noGrp="1"/>
          </p:cNvSpPr>
          <p:nvPr/>
        </p:nvSpPr>
        <p:spPr>
          <a:xfrm xmlns:a="http://schemas.openxmlformats.org/drawingml/2006/main">
            <a:off x="9810750" y="3486150"/>
            <a:ext cx="4429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3843"/>
                </a:solidFill>
                <a:latin typeface="Calibri"/>
                <a:ea typeface="Calibri"/>
                <a:cs typeface="Calibri"/>
              </a:defRPr>
            </a:pPr>
            <a:r>
              <a:rPr sz="2025" b="0">
                <a:solidFill>
                  <a:srgbClr val="173843"/>
                </a:solidFill>
                <a:latin typeface="Calibri"/>
                <a:ea typeface="Calibri"/>
                <a:cs typeface="Calibri"/>
              </a:rPr>
              <a:t>Authentication, routing and JSON APIs</a:t>
            </a:r>
          </a:p>
        </p:txBody>
      </p:sp>
      <p:sp>
        <p:nvSpPr>
          <p:cNvPr id="20" name="MongoDB">
            <a:extLst xmlns:a="http://schemas.openxmlformats.org/drawingml/2006/main">
              <a:ext uri="{FF2B5EF4-FFF2-40B4-BE49-F238E27FC236}">
                <a16:creationId xmlns:a16="http://schemas.microsoft.com/office/drawing/2014/main" id="{CC043FD3-1282-4A2E-A4B5-F63C8363D858}"/>
              </a:ext>
            </a:extLst>
          </p:cNvPr>
          <p:cNvSpPr>
            <a:spLocks xmlns:a="http://schemas.openxmlformats.org/drawingml/2006/main" noGrp="1"/>
          </p:cNvSpPr>
          <p:nvPr/>
        </p:nvSpPr>
        <p:spPr>
          <a:xfrm xmlns:a="http://schemas.openxmlformats.org/drawingml/2006/main">
            <a:off x="9810750" y="4257675"/>
            <a:ext cx="4429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87D72"/>
                </a:solidFill>
                <a:latin typeface="Calibri"/>
                <a:ea typeface="Calibri"/>
                <a:cs typeface="Calibri"/>
              </a:defRPr>
            </a:pPr>
            <a:r>
              <a:rPr sz="2250" b="1">
                <a:solidFill>
                  <a:srgbClr val="087D72"/>
                </a:solidFill>
                <a:latin typeface="Calibri"/>
                <a:ea typeface="Calibri"/>
                <a:cs typeface="Calibri"/>
              </a:rPr>
              <a:t>MongoDB</a:t>
            </a:r>
          </a:p>
        </p:txBody>
      </p:sp>
      <p:sp>
        <p:nvSpPr>
          <p:cNvPr id="21" name="Invoices, tenders and project records">
            <a:extLst xmlns:a="http://schemas.openxmlformats.org/drawingml/2006/main">
              <a:ext uri="{FF2B5EF4-FFF2-40B4-BE49-F238E27FC236}">
                <a16:creationId xmlns:a16="http://schemas.microsoft.com/office/drawing/2014/main" id="{E6E57AB0-BC2E-4873-BB22-5BCFDCACBD5C}"/>
              </a:ext>
            </a:extLst>
          </p:cNvPr>
          <p:cNvSpPr>
            <a:spLocks xmlns:a="http://schemas.openxmlformats.org/drawingml/2006/main" noGrp="1"/>
          </p:cNvSpPr>
          <p:nvPr/>
        </p:nvSpPr>
        <p:spPr>
          <a:xfrm xmlns:a="http://schemas.openxmlformats.org/drawingml/2006/main">
            <a:off x="9810750" y="4714875"/>
            <a:ext cx="4429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3843"/>
                </a:solidFill>
                <a:latin typeface="Calibri"/>
                <a:ea typeface="Calibri"/>
                <a:cs typeface="Calibri"/>
              </a:defRPr>
            </a:pPr>
            <a:r>
              <a:rPr sz="2025" b="0">
                <a:solidFill>
                  <a:srgbClr val="173843"/>
                </a:solidFill>
                <a:latin typeface="Calibri"/>
                <a:ea typeface="Calibri"/>
                <a:cs typeface="Calibri"/>
              </a:rPr>
              <a:t>Invoices, tenders and project records</a:t>
            </a:r>
          </a:p>
        </p:txBody>
      </p:sp>
      <p:sp>
        <p:nvSpPr>
          <p:cNvPr id="22" name="React.js">
            <a:extLst xmlns:a="http://schemas.openxmlformats.org/drawingml/2006/main">
              <a:ext uri="{FF2B5EF4-FFF2-40B4-BE49-F238E27FC236}">
                <a16:creationId xmlns:a16="http://schemas.microsoft.com/office/drawing/2014/main" id="{A6F0601C-C947-4075-9D52-C16AAAFB548F}"/>
              </a:ext>
            </a:extLst>
          </p:cNvPr>
          <p:cNvSpPr>
            <a:spLocks xmlns:a="http://schemas.openxmlformats.org/drawingml/2006/main" noGrp="1"/>
          </p:cNvSpPr>
          <p:nvPr/>
        </p:nvSpPr>
        <p:spPr>
          <a:xfrm xmlns:a="http://schemas.openxmlformats.org/drawingml/2006/main">
            <a:off x="9810750" y="5486400"/>
            <a:ext cx="44291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87D72"/>
                </a:solidFill>
                <a:latin typeface="Calibri"/>
                <a:ea typeface="Calibri"/>
                <a:cs typeface="Calibri"/>
              </a:defRPr>
            </a:pPr>
            <a:r>
              <a:rPr sz="2250" b="1">
                <a:solidFill>
                  <a:srgbClr val="087D72"/>
                </a:solidFill>
                <a:latin typeface="Calibri"/>
                <a:ea typeface="Calibri"/>
                <a:cs typeface="Calibri"/>
              </a:rPr>
              <a:t>React.js</a:t>
            </a:r>
          </a:p>
        </p:txBody>
      </p:sp>
      <p:sp>
        <p:nvSpPr>
          <p:cNvPr id="23" name="Responsive dashboard and charting">
            <a:extLst xmlns:a="http://schemas.openxmlformats.org/drawingml/2006/main">
              <a:ext uri="{FF2B5EF4-FFF2-40B4-BE49-F238E27FC236}">
                <a16:creationId xmlns:a16="http://schemas.microsoft.com/office/drawing/2014/main" id="{52192191-D222-418D-AC14-909F43E7CEB6}"/>
              </a:ext>
            </a:extLst>
          </p:cNvPr>
          <p:cNvSpPr>
            <a:spLocks xmlns:a="http://schemas.openxmlformats.org/drawingml/2006/main" noGrp="1"/>
          </p:cNvSpPr>
          <p:nvPr/>
        </p:nvSpPr>
        <p:spPr>
          <a:xfrm xmlns:a="http://schemas.openxmlformats.org/drawingml/2006/main">
            <a:off x="9810750" y="5943600"/>
            <a:ext cx="4429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3843"/>
                </a:solidFill>
                <a:latin typeface="Calibri"/>
                <a:ea typeface="Calibri"/>
                <a:cs typeface="Calibri"/>
              </a:defRPr>
            </a:pPr>
            <a:r>
              <a:rPr sz="2025" b="0">
                <a:solidFill>
                  <a:srgbClr val="173843"/>
                </a:solidFill>
                <a:latin typeface="Calibri"/>
                <a:ea typeface="Calibri"/>
                <a:cs typeface="Calibri"/>
              </a:rPr>
              <a:t>Responsive dashboard and charting</a:t>
            </a:r>
          </a:p>
        </p:txBody>
      </p:sp>
      <p:sp>
        <p:nvSpPr>
          <p:cNvPr id="24" name="AI / ML libraries">
            <a:extLst xmlns:a="http://schemas.openxmlformats.org/drawingml/2006/main">
              <a:ext uri="{FF2B5EF4-FFF2-40B4-BE49-F238E27FC236}">
                <a16:creationId xmlns:a16="http://schemas.microsoft.com/office/drawing/2014/main" id="{4C325FCE-65EA-425A-88BB-B6149B66AB52}"/>
              </a:ext>
            </a:extLst>
          </p:cNvPr>
          <p:cNvSpPr>
            <a:spLocks xmlns:a="http://schemas.openxmlformats.org/drawingml/2006/main" noGrp="1"/>
          </p:cNvSpPr>
          <p:nvPr/>
        </p:nvSpPr>
        <p:spPr>
          <a:xfrm xmlns:a="http://schemas.openxmlformats.org/drawingml/2006/main">
            <a:off x="9810750" y="6772275"/>
            <a:ext cx="4429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87D72"/>
                </a:solidFill>
                <a:latin typeface="Calibri"/>
                <a:ea typeface="Calibri"/>
                <a:cs typeface="Calibri"/>
              </a:defRPr>
            </a:pPr>
            <a:r>
              <a:rPr sz="2175" b="1">
                <a:solidFill>
                  <a:srgbClr val="087D72"/>
                </a:solidFill>
                <a:latin typeface="Calibri"/>
                <a:ea typeface="Calibri"/>
                <a:cs typeface="Calibri"/>
              </a:rPr>
              <a:t>AI / ML libraries</a:t>
            </a:r>
          </a:p>
        </p:txBody>
      </p:sp>
      <p:sp>
        <p:nvSpPr>
          <p:cNvPr id="25" name="scikit-learn and TensorFlow&#10;Random Forest when labels a">
            <a:extLst xmlns:a="http://schemas.openxmlformats.org/drawingml/2006/main">
              <a:ext uri="{FF2B5EF4-FFF2-40B4-BE49-F238E27FC236}">
                <a16:creationId xmlns:a16="http://schemas.microsoft.com/office/drawing/2014/main" id="{EFB66852-4FC8-4025-A928-A9B094B3D81F}"/>
              </a:ext>
            </a:extLst>
          </p:cNvPr>
          <p:cNvSpPr>
            <a:spLocks xmlns:a="http://schemas.openxmlformats.org/drawingml/2006/main" noGrp="1"/>
          </p:cNvSpPr>
          <p:nvPr/>
        </p:nvSpPr>
        <p:spPr>
          <a:xfrm xmlns:a="http://schemas.openxmlformats.org/drawingml/2006/main">
            <a:off x="9810750" y="7191375"/>
            <a:ext cx="4429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73843"/>
                </a:solidFill>
                <a:latin typeface="Calibri"/>
                <a:ea typeface="Calibri"/>
                <a:cs typeface="Calibri"/>
              </a:defRPr>
            </a:pPr>
            <a:r>
              <a:rPr sz="1950" b="0">
                <a:solidFill>
                  <a:srgbClr val="173843"/>
                </a:solidFill>
                <a:latin typeface="Calibri"/>
                <a:ea typeface="Calibri"/>
                <a:cs typeface="Calibri"/>
              </a:rPr>
              <a:t>scikit-learn and TensorFlow</a:t>
            </a:r>
          </a:p>
          <a:p xmlns:a="http://schemas.openxmlformats.org/drawingml/2006/main">
            <a:pPr>
              <a:defRPr sz="1950" b="0">
                <a:solidFill>
                  <a:srgbClr val="173843"/>
                </a:solidFill>
                <a:latin typeface="Calibri"/>
                <a:ea typeface="Calibri"/>
                <a:cs typeface="Calibri"/>
              </a:defRPr>
            </a:pPr>
            <a:r>
              <a:rPr sz="1950" b="0">
                <a:solidFill>
                  <a:srgbClr val="173843"/>
                </a:solidFill>
                <a:latin typeface="Calibri"/>
                <a:ea typeface="Calibri"/>
                <a:cs typeface="Calibri"/>
              </a:rPr>
              <a:t>Random Forest when labels are available</a:t>
            </a:r>
          </a:p>
        </p:txBody>
      </p:sp>
    </p:spTree>
    <p:extLst>
      <p:ext uri="{BB962C8B-B14F-4D97-AF65-F5344CB8AC3E}">
        <p14:creationId xmlns:p14="http://schemas.microsoft.com/office/powerpoint/2010/main" val="565246334"/>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Feasibility and viability">
            <a:extLst xmlns:a="http://schemas.openxmlformats.org/drawingml/2006/main">
              <a:ext uri="{FF2B5EF4-FFF2-40B4-BE49-F238E27FC236}">
                <a16:creationId xmlns:a16="http://schemas.microsoft.com/office/drawing/2014/main" id="{9C5A88EA-F4ED-4FB3-8380-1C8B051219EC}"/>
              </a:ext>
            </a:extLst>
          </p:cNvPr>
          <p:cNvSpPr>
            <a:spLocks xmlns:a="http://schemas.openxmlformats.org/drawingml/2006/main" noGrp="1"/>
          </p:cNvSpPr>
          <p:nvPr/>
        </p:nvSpPr>
        <p:spPr>
          <a:xfrm xmlns:a="http://schemas.openxmlformats.org/drawingml/2006/main">
            <a:off x="723900" y="590550"/>
            <a:ext cx="1323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125" b="1">
                <a:solidFill>
                  <a:srgbClr val="173843"/>
                </a:solidFill>
                <a:latin typeface="Calibri"/>
                <a:ea typeface="Calibri"/>
                <a:cs typeface="Calibri"/>
              </a:defRPr>
            </a:pPr>
            <a:r>
              <a:rPr sz="4125" b="1">
                <a:solidFill>
                  <a:srgbClr val="173843"/>
                </a:solidFill>
                <a:latin typeface="Calibri"/>
                <a:ea typeface="Calibri"/>
                <a:cs typeface="Calibri"/>
              </a:rPr>
              <a:t>Feasibility and viability</a:t>
            </a:r>
          </a:p>
        </p:txBody>
      </p:sp>
      <p:sp>
        <p:nvSpPr>
          <p:cNvPr id="2" name="The proposed stack is practical. Data availability, evi">
            <a:extLst xmlns:a="http://schemas.openxmlformats.org/drawingml/2006/main">
              <a:ext uri="{FF2B5EF4-FFF2-40B4-BE49-F238E27FC236}">
                <a16:creationId xmlns:a16="http://schemas.microsoft.com/office/drawing/2014/main" id="{6A94938B-FB07-4927-9593-25C0FE566690}"/>
              </a:ext>
            </a:extLst>
          </p:cNvPr>
          <p:cNvSpPr>
            <a:spLocks xmlns:a="http://schemas.openxmlformats.org/drawingml/2006/main" noGrp="1"/>
          </p:cNvSpPr>
          <p:nvPr/>
        </p:nvSpPr>
        <p:spPr>
          <a:xfrm xmlns:a="http://schemas.openxmlformats.org/drawingml/2006/main">
            <a:off x="742950" y="1438275"/>
            <a:ext cx="1357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526970"/>
                </a:solidFill>
                <a:latin typeface="Calibri"/>
                <a:ea typeface="Calibri"/>
                <a:cs typeface="Calibri"/>
              </a:defRPr>
            </a:pPr>
            <a:r>
              <a:rPr sz="2100" b="0">
                <a:solidFill>
                  <a:srgbClr val="526970"/>
                </a:solidFill>
                <a:latin typeface="Calibri"/>
                <a:ea typeface="Calibri"/>
                <a:cs typeface="Calibri"/>
              </a:rPr>
              <a:t>The proposed stack is practical. Data availability, evidence quality and reviewer trust determine usefulness.</a:t>
            </a:r>
          </a:p>
        </p:txBody>
      </p:sp>
      <p:sp>
        <p:nvSpPr>
          <p:cNvPr id="3" name="MPLADS-GUARD">
            <a:extLst xmlns:a="http://schemas.openxmlformats.org/drawingml/2006/main">
              <a:ext uri="{FF2B5EF4-FFF2-40B4-BE49-F238E27FC236}">
                <a16:creationId xmlns:a16="http://schemas.microsoft.com/office/drawing/2014/main" id="{B1CA94ED-C9B5-45B2-99A0-4866D5F6CD94}"/>
              </a:ext>
            </a:extLst>
          </p:cNvPr>
          <p:cNvSpPr>
            <a:spLocks xmlns:a="http://schemas.openxmlformats.org/drawingml/2006/main" noGrp="1"/>
          </p:cNvSpPr>
          <p:nvPr/>
        </p:nvSpPr>
        <p:spPr>
          <a:xfrm xmlns:a="http://schemas.openxmlformats.org/drawingml/2006/main">
            <a:off x="742950" y="806767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970"/>
                </a:solidFill>
                <a:latin typeface="Calibri"/>
                <a:ea typeface="Calibri"/>
                <a:cs typeface="Calibri"/>
              </a:defRPr>
            </a:pPr>
            <a:r>
              <a:rPr sz="1500" b="0">
                <a:solidFill>
                  <a:srgbClr val="526970"/>
                </a:solidFill>
                <a:latin typeface="Calibri"/>
                <a:ea typeface="Calibri"/>
                <a:cs typeface="Calibri"/>
              </a:rPr>
              <a:t>MPLADS-GUARD</a:t>
            </a:r>
          </a:p>
        </p:txBody>
      </p:sp>
      <p:sp>
        <p:nvSpPr>
          <p:cNvPr id="4" name="04 / 06">
            <a:extLst xmlns:a="http://schemas.openxmlformats.org/drawingml/2006/main">
              <a:ext uri="{FF2B5EF4-FFF2-40B4-BE49-F238E27FC236}">
                <a16:creationId xmlns:a16="http://schemas.microsoft.com/office/drawing/2014/main" id="{19269ED2-A1BF-44C3-8EAE-E0A7D2A3B6DA}"/>
              </a:ext>
            </a:extLst>
          </p:cNvPr>
          <p:cNvSpPr>
            <a:spLocks xmlns:a="http://schemas.openxmlformats.org/drawingml/2006/main" noGrp="1"/>
          </p:cNvSpPr>
          <p:nvPr/>
        </p:nvSpPr>
        <p:spPr>
          <a:xfrm xmlns:a="http://schemas.openxmlformats.org/drawingml/2006/main">
            <a:off x="13525500" y="806767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970"/>
                </a:solidFill>
                <a:latin typeface="Calibri"/>
                <a:ea typeface="Calibri"/>
                <a:cs typeface="Calibri"/>
              </a:defRPr>
            </a:pPr>
            <a:r>
              <a:rPr sz="1500" b="0">
                <a:solidFill>
                  <a:srgbClr val="526970"/>
                </a:solidFill>
                <a:latin typeface="Calibri"/>
                <a:ea typeface="Calibri"/>
                <a:cs typeface="Calibri"/>
              </a:rPr>
              <a:t>04 / 06</a:t>
            </a:r>
          </a:p>
        </p:txBody>
      </p:sp>
      <p:graphicFrame>
        <p:nvGraphicFramePr>
          <p:cNvPr id="16" name=""/>
          <p:cNvGraphicFramePr/>
          <p:nvPr/>
        </p:nvGraphicFramePr>
        <p:xfrm>
          <a:off xmlns:a="http://schemas.openxmlformats.org/drawingml/2006/main" x="742950" y="2286000"/>
          <a:ext xmlns:a="http://schemas.openxmlformats.org/drawingml/2006/main" cx="13754100" cy="3514725"/>
        </p:xfrm>
        <a:graphic xmlns:a="http://schemas.openxmlformats.org/drawingml/2006/main">
          <a:graphicData uri="http://schemas.openxmlformats.org/drawingml/2006/table">
            <a:tbl>
              <a:tblPr firstRow="0" bandRow="0"/>
              <a:tblGrid>
                <a:gridCol w="4476750"/>
                <a:gridCol w="9277350"/>
              </a:tblGrid>
              <a:tr h="542925">
                <a:tc>
                  <a:txBody>
                    <a:bodyPr lIns="190500" tIns="76200" rIns="171450" bIns="76200">
                      <a:noAutofit/>
                    </a:bodyPr>
                    <a:lstStyle/>
                    <a:p>
                      <a:r>
                        <a:rPr sz="2025" b="1">
                          <a:solidFill>
                            <a:srgbClr val="FFFFFF"/>
                          </a:solidFill>
                          <a:latin typeface="Calibri"/>
                          <a:ea typeface="Calibri"/>
                          <a:cs typeface="Calibri"/>
                        </a:rPr>
                        <a:t>Risk</a:t>
                      </a:r>
                    </a:p>
                  </a:txBody>
                  <a:tcPr marL="190500" marR="171450" marT="76200" marB="76200" anchor="ctr">
                    <a:solidFill>
                      <a:srgbClr val="102A36"/>
                    </a:solidFill>
                  </a:tcPr>
                </a:tc>
                <a:tc>
                  <a:txBody>
                    <a:bodyPr lIns="190500" tIns="76200" rIns="171450" bIns="76200">
                      <a:noAutofit/>
                    </a:bodyPr>
                    <a:lstStyle/>
                    <a:p>
                      <a:r>
                        <a:rPr sz="2025" b="1">
                          <a:solidFill>
                            <a:srgbClr val="FFFFFF"/>
                          </a:solidFill>
                          <a:latin typeface="Calibri"/>
                          <a:ea typeface="Calibri"/>
                          <a:cs typeface="Calibri"/>
                        </a:rPr>
                        <a:t>Mitigation</a:t>
                      </a:r>
                    </a:p>
                  </a:txBody>
                  <a:tcPr marL="190500" marR="171450" marT="76200" marB="76200" anchor="ctr">
                    <a:solidFill>
                      <a:srgbClr val="102A36"/>
                    </a:solidFill>
                  </a:tcPr>
                </a:tc>
              </a:tr>
              <a:tr h="990600">
                <a:tc>
                  <a:txBody>
                    <a:bodyPr lIns="190500" tIns="76200" rIns="171450" bIns="76200">
                      <a:noAutofit/>
                    </a:bodyPr>
                    <a:lstStyle/>
                    <a:p>
                      <a:r>
                        <a:rPr sz="2100" b="1">
                          <a:solidFill>
                            <a:srgbClr val="173843"/>
                          </a:solidFill>
                          <a:latin typeface="Calibri"/>
                          <a:ea typeface="Calibri"/>
                          <a:cs typeface="Calibri"/>
                        </a:rPr>
                        <a:t>Delayed or unclear district reports</a:t>
                      </a:r>
                    </a:p>
                  </a:txBody>
                  <a:tcPr marL="190500" marR="171450" marT="76200" marB="76200" anchor="ctr">
                    <a:solidFill>
                      <a:srgbClr val="FFFFFF"/>
                    </a:solidFill>
                  </a:tcPr>
                </a:tc>
                <a:tc>
                  <a:txBody>
                    <a:bodyPr lIns="190500" tIns="76200" rIns="171450" bIns="76200">
                      <a:noAutofit/>
                    </a:bodyPr>
                    <a:lstStyle/>
                    <a:p>
                      <a:r>
                        <a:rPr sz="2100" b="0">
                          <a:solidFill>
                            <a:srgbClr val="173843"/>
                          </a:solidFill>
                          <a:latin typeface="Calibri"/>
                          <a:ea typeface="Calibri"/>
                          <a:cs typeface="Calibri"/>
                        </a:rPr>
                        <a:t>Automate authorized invoice and tender ingestion through FastAPI. Validate completeness and freshness.</a:t>
                      </a:r>
                    </a:p>
                  </a:txBody>
                  <a:tcPr marL="190500" marR="171450" marT="76200" marB="76200" anchor="ctr">
                    <a:solidFill>
                      <a:srgbClr val="FFFFFF"/>
                    </a:solidFill>
                  </a:tcPr>
                </a:tc>
              </a:tr>
              <a:tr h="990600">
                <a:tc>
                  <a:txBody>
                    <a:bodyPr lIns="190500" tIns="76200" rIns="171450" bIns="76200">
                      <a:noAutofit/>
                    </a:bodyPr>
                    <a:lstStyle/>
                    <a:p>
                      <a:r>
                        <a:rPr sz="2100" b="1">
                          <a:solidFill>
                            <a:srgbClr val="173843"/>
                          </a:solidFill>
                          <a:latin typeface="Calibri"/>
                          <a:ea typeface="Calibri"/>
                          <a:cs typeface="Calibri"/>
                        </a:rPr>
                        <a:t>Manual auditing bottlenecks</a:t>
                      </a:r>
                    </a:p>
                  </a:txBody>
                  <a:tcPr marL="190500" marR="171450" marT="76200" marB="76200" anchor="ctr">
                    <a:solidFill>
                      <a:srgbClr val="EDF2EE"/>
                    </a:solidFill>
                  </a:tcPr>
                </a:tc>
                <a:tc>
                  <a:txBody>
                    <a:bodyPr lIns="190500" tIns="76200" rIns="171450" bIns="76200">
                      <a:noAutofit/>
                    </a:bodyPr>
                    <a:lstStyle/>
                    <a:p>
                      <a:r>
                        <a:rPr sz="2100" b="0">
                          <a:solidFill>
                            <a:srgbClr val="173843"/>
                          </a:solidFill>
                          <a:latin typeface="Calibri"/>
                          <a:ea typeface="Calibri"/>
                          <a:cs typeface="Calibri"/>
                        </a:rPr>
                        <a:t>Use Isolation Forest and automated screening to prioritize cases and reduce repetitive checking.</a:t>
                      </a:r>
                    </a:p>
                  </a:txBody>
                  <a:tcPr marL="190500" marR="171450" marT="76200" marB="76200" anchor="ctr">
                    <a:solidFill>
                      <a:srgbClr val="EDF2EE"/>
                    </a:solidFill>
                  </a:tcPr>
                </a:tc>
              </a:tr>
              <a:tr h="990600">
                <a:tc>
                  <a:txBody>
                    <a:bodyPr lIns="190500" tIns="76200" rIns="171450" bIns="76200">
                      <a:noAutofit/>
                    </a:bodyPr>
                    <a:lstStyle/>
                    <a:p>
                      <a:r>
                        <a:rPr sz="2100" b="1">
                          <a:solidFill>
                            <a:srgbClr val="173843"/>
                          </a:solidFill>
                          <a:latin typeface="Calibri"/>
                          <a:ea typeface="Calibri"/>
                          <a:cs typeface="Calibri"/>
                        </a:rPr>
                        <a:t>False positives and credibility</a:t>
                      </a:r>
                    </a:p>
                  </a:txBody>
                  <a:tcPr marL="190500" marR="171450" marT="76200" marB="76200" anchor="ctr">
                    <a:solidFill>
                      <a:srgbClr val="FFFFFF"/>
                    </a:solidFill>
                  </a:tcPr>
                </a:tc>
                <a:tc>
                  <a:txBody>
                    <a:bodyPr lIns="190500" tIns="76200" rIns="171450" bIns="76200">
                      <a:noAutofit/>
                    </a:bodyPr>
                    <a:lstStyle/>
                    <a:p>
                      <a:r>
                        <a:rPr sz="2100" b="0">
                          <a:solidFill>
                            <a:srgbClr val="173843"/>
                          </a:solidFill>
                          <a:latin typeface="Calibri"/>
                          <a:ea typeface="Calibri"/>
                          <a:cs typeface="Calibri"/>
                        </a:rPr>
                        <a:t>Show risk tiers and verifiable district-level evidence. Officials review flags before taking action.</a:t>
                      </a:r>
                    </a:p>
                  </a:txBody>
                  <a:tcPr marL="190500" marR="171450" marT="76200" marB="76200" anchor="ctr">
                    <a:solidFill>
                      <a:srgbClr val="FFFFFF"/>
                    </a:solidFill>
                  </a:tcPr>
                </a:tc>
              </a:tr>
            </a:tbl>
          </a:graphicData>
        </a:graphic>
      </p:graphicFrame>
      <p:sp>
        <p:nvSpPr>
          <p:cNvPr id="6" name="Technical feasibility">
            <a:extLst xmlns:a="http://schemas.openxmlformats.org/drawingml/2006/main">
              <a:ext uri="{FF2B5EF4-FFF2-40B4-BE49-F238E27FC236}">
                <a16:creationId xmlns:a16="http://schemas.microsoft.com/office/drawing/2014/main" id="{5017355E-9183-43E4-A076-C204B61E2BC1}"/>
              </a:ext>
            </a:extLst>
          </p:cNvPr>
          <p:cNvSpPr>
            <a:spLocks xmlns:a="http://schemas.openxmlformats.org/drawingml/2006/main" noGrp="1"/>
          </p:cNvSpPr>
          <p:nvPr/>
        </p:nvSpPr>
        <p:spPr>
          <a:xfrm xmlns:a="http://schemas.openxmlformats.org/drawingml/2006/main">
            <a:off x="762000" y="6191250"/>
            <a:ext cx="4333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87D72"/>
                </a:solidFill>
                <a:latin typeface="Calibri"/>
                <a:ea typeface="Calibri"/>
                <a:cs typeface="Calibri"/>
              </a:defRPr>
            </a:pPr>
            <a:r>
              <a:rPr sz="2250" b="1">
                <a:solidFill>
                  <a:srgbClr val="087D72"/>
                </a:solidFill>
                <a:latin typeface="Calibri"/>
                <a:ea typeface="Calibri"/>
                <a:cs typeface="Calibri"/>
              </a:rPr>
              <a:t>Technical feasibility</a:t>
            </a:r>
          </a:p>
        </p:txBody>
      </p:sp>
      <p:sp>
        <p:nvSpPr>
          <p:cNvPr id="7" name="React.js, FastAPI and MongoDB connect to Python analyti">
            <a:extLst xmlns:a="http://schemas.openxmlformats.org/drawingml/2006/main">
              <a:ext uri="{FF2B5EF4-FFF2-40B4-BE49-F238E27FC236}">
                <a16:creationId xmlns:a16="http://schemas.microsoft.com/office/drawing/2014/main" id="{7FD31D26-B150-4588-905B-F7FC626D716C}"/>
              </a:ext>
            </a:extLst>
          </p:cNvPr>
          <p:cNvSpPr>
            <a:spLocks xmlns:a="http://schemas.openxmlformats.org/drawingml/2006/main" noGrp="1"/>
          </p:cNvSpPr>
          <p:nvPr/>
        </p:nvSpPr>
        <p:spPr>
          <a:xfrm xmlns:a="http://schemas.openxmlformats.org/drawingml/2006/main">
            <a:off x="762000" y="6648450"/>
            <a:ext cx="43338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3843"/>
                </a:solidFill>
                <a:latin typeface="Calibri"/>
                <a:ea typeface="Calibri"/>
                <a:cs typeface="Calibri"/>
              </a:defRPr>
            </a:pPr>
            <a:r>
              <a:rPr sz="2025" b="0">
                <a:solidFill>
                  <a:srgbClr val="173843"/>
                </a:solidFill>
                <a:latin typeface="Calibri"/>
                <a:ea typeface="Calibri"/>
                <a:cs typeface="Calibri"/>
              </a:rPr>
              <a:t>React.js, FastAPI and MongoDB connect to Python analytics. Secure cloud services can expand across districts.</a:t>
            </a:r>
          </a:p>
        </p:txBody>
      </p:sp>
      <p:sp>
        <p:nvSpPr>
          <p:cNvPr id="8" name="Resources">
            <a:extLst xmlns:a="http://schemas.openxmlformats.org/drawingml/2006/main">
              <a:ext uri="{FF2B5EF4-FFF2-40B4-BE49-F238E27FC236}">
                <a16:creationId xmlns:a16="http://schemas.microsoft.com/office/drawing/2014/main" id="{9E8D5C2B-B01F-408D-B303-B0EE0A5B2FAB}"/>
              </a:ext>
            </a:extLst>
          </p:cNvPr>
          <p:cNvSpPr>
            <a:spLocks xmlns:a="http://schemas.openxmlformats.org/drawingml/2006/main" noGrp="1"/>
          </p:cNvSpPr>
          <p:nvPr/>
        </p:nvSpPr>
        <p:spPr>
          <a:xfrm xmlns:a="http://schemas.openxmlformats.org/drawingml/2006/main">
            <a:off x="5495925" y="6191250"/>
            <a:ext cx="42957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87D72"/>
                </a:solidFill>
                <a:latin typeface="Calibri"/>
                <a:ea typeface="Calibri"/>
                <a:cs typeface="Calibri"/>
              </a:defRPr>
            </a:pPr>
            <a:r>
              <a:rPr sz="2250" b="1">
                <a:solidFill>
                  <a:srgbClr val="087D72"/>
                </a:solidFill>
                <a:latin typeface="Calibri"/>
                <a:ea typeface="Calibri"/>
                <a:cs typeface="Calibri"/>
              </a:rPr>
              <a:t>Resources</a:t>
            </a:r>
          </a:p>
        </p:txBody>
      </p:sp>
      <p:sp>
        <p:nvSpPr>
          <p:cNvPr id="9" name="AWS or Render for APIs, managed database hosting and Ve">
            <a:extLst xmlns:a="http://schemas.openxmlformats.org/drawingml/2006/main">
              <a:ext uri="{FF2B5EF4-FFF2-40B4-BE49-F238E27FC236}">
                <a16:creationId xmlns:a16="http://schemas.microsoft.com/office/drawing/2014/main" id="{F4126A14-1883-4E21-A852-4DCD8299CF24}"/>
              </a:ext>
            </a:extLst>
          </p:cNvPr>
          <p:cNvSpPr>
            <a:spLocks xmlns:a="http://schemas.openxmlformats.org/drawingml/2006/main" noGrp="1"/>
          </p:cNvSpPr>
          <p:nvPr/>
        </p:nvSpPr>
        <p:spPr>
          <a:xfrm xmlns:a="http://schemas.openxmlformats.org/drawingml/2006/main">
            <a:off x="5495925" y="6648450"/>
            <a:ext cx="42957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3843"/>
                </a:solidFill>
                <a:latin typeface="Calibri"/>
                <a:ea typeface="Calibri"/>
                <a:cs typeface="Calibri"/>
              </a:defRPr>
            </a:pPr>
            <a:r>
              <a:rPr sz="2025" b="0">
                <a:solidFill>
                  <a:srgbClr val="173843"/>
                </a:solidFill>
                <a:latin typeface="Calibri"/>
                <a:ea typeface="Calibri"/>
                <a:cs typeface="Calibri"/>
              </a:rPr>
              <a:t>AWS or Render for APIs, managed database hosting and Vercel for React. Responsive charts and heatmaps.</a:t>
            </a:r>
          </a:p>
        </p:txBody>
      </p:sp>
      <p:sp>
        <p:nvSpPr>
          <p:cNvPr id="10" name="Economic approach">
            <a:extLst xmlns:a="http://schemas.openxmlformats.org/drawingml/2006/main">
              <a:ext uri="{FF2B5EF4-FFF2-40B4-BE49-F238E27FC236}">
                <a16:creationId xmlns:a16="http://schemas.microsoft.com/office/drawing/2014/main" id="{ED7314B5-0B2C-4565-8F58-24B4578DB3F6}"/>
              </a:ext>
            </a:extLst>
          </p:cNvPr>
          <p:cNvSpPr>
            <a:spLocks xmlns:a="http://schemas.openxmlformats.org/drawingml/2006/main" noGrp="1"/>
          </p:cNvSpPr>
          <p:nvPr/>
        </p:nvSpPr>
        <p:spPr>
          <a:xfrm xmlns:a="http://schemas.openxmlformats.org/drawingml/2006/main">
            <a:off x="10191750" y="6191250"/>
            <a:ext cx="4286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087D72"/>
                </a:solidFill>
                <a:latin typeface="Calibri"/>
                <a:ea typeface="Calibri"/>
                <a:cs typeface="Calibri"/>
              </a:defRPr>
            </a:pPr>
            <a:r>
              <a:rPr sz="2250" b="1">
                <a:solidFill>
                  <a:srgbClr val="087D72"/>
                </a:solidFill>
                <a:latin typeface="Calibri"/>
                <a:ea typeface="Calibri"/>
                <a:cs typeface="Calibri"/>
              </a:rPr>
              <a:t>Economic approach</a:t>
            </a:r>
          </a:p>
        </p:txBody>
      </p:sp>
      <p:sp>
        <p:nvSpPr>
          <p:cNvPr id="11" name="Reduce paperwork, audit delays and waste from ghost wor">
            <a:extLst xmlns:a="http://schemas.openxmlformats.org/drawingml/2006/main">
              <a:ext uri="{FF2B5EF4-FFF2-40B4-BE49-F238E27FC236}">
                <a16:creationId xmlns:a16="http://schemas.microsoft.com/office/drawing/2014/main" id="{9FE11D11-D284-415A-B35B-45BD52E7693B}"/>
              </a:ext>
            </a:extLst>
          </p:cNvPr>
          <p:cNvSpPr>
            <a:spLocks xmlns:a="http://schemas.openxmlformats.org/drawingml/2006/main" noGrp="1"/>
          </p:cNvSpPr>
          <p:nvPr/>
        </p:nvSpPr>
        <p:spPr>
          <a:xfrm xmlns:a="http://schemas.openxmlformats.org/drawingml/2006/main">
            <a:off x="10191750" y="6648450"/>
            <a:ext cx="428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173843"/>
                </a:solidFill>
                <a:latin typeface="Calibri"/>
                <a:ea typeface="Calibri"/>
                <a:cs typeface="Calibri"/>
              </a:defRPr>
            </a:pPr>
            <a:r>
              <a:rPr sz="2025" b="0">
                <a:solidFill>
                  <a:srgbClr val="173843"/>
                </a:solidFill>
                <a:latin typeface="Calibri"/>
                <a:ea typeface="Calibri"/>
                <a:cs typeface="Calibri"/>
              </a:rPr>
              <a:t>Reduce paperwork, audit delays and waste from ghost works or March Rush spending. Explore governance SaaS.</a:t>
            </a:r>
          </a:p>
        </p:txBody>
      </p:sp>
    </p:spTree>
    <p:extLst>
      <p:ext uri="{BB962C8B-B14F-4D97-AF65-F5344CB8AC3E}">
        <p14:creationId xmlns:p14="http://schemas.microsoft.com/office/powerpoint/2010/main" val="1300465084"/>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7" name="Impact, future scope and research">
            <a:extLst xmlns:a="http://schemas.openxmlformats.org/drawingml/2006/main">
              <a:ext uri="{FF2B5EF4-FFF2-40B4-BE49-F238E27FC236}">
                <a16:creationId xmlns:a16="http://schemas.microsoft.com/office/drawing/2014/main" id="{265380CF-3571-4CE4-8025-7D0EDA11E094}"/>
              </a:ext>
            </a:extLst>
          </p:cNvPr>
          <p:cNvSpPr>
            <a:spLocks xmlns:a="http://schemas.openxmlformats.org/drawingml/2006/main" noGrp="1"/>
          </p:cNvSpPr>
          <p:nvPr/>
        </p:nvSpPr>
        <p:spPr>
          <a:xfrm xmlns:a="http://schemas.openxmlformats.org/drawingml/2006/main">
            <a:off x="723900" y="590550"/>
            <a:ext cx="1323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125" b="1">
                <a:solidFill>
                  <a:srgbClr val="173843"/>
                </a:solidFill>
                <a:latin typeface="Calibri"/>
                <a:ea typeface="Calibri"/>
                <a:cs typeface="Calibri"/>
              </a:defRPr>
            </a:pPr>
            <a:r>
              <a:rPr sz="4125" b="1">
                <a:solidFill>
                  <a:srgbClr val="173843"/>
                </a:solidFill>
                <a:latin typeface="Calibri"/>
                <a:ea typeface="Calibri"/>
                <a:cs typeface="Calibri"/>
              </a:rPr>
              <a:t>Impact, future scope and research</a:t>
            </a:r>
          </a:p>
        </p:txBody>
      </p:sp>
      <p:sp>
        <p:nvSpPr>
          <p:cNvPr id="2" name="Expected benefits focus on transparent spending, faster">
            <a:extLst xmlns:a="http://schemas.openxmlformats.org/drawingml/2006/main">
              <a:ext uri="{FF2B5EF4-FFF2-40B4-BE49-F238E27FC236}">
                <a16:creationId xmlns:a16="http://schemas.microsoft.com/office/drawing/2014/main" id="{2EE29657-F3FF-47DD-8E9C-ACA843FE45E5}"/>
              </a:ext>
            </a:extLst>
          </p:cNvPr>
          <p:cNvSpPr>
            <a:spLocks xmlns:a="http://schemas.openxmlformats.org/drawingml/2006/main" noGrp="1"/>
          </p:cNvSpPr>
          <p:nvPr/>
        </p:nvSpPr>
        <p:spPr>
          <a:xfrm xmlns:a="http://schemas.openxmlformats.org/drawingml/2006/main">
            <a:off x="742950" y="1438275"/>
            <a:ext cx="1357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526970"/>
                </a:solidFill>
                <a:latin typeface="Calibri"/>
                <a:ea typeface="Calibri"/>
                <a:cs typeface="Calibri"/>
              </a:defRPr>
            </a:pPr>
            <a:r>
              <a:rPr sz="2100" b="0">
                <a:solidFill>
                  <a:srgbClr val="526970"/>
                </a:solidFill>
                <a:latin typeface="Calibri"/>
                <a:ea typeface="Calibri"/>
                <a:cs typeface="Calibri"/>
              </a:rPr>
              <a:t>Expected benefits focus on transparent spending, faster oversight and better community infrastructure.</a:t>
            </a:r>
          </a:p>
        </p:txBody>
      </p:sp>
      <p:sp>
        <p:nvSpPr>
          <p:cNvPr id="3" name="MPLADS-GUARD">
            <a:extLst xmlns:a="http://schemas.openxmlformats.org/drawingml/2006/main">
              <a:ext uri="{FF2B5EF4-FFF2-40B4-BE49-F238E27FC236}">
                <a16:creationId xmlns:a16="http://schemas.microsoft.com/office/drawing/2014/main" id="{7B5AFC00-CB7E-4E28-80CD-983F00C6CCB2}"/>
              </a:ext>
            </a:extLst>
          </p:cNvPr>
          <p:cNvSpPr>
            <a:spLocks xmlns:a="http://schemas.openxmlformats.org/drawingml/2006/main" noGrp="1"/>
          </p:cNvSpPr>
          <p:nvPr/>
        </p:nvSpPr>
        <p:spPr>
          <a:xfrm xmlns:a="http://schemas.openxmlformats.org/drawingml/2006/main">
            <a:off x="742950" y="806767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970"/>
                </a:solidFill>
                <a:latin typeface="Calibri"/>
                <a:ea typeface="Calibri"/>
                <a:cs typeface="Calibri"/>
              </a:defRPr>
            </a:pPr>
            <a:r>
              <a:rPr sz="1500" b="0">
                <a:solidFill>
                  <a:srgbClr val="526970"/>
                </a:solidFill>
                <a:latin typeface="Calibri"/>
                <a:ea typeface="Calibri"/>
                <a:cs typeface="Calibri"/>
              </a:rPr>
              <a:t>MPLADS-GUARD</a:t>
            </a:r>
          </a:p>
        </p:txBody>
      </p:sp>
      <p:sp>
        <p:nvSpPr>
          <p:cNvPr id="4" name="05 / 06">
            <a:extLst xmlns:a="http://schemas.openxmlformats.org/drawingml/2006/main">
              <a:ext uri="{FF2B5EF4-FFF2-40B4-BE49-F238E27FC236}">
                <a16:creationId xmlns:a16="http://schemas.microsoft.com/office/drawing/2014/main" id="{84F6D768-56EA-4773-994C-2DC0CE161DB9}"/>
              </a:ext>
            </a:extLst>
          </p:cNvPr>
          <p:cNvSpPr>
            <a:spLocks xmlns:a="http://schemas.openxmlformats.org/drawingml/2006/main" noGrp="1"/>
          </p:cNvSpPr>
          <p:nvPr/>
        </p:nvSpPr>
        <p:spPr>
          <a:xfrm xmlns:a="http://schemas.openxmlformats.org/drawingml/2006/main">
            <a:off x="13525500" y="806767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970"/>
                </a:solidFill>
                <a:latin typeface="Calibri"/>
                <a:ea typeface="Calibri"/>
                <a:cs typeface="Calibri"/>
              </a:defRPr>
            </a:pPr>
            <a:r>
              <a:rPr sz="1500" b="0">
                <a:solidFill>
                  <a:srgbClr val="526970"/>
                </a:solidFill>
                <a:latin typeface="Calibri"/>
                <a:ea typeface="Calibri"/>
                <a:cs typeface="Calibri"/>
              </a:rPr>
              <a:t>05 / 06</a:t>
            </a:r>
          </a:p>
        </p:txBody>
      </p:sp>
      <p:sp>
        <p:nvSpPr>
          <p:cNvPr id="5" name="Expected impact">
            <a:extLst xmlns:a="http://schemas.openxmlformats.org/drawingml/2006/main">
              <a:ext uri="{FF2B5EF4-FFF2-40B4-BE49-F238E27FC236}">
                <a16:creationId xmlns:a16="http://schemas.microsoft.com/office/drawing/2014/main" id="{EF6AE2EB-A14B-4029-903B-457A96D812DC}"/>
              </a:ext>
            </a:extLst>
          </p:cNvPr>
          <p:cNvSpPr>
            <a:spLocks xmlns:a="http://schemas.openxmlformats.org/drawingml/2006/main" noGrp="1"/>
          </p:cNvSpPr>
          <p:nvPr/>
        </p:nvSpPr>
        <p:spPr>
          <a:xfrm xmlns:a="http://schemas.openxmlformats.org/drawingml/2006/main">
            <a:off x="762000" y="2247900"/>
            <a:ext cx="609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087D72"/>
                </a:solidFill>
                <a:latin typeface="Calibri"/>
                <a:ea typeface="Calibri"/>
                <a:cs typeface="Calibri"/>
              </a:defRPr>
            </a:pPr>
            <a:r>
              <a:rPr sz="2475" b="1">
                <a:solidFill>
                  <a:srgbClr val="087D72"/>
                </a:solidFill>
                <a:latin typeface="Calibri"/>
                <a:ea typeface="Calibri"/>
                <a:cs typeface="Calibri"/>
              </a:rPr>
              <a:t>Expected impact</a:t>
            </a:r>
          </a:p>
        </p:txBody>
      </p:sp>
      <p:sp>
        <p:nvSpPr>
          <p:cNvPr id="6" name="Governance">
            <a:extLst xmlns:a="http://schemas.openxmlformats.org/drawingml/2006/main">
              <a:ext uri="{FF2B5EF4-FFF2-40B4-BE49-F238E27FC236}">
                <a16:creationId xmlns:a16="http://schemas.microsoft.com/office/drawing/2014/main" id="{2EB4C770-4575-4CEC-95CB-E9886DC98981}"/>
              </a:ext>
            </a:extLst>
          </p:cNvPr>
          <p:cNvSpPr>
            <a:spLocks xmlns:a="http://schemas.openxmlformats.org/drawingml/2006/main" noGrp="1"/>
          </p:cNvSpPr>
          <p:nvPr/>
        </p:nvSpPr>
        <p:spPr>
          <a:xfrm xmlns:a="http://schemas.openxmlformats.org/drawingml/2006/main">
            <a:off x="762000" y="2867025"/>
            <a:ext cx="5953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73843"/>
                </a:solidFill>
                <a:latin typeface="Calibri"/>
                <a:ea typeface="Calibri"/>
                <a:cs typeface="Calibri"/>
              </a:defRPr>
            </a:pPr>
            <a:r>
              <a:rPr sz="2175" b="1">
                <a:solidFill>
                  <a:srgbClr val="173843"/>
                </a:solidFill>
                <a:latin typeface="Calibri"/>
                <a:ea typeface="Calibri"/>
                <a:cs typeface="Calibri"/>
              </a:rPr>
              <a:t>Governance</a:t>
            </a:r>
          </a:p>
        </p:txBody>
      </p:sp>
      <p:sp>
        <p:nvSpPr>
          <p:cNvPr id="7" name="A shared view of funds and work progress for central, s">
            <a:extLst xmlns:a="http://schemas.openxmlformats.org/drawingml/2006/main">
              <a:ext uri="{FF2B5EF4-FFF2-40B4-BE49-F238E27FC236}">
                <a16:creationId xmlns:a16="http://schemas.microsoft.com/office/drawing/2014/main" id="{D2AF17BA-087B-4B44-88B0-6731E067E9C3}"/>
              </a:ext>
            </a:extLst>
          </p:cNvPr>
          <p:cNvSpPr>
            <a:spLocks xmlns:a="http://schemas.openxmlformats.org/drawingml/2006/main" noGrp="1"/>
          </p:cNvSpPr>
          <p:nvPr/>
        </p:nvSpPr>
        <p:spPr>
          <a:xfrm xmlns:a="http://schemas.openxmlformats.org/drawingml/2006/main">
            <a:off x="762000" y="3267075"/>
            <a:ext cx="6172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73843"/>
                </a:solidFill>
                <a:latin typeface="Calibri"/>
                <a:ea typeface="Calibri"/>
                <a:cs typeface="Calibri"/>
              </a:defRPr>
            </a:pPr>
            <a:r>
              <a:rPr sz="1950" b="0">
                <a:solidFill>
                  <a:srgbClr val="173843"/>
                </a:solidFill>
                <a:latin typeface="Calibri"/>
                <a:ea typeface="Calibri"/>
                <a:cs typeface="Calibri"/>
              </a:rPr>
              <a:t>A shared view of funds and work progress for central, state and district authorities, with clearer public information.</a:t>
            </a:r>
          </a:p>
        </p:txBody>
      </p:sp>
      <p:sp>
        <p:nvSpPr>
          <p:cNvPr id="8" name="Financial efficiency">
            <a:extLst xmlns:a="http://schemas.openxmlformats.org/drawingml/2006/main">
              <a:ext uri="{FF2B5EF4-FFF2-40B4-BE49-F238E27FC236}">
                <a16:creationId xmlns:a16="http://schemas.microsoft.com/office/drawing/2014/main" id="{CF620F9C-4490-4CFC-8371-0C52BB6B1A0A}"/>
              </a:ext>
            </a:extLst>
          </p:cNvPr>
          <p:cNvSpPr>
            <a:spLocks xmlns:a="http://schemas.openxmlformats.org/drawingml/2006/main" noGrp="1"/>
          </p:cNvSpPr>
          <p:nvPr/>
        </p:nvSpPr>
        <p:spPr>
          <a:xfrm xmlns:a="http://schemas.openxmlformats.org/drawingml/2006/main">
            <a:off x="762000" y="3924300"/>
            <a:ext cx="5953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73843"/>
                </a:solidFill>
                <a:latin typeface="Calibri"/>
                <a:ea typeface="Calibri"/>
                <a:cs typeface="Calibri"/>
              </a:defRPr>
            </a:pPr>
            <a:r>
              <a:rPr sz="2175" b="1">
                <a:solidFill>
                  <a:srgbClr val="173843"/>
                </a:solidFill>
                <a:latin typeface="Calibri"/>
                <a:ea typeface="Calibri"/>
                <a:cs typeface="Calibri"/>
              </a:rPr>
              <a:t>Financial efficiency</a:t>
            </a:r>
          </a:p>
        </p:txBody>
      </p:sp>
      <p:sp>
        <p:nvSpPr>
          <p:cNvPr id="9" name="Reduce leakage from ghost works, inflated costs and sus">
            <a:extLst xmlns:a="http://schemas.openxmlformats.org/drawingml/2006/main">
              <a:ext uri="{FF2B5EF4-FFF2-40B4-BE49-F238E27FC236}">
                <a16:creationId xmlns:a16="http://schemas.microsoft.com/office/drawing/2014/main" id="{EBF98C11-4937-403A-A3D2-0F0B1987432B}"/>
              </a:ext>
            </a:extLst>
          </p:cNvPr>
          <p:cNvSpPr>
            <a:spLocks xmlns:a="http://schemas.openxmlformats.org/drawingml/2006/main" noGrp="1"/>
          </p:cNvSpPr>
          <p:nvPr/>
        </p:nvSpPr>
        <p:spPr>
          <a:xfrm xmlns:a="http://schemas.openxmlformats.org/drawingml/2006/main">
            <a:off x="762000" y="4324350"/>
            <a:ext cx="6172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73843"/>
                </a:solidFill>
                <a:latin typeface="Calibri"/>
                <a:ea typeface="Calibri"/>
                <a:cs typeface="Calibri"/>
              </a:defRPr>
            </a:pPr>
            <a:r>
              <a:rPr sz="1950" b="0">
                <a:solidFill>
                  <a:srgbClr val="173843"/>
                </a:solidFill>
                <a:latin typeface="Calibri"/>
                <a:ea typeface="Calibri"/>
                <a:cs typeface="Calibri"/>
              </a:rPr>
              <a:t>Reduce leakage from ghost works, inflated costs and suspicious year-end expenditure.</a:t>
            </a:r>
          </a:p>
        </p:txBody>
      </p:sp>
      <p:sp>
        <p:nvSpPr>
          <p:cNvPr id="10" name="Operations">
            <a:extLst xmlns:a="http://schemas.openxmlformats.org/drawingml/2006/main">
              <a:ext uri="{FF2B5EF4-FFF2-40B4-BE49-F238E27FC236}">
                <a16:creationId xmlns:a16="http://schemas.microsoft.com/office/drawing/2014/main" id="{181E6B07-13F0-40CD-AC99-EDD5EA3834CC}"/>
              </a:ext>
            </a:extLst>
          </p:cNvPr>
          <p:cNvSpPr>
            <a:spLocks xmlns:a="http://schemas.openxmlformats.org/drawingml/2006/main" noGrp="1"/>
          </p:cNvSpPr>
          <p:nvPr/>
        </p:nvSpPr>
        <p:spPr>
          <a:xfrm xmlns:a="http://schemas.openxmlformats.org/drawingml/2006/main">
            <a:off x="762000" y="4981575"/>
            <a:ext cx="5953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73843"/>
                </a:solidFill>
                <a:latin typeface="Calibri"/>
                <a:ea typeface="Calibri"/>
                <a:cs typeface="Calibri"/>
              </a:defRPr>
            </a:pPr>
            <a:r>
              <a:rPr sz="2175" b="1">
                <a:solidFill>
                  <a:srgbClr val="173843"/>
                </a:solidFill>
                <a:latin typeface="Calibri"/>
                <a:ea typeface="Calibri"/>
                <a:cs typeface="Calibri"/>
              </a:rPr>
              <a:t>Operations</a:t>
            </a:r>
          </a:p>
        </p:txBody>
      </p:sp>
      <p:sp>
        <p:nvSpPr>
          <p:cNvPr id="11" name="Aim to screen 100% of ingested records and send timely ">
            <a:extLst xmlns:a="http://schemas.openxmlformats.org/drawingml/2006/main">
              <a:ext uri="{FF2B5EF4-FFF2-40B4-BE49-F238E27FC236}">
                <a16:creationId xmlns:a16="http://schemas.microsoft.com/office/drawing/2014/main" id="{EA14DFA8-E6C4-4B11-9C47-C1959C17D72B}"/>
              </a:ext>
            </a:extLst>
          </p:cNvPr>
          <p:cNvSpPr>
            <a:spLocks xmlns:a="http://schemas.openxmlformats.org/drawingml/2006/main" noGrp="1"/>
          </p:cNvSpPr>
          <p:nvPr/>
        </p:nvSpPr>
        <p:spPr>
          <a:xfrm xmlns:a="http://schemas.openxmlformats.org/drawingml/2006/main">
            <a:off x="762000" y="5381625"/>
            <a:ext cx="6172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73843"/>
                </a:solidFill>
                <a:latin typeface="Calibri"/>
                <a:ea typeface="Calibri"/>
                <a:cs typeface="Calibri"/>
              </a:defRPr>
            </a:pPr>
            <a:r>
              <a:rPr sz="1950" b="0">
                <a:solidFill>
                  <a:srgbClr val="173843"/>
                </a:solidFill>
                <a:latin typeface="Calibri"/>
                <a:ea typeface="Calibri"/>
                <a:cs typeface="Calibri"/>
              </a:rPr>
              <a:t>Aim to screen 100% of ingested records and send timely alerts to support targeted audits.</a:t>
            </a:r>
          </a:p>
        </p:txBody>
      </p:sp>
      <p:sp>
        <p:nvSpPr>
          <p:cNvPr id="12" name="Community benefit">
            <a:extLst xmlns:a="http://schemas.openxmlformats.org/drawingml/2006/main">
              <a:ext uri="{FF2B5EF4-FFF2-40B4-BE49-F238E27FC236}">
                <a16:creationId xmlns:a16="http://schemas.microsoft.com/office/drawing/2014/main" id="{60061A2E-FB92-4BFA-A78E-4A434DA0ACCC}"/>
              </a:ext>
            </a:extLst>
          </p:cNvPr>
          <p:cNvSpPr>
            <a:spLocks xmlns:a="http://schemas.openxmlformats.org/drawingml/2006/main" noGrp="1"/>
          </p:cNvSpPr>
          <p:nvPr/>
        </p:nvSpPr>
        <p:spPr>
          <a:xfrm xmlns:a="http://schemas.openxmlformats.org/drawingml/2006/main">
            <a:off x="762000" y="6038850"/>
            <a:ext cx="5953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73843"/>
                </a:solidFill>
                <a:latin typeface="Calibri"/>
                <a:ea typeface="Calibri"/>
                <a:cs typeface="Calibri"/>
              </a:defRPr>
            </a:pPr>
            <a:r>
              <a:rPr sz="2175" b="1">
                <a:solidFill>
                  <a:srgbClr val="173843"/>
                </a:solidFill>
                <a:latin typeface="Calibri"/>
                <a:ea typeface="Calibri"/>
                <a:cs typeface="Calibri"/>
              </a:rPr>
              <a:t>Community benefit</a:t>
            </a:r>
          </a:p>
        </p:txBody>
      </p:sp>
      <p:sp>
        <p:nvSpPr>
          <p:cNvPr id="13" name="Improve accountability so public funds create useful lo">
            <a:extLst xmlns:a="http://schemas.openxmlformats.org/drawingml/2006/main">
              <a:ext uri="{FF2B5EF4-FFF2-40B4-BE49-F238E27FC236}">
                <a16:creationId xmlns:a16="http://schemas.microsoft.com/office/drawing/2014/main" id="{7E7F39E8-A768-42F9-A354-0DC8053389B2}"/>
              </a:ext>
            </a:extLst>
          </p:cNvPr>
          <p:cNvSpPr>
            <a:spLocks xmlns:a="http://schemas.openxmlformats.org/drawingml/2006/main" noGrp="1"/>
          </p:cNvSpPr>
          <p:nvPr/>
        </p:nvSpPr>
        <p:spPr>
          <a:xfrm xmlns:a="http://schemas.openxmlformats.org/drawingml/2006/main">
            <a:off x="762000" y="6438900"/>
            <a:ext cx="6172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73843"/>
                </a:solidFill>
                <a:latin typeface="Calibri"/>
                <a:ea typeface="Calibri"/>
                <a:cs typeface="Calibri"/>
              </a:defRPr>
            </a:pPr>
            <a:r>
              <a:rPr sz="1950" b="0">
                <a:solidFill>
                  <a:srgbClr val="173843"/>
                </a:solidFill>
                <a:latin typeface="Calibri"/>
                <a:ea typeface="Calibri"/>
                <a:cs typeface="Calibri"/>
              </a:rPr>
              <a:t>Improve accountability so public funds create useful local assets and support target communities.</a:t>
            </a:r>
          </a:p>
        </p:txBody>
      </p:sp>
      <p:sp>
        <p:nvSpPr>
          <p:cNvPr id="14" name="Future scope">
            <a:extLst xmlns:a="http://schemas.openxmlformats.org/drawingml/2006/main">
              <a:ext uri="{FF2B5EF4-FFF2-40B4-BE49-F238E27FC236}">
                <a16:creationId xmlns:a16="http://schemas.microsoft.com/office/drawing/2014/main" id="{A8BEC731-F891-4A21-98DD-6D62AAF8987B}"/>
              </a:ext>
            </a:extLst>
          </p:cNvPr>
          <p:cNvSpPr>
            <a:spLocks xmlns:a="http://schemas.openxmlformats.org/drawingml/2006/main" noGrp="1"/>
          </p:cNvSpPr>
          <p:nvPr/>
        </p:nvSpPr>
        <p:spPr>
          <a:xfrm xmlns:a="http://schemas.openxmlformats.org/drawingml/2006/main">
            <a:off x="7867650" y="2247900"/>
            <a:ext cx="6429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75" b="1">
                <a:solidFill>
                  <a:srgbClr val="087D72"/>
                </a:solidFill>
                <a:latin typeface="Calibri"/>
                <a:ea typeface="Calibri"/>
                <a:cs typeface="Calibri"/>
              </a:defRPr>
            </a:pPr>
            <a:r>
              <a:rPr sz="2475" b="1">
                <a:solidFill>
                  <a:srgbClr val="087D72"/>
                </a:solidFill>
                <a:latin typeface="Calibri"/>
                <a:ea typeface="Calibri"/>
                <a:cs typeface="Calibri"/>
              </a:rPr>
              <a:t>Future scope</a:t>
            </a:r>
          </a:p>
        </p:txBody>
      </p:sp>
      <p:sp>
        <p:nvSpPr>
          <p:cNvPr id="15" name="Cross-scheme expansion">
            <a:extLst xmlns:a="http://schemas.openxmlformats.org/drawingml/2006/main">
              <a:ext uri="{FF2B5EF4-FFF2-40B4-BE49-F238E27FC236}">
                <a16:creationId xmlns:a16="http://schemas.microsoft.com/office/drawing/2014/main" id="{582FE7CB-261C-4AF7-9761-159BC0069B4C}"/>
              </a:ext>
            </a:extLst>
          </p:cNvPr>
          <p:cNvSpPr>
            <a:spLocks xmlns:a="http://schemas.openxmlformats.org/drawingml/2006/main" noGrp="1"/>
          </p:cNvSpPr>
          <p:nvPr/>
        </p:nvSpPr>
        <p:spPr>
          <a:xfrm xmlns:a="http://schemas.openxmlformats.org/drawingml/2006/main">
            <a:off x="7867650" y="2819400"/>
            <a:ext cx="6543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3843"/>
                </a:solidFill>
                <a:latin typeface="Calibri"/>
                <a:ea typeface="Calibri"/>
                <a:cs typeface="Calibri"/>
              </a:defRPr>
            </a:pPr>
            <a:r>
              <a:rPr sz="2100" b="1">
                <a:solidFill>
                  <a:srgbClr val="173843"/>
                </a:solidFill>
                <a:latin typeface="Calibri"/>
                <a:ea typeface="Calibri"/>
                <a:cs typeface="Calibri"/>
              </a:rPr>
              <a:t>Cross-scheme expansion</a:t>
            </a:r>
          </a:p>
        </p:txBody>
      </p:sp>
      <p:sp>
        <p:nvSpPr>
          <p:cNvPr id="16" name="MGNREGA, PMGSY and other central or state schemes.">
            <a:extLst xmlns:a="http://schemas.openxmlformats.org/drawingml/2006/main">
              <a:ext uri="{FF2B5EF4-FFF2-40B4-BE49-F238E27FC236}">
                <a16:creationId xmlns:a16="http://schemas.microsoft.com/office/drawing/2014/main" id="{325FFBD0-D410-455E-A717-9E5B15CBEACE}"/>
              </a:ext>
            </a:extLst>
          </p:cNvPr>
          <p:cNvSpPr>
            <a:spLocks xmlns:a="http://schemas.openxmlformats.org/drawingml/2006/main" noGrp="1"/>
          </p:cNvSpPr>
          <p:nvPr/>
        </p:nvSpPr>
        <p:spPr>
          <a:xfrm xmlns:a="http://schemas.openxmlformats.org/drawingml/2006/main">
            <a:off x="7867650" y="3181350"/>
            <a:ext cx="6543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73843"/>
                </a:solidFill>
                <a:latin typeface="Calibri"/>
                <a:ea typeface="Calibri"/>
                <a:cs typeface="Calibri"/>
              </a:defRPr>
            </a:pPr>
            <a:r>
              <a:rPr sz="1950" b="0">
                <a:solidFill>
                  <a:srgbClr val="173843"/>
                </a:solidFill>
                <a:latin typeface="Calibri"/>
                <a:ea typeface="Calibri"/>
                <a:cs typeface="Calibri"/>
              </a:rPr>
              <a:t>MGNREGA, PMGSY and other central or state schemes.</a:t>
            </a:r>
          </a:p>
        </p:txBody>
      </p:sp>
      <p:sp>
        <p:nvSpPr>
          <p:cNvPr id="17" name="Predictive models">
            <a:extLst xmlns:a="http://schemas.openxmlformats.org/drawingml/2006/main">
              <a:ext uri="{FF2B5EF4-FFF2-40B4-BE49-F238E27FC236}">
                <a16:creationId xmlns:a16="http://schemas.microsoft.com/office/drawing/2014/main" id="{21BC62F3-38BB-4BEC-9A3A-090158212E05}"/>
              </a:ext>
            </a:extLst>
          </p:cNvPr>
          <p:cNvSpPr>
            <a:spLocks xmlns:a="http://schemas.openxmlformats.org/drawingml/2006/main" noGrp="1"/>
          </p:cNvSpPr>
          <p:nvPr/>
        </p:nvSpPr>
        <p:spPr>
          <a:xfrm xmlns:a="http://schemas.openxmlformats.org/drawingml/2006/main">
            <a:off x="7867650" y="3714750"/>
            <a:ext cx="6543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3843"/>
                </a:solidFill>
                <a:latin typeface="Calibri"/>
                <a:ea typeface="Calibri"/>
                <a:cs typeface="Calibri"/>
              </a:defRPr>
            </a:pPr>
            <a:r>
              <a:rPr sz="2100" b="1">
                <a:solidFill>
                  <a:srgbClr val="173843"/>
                </a:solidFill>
                <a:latin typeface="Calibri"/>
                <a:ea typeface="Calibri"/>
                <a:cs typeface="Calibri"/>
              </a:rPr>
              <a:t>Predictive models</a:t>
            </a:r>
          </a:p>
        </p:txBody>
      </p:sp>
      <p:sp>
        <p:nvSpPr>
          <p:cNvPr id="18" name="Forecast budget deficits and fund overruns.">
            <a:extLst xmlns:a="http://schemas.openxmlformats.org/drawingml/2006/main">
              <a:ext uri="{FF2B5EF4-FFF2-40B4-BE49-F238E27FC236}">
                <a16:creationId xmlns:a16="http://schemas.microsoft.com/office/drawing/2014/main" id="{90607A6A-CBA1-4384-A555-6DD3E0085FD2}"/>
              </a:ext>
            </a:extLst>
          </p:cNvPr>
          <p:cNvSpPr>
            <a:spLocks xmlns:a="http://schemas.openxmlformats.org/drawingml/2006/main" noGrp="1"/>
          </p:cNvSpPr>
          <p:nvPr/>
        </p:nvSpPr>
        <p:spPr>
          <a:xfrm xmlns:a="http://schemas.openxmlformats.org/drawingml/2006/main">
            <a:off x="7867650" y="4076700"/>
            <a:ext cx="6543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73843"/>
                </a:solidFill>
                <a:latin typeface="Calibri"/>
                <a:ea typeface="Calibri"/>
                <a:cs typeface="Calibri"/>
              </a:defRPr>
            </a:pPr>
            <a:r>
              <a:rPr sz="1950" b="0">
                <a:solidFill>
                  <a:srgbClr val="173843"/>
                </a:solidFill>
                <a:latin typeface="Calibri"/>
                <a:ea typeface="Calibri"/>
                <a:cs typeface="Calibri"/>
              </a:rPr>
              <a:t>Forecast budget deficits and fund overruns.</a:t>
            </a:r>
          </a:p>
        </p:txBody>
      </p:sp>
      <p:sp>
        <p:nvSpPr>
          <p:cNvPr id="19" name="Blockchain invoice logs">
            <a:extLst xmlns:a="http://schemas.openxmlformats.org/drawingml/2006/main">
              <a:ext uri="{FF2B5EF4-FFF2-40B4-BE49-F238E27FC236}">
                <a16:creationId xmlns:a16="http://schemas.microsoft.com/office/drawing/2014/main" id="{DF54EC20-F241-426A-8030-79330BB1D1B3}"/>
              </a:ext>
            </a:extLst>
          </p:cNvPr>
          <p:cNvSpPr>
            <a:spLocks xmlns:a="http://schemas.openxmlformats.org/drawingml/2006/main" noGrp="1"/>
          </p:cNvSpPr>
          <p:nvPr/>
        </p:nvSpPr>
        <p:spPr>
          <a:xfrm xmlns:a="http://schemas.openxmlformats.org/drawingml/2006/main">
            <a:off x="7867650" y="4610100"/>
            <a:ext cx="6543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3843"/>
                </a:solidFill>
                <a:latin typeface="Calibri"/>
                <a:ea typeface="Calibri"/>
                <a:cs typeface="Calibri"/>
              </a:defRPr>
            </a:pPr>
            <a:r>
              <a:rPr sz="2100" b="1">
                <a:solidFill>
                  <a:srgbClr val="173843"/>
                </a:solidFill>
                <a:latin typeface="Calibri"/>
                <a:ea typeface="Calibri"/>
                <a:cs typeface="Calibri"/>
              </a:rPr>
              <a:t>Blockchain invoice logs</a:t>
            </a:r>
          </a:p>
        </p:txBody>
      </p:sp>
      <p:sp>
        <p:nvSpPr>
          <p:cNvPr id="20" name="Immutable invoice records to deter tampering and duplic">
            <a:extLst xmlns:a="http://schemas.openxmlformats.org/drawingml/2006/main">
              <a:ext uri="{FF2B5EF4-FFF2-40B4-BE49-F238E27FC236}">
                <a16:creationId xmlns:a16="http://schemas.microsoft.com/office/drawing/2014/main" id="{DC60D59F-5267-4023-896E-D08A7395D5E6}"/>
              </a:ext>
            </a:extLst>
          </p:cNvPr>
          <p:cNvSpPr>
            <a:spLocks xmlns:a="http://schemas.openxmlformats.org/drawingml/2006/main" noGrp="1"/>
          </p:cNvSpPr>
          <p:nvPr/>
        </p:nvSpPr>
        <p:spPr>
          <a:xfrm xmlns:a="http://schemas.openxmlformats.org/drawingml/2006/main">
            <a:off x="7867650" y="4972050"/>
            <a:ext cx="6543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73843"/>
                </a:solidFill>
                <a:latin typeface="Calibri"/>
                <a:ea typeface="Calibri"/>
                <a:cs typeface="Calibri"/>
              </a:defRPr>
            </a:pPr>
            <a:r>
              <a:rPr sz="1950" b="0">
                <a:solidFill>
                  <a:srgbClr val="173843"/>
                </a:solidFill>
                <a:latin typeface="Calibri"/>
                <a:ea typeface="Calibri"/>
                <a:cs typeface="Calibri"/>
              </a:rPr>
              <a:t>Immutable invoice records to deter tampering and duplicates.</a:t>
            </a:r>
          </a:p>
        </p:txBody>
      </p:sp>
      <p:sp>
        <p:nvSpPr>
          <p:cNvPr id="21" name="Citizen mobile app">
            <a:extLst xmlns:a="http://schemas.openxmlformats.org/drawingml/2006/main">
              <a:ext uri="{FF2B5EF4-FFF2-40B4-BE49-F238E27FC236}">
                <a16:creationId xmlns:a16="http://schemas.microsoft.com/office/drawing/2014/main" id="{10A4612F-EF3D-45AC-883C-EC8D5296F6E8}"/>
              </a:ext>
            </a:extLst>
          </p:cNvPr>
          <p:cNvSpPr>
            <a:spLocks xmlns:a="http://schemas.openxmlformats.org/drawingml/2006/main" noGrp="1"/>
          </p:cNvSpPr>
          <p:nvPr/>
        </p:nvSpPr>
        <p:spPr>
          <a:xfrm xmlns:a="http://schemas.openxmlformats.org/drawingml/2006/main">
            <a:off x="7867650" y="5505450"/>
            <a:ext cx="6543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3843"/>
                </a:solidFill>
                <a:latin typeface="Calibri"/>
                <a:ea typeface="Calibri"/>
                <a:cs typeface="Calibri"/>
              </a:defRPr>
            </a:pPr>
            <a:r>
              <a:rPr sz="2100" b="1">
                <a:solidFill>
                  <a:srgbClr val="173843"/>
                </a:solidFill>
                <a:latin typeface="Calibri"/>
                <a:ea typeface="Calibri"/>
                <a:cs typeface="Calibri"/>
              </a:rPr>
              <a:t>Citizen mobile app</a:t>
            </a:r>
          </a:p>
        </p:txBody>
      </p:sp>
      <p:sp>
        <p:nvSpPr>
          <p:cNvPr id="22" name="Crowdsource geotagged inspections of public assets.">
            <a:extLst xmlns:a="http://schemas.openxmlformats.org/drawingml/2006/main">
              <a:ext uri="{FF2B5EF4-FFF2-40B4-BE49-F238E27FC236}">
                <a16:creationId xmlns:a16="http://schemas.microsoft.com/office/drawing/2014/main" id="{E91D4B47-36E7-404F-83EA-29C4582CB623}"/>
              </a:ext>
            </a:extLst>
          </p:cNvPr>
          <p:cNvSpPr>
            <a:spLocks xmlns:a="http://schemas.openxmlformats.org/drawingml/2006/main" noGrp="1"/>
          </p:cNvSpPr>
          <p:nvPr/>
        </p:nvSpPr>
        <p:spPr>
          <a:xfrm xmlns:a="http://schemas.openxmlformats.org/drawingml/2006/main">
            <a:off x="7867650" y="5867400"/>
            <a:ext cx="6543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73843"/>
                </a:solidFill>
                <a:latin typeface="Calibri"/>
                <a:ea typeface="Calibri"/>
                <a:cs typeface="Calibri"/>
              </a:defRPr>
            </a:pPr>
            <a:r>
              <a:rPr sz="1950" b="0">
                <a:solidFill>
                  <a:srgbClr val="173843"/>
                </a:solidFill>
                <a:latin typeface="Calibri"/>
                <a:ea typeface="Calibri"/>
                <a:cs typeface="Calibri"/>
              </a:rPr>
              <a:t>Crowdsource geotagged inspections of public assets.</a:t>
            </a:r>
          </a:p>
        </p:txBody>
      </p:sp>
      <p:sp>
        <p:nvSpPr>
          <p:cNvPr id="23" name="Policy recommendations">
            <a:extLst xmlns:a="http://schemas.openxmlformats.org/drawingml/2006/main">
              <a:ext uri="{FF2B5EF4-FFF2-40B4-BE49-F238E27FC236}">
                <a16:creationId xmlns:a16="http://schemas.microsoft.com/office/drawing/2014/main" id="{7178B9E2-2CFB-440F-8F75-3B3539139702}"/>
              </a:ext>
            </a:extLst>
          </p:cNvPr>
          <p:cNvSpPr>
            <a:spLocks xmlns:a="http://schemas.openxmlformats.org/drawingml/2006/main" noGrp="1"/>
          </p:cNvSpPr>
          <p:nvPr/>
        </p:nvSpPr>
        <p:spPr>
          <a:xfrm xmlns:a="http://schemas.openxmlformats.org/drawingml/2006/main">
            <a:off x="7867650" y="6400800"/>
            <a:ext cx="65436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3843"/>
                </a:solidFill>
                <a:latin typeface="Calibri"/>
                <a:ea typeface="Calibri"/>
                <a:cs typeface="Calibri"/>
              </a:defRPr>
            </a:pPr>
            <a:r>
              <a:rPr sz="2100" b="1">
                <a:solidFill>
                  <a:srgbClr val="173843"/>
                </a:solidFill>
                <a:latin typeface="Calibri"/>
                <a:ea typeface="Calibri"/>
                <a:cs typeface="Calibri"/>
              </a:rPr>
              <a:t>Policy recommendations</a:t>
            </a:r>
          </a:p>
        </p:txBody>
      </p:sp>
      <p:sp>
        <p:nvSpPr>
          <p:cNvPr id="24" name="Historical anomaly patterns inform compliance guidance.">
            <a:extLst xmlns:a="http://schemas.openxmlformats.org/drawingml/2006/main">
              <a:ext uri="{FF2B5EF4-FFF2-40B4-BE49-F238E27FC236}">
                <a16:creationId xmlns:a16="http://schemas.microsoft.com/office/drawing/2014/main" id="{A7BEA023-BFA9-4B9A-89ED-1A9986C21207}"/>
              </a:ext>
            </a:extLst>
          </p:cNvPr>
          <p:cNvSpPr>
            <a:spLocks xmlns:a="http://schemas.openxmlformats.org/drawingml/2006/main" noGrp="1"/>
          </p:cNvSpPr>
          <p:nvPr/>
        </p:nvSpPr>
        <p:spPr>
          <a:xfrm xmlns:a="http://schemas.openxmlformats.org/drawingml/2006/main">
            <a:off x="7867650" y="6762750"/>
            <a:ext cx="65436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73843"/>
                </a:solidFill>
                <a:latin typeface="Calibri"/>
                <a:ea typeface="Calibri"/>
                <a:cs typeface="Calibri"/>
              </a:defRPr>
            </a:pPr>
            <a:r>
              <a:rPr sz="1950" b="0">
                <a:solidFill>
                  <a:srgbClr val="173843"/>
                </a:solidFill>
                <a:latin typeface="Calibri"/>
                <a:ea typeface="Calibri"/>
                <a:cs typeface="Calibri"/>
              </a:rPr>
              <a:t>Historical anomaly patterns inform compliance guidance.</a:t>
            </a:r>
          </a:p>
        </p:txBody>
      </p:sp>
      <p:sp>
        <p:nvSpPr>
          <p:cNvPr id="25" name="Research basis">
            <a:extLst xmlns:a="http://schemas.openxmlformats.org/drawingml/2006/main">
              <a:ext uri="{FF2B5EF4-FFF2-40B4-BE49-F238E27FC236}">
                <a16:creationId xmlns:a16="http://schemas.microsoft.com/office/drawing/2014/main" id="{F9F94DC2-5619-40D0-85E2-67DB106F04CE}"/>
              </a:ext>
            </a:extLst>
          </p:cNvPr>
          <p:cNvSpPr>
            <a:spLocks xmlns:a="http://schemas.openxmlformats.org/drawingml/2006/main" noGrp="1"/>
          </p:cNvSpPr>
          <p:nvPr/>
        </p:nvSpPr>
        <p:spPr>
          <a:xfrm xmlns:a="http://schemas.openxmlformats.org/drawingml/2006/main">
            <a:off x="762000" y="7381875"/>
            <a:ext cx="2247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087D72"/>
                </a:solidFill>
                <a:latin typeface="Calibri"/>
                <a:ea typeface="Calibri"/>
                <a:cs typeface="Calibri"/>
              </a:defRPr>
            </a:pPr>
            <a:r>
              <a:rPr sz="1725" b="1">
                <a:solidFill>
                  <a:srgbClr val="087D72"/>
                </a:solidFill>
                <a:latin typeface="Calibri"/>
                <a:ea typeface="Calibri"/>
                <a:cs typeface="Calibri"/>
              </a:rPr>
              <a:t>Research basis</a:t>
            </a:r>
          </a:p>
        </p:txBody>
      </p:sp>
      <p:sp>
        <p:nvSpPr>
          <p:cNvPr id="26" name="MPLADS guidelines   /   CAG audit reports   /   GovTech">
            <a:extLst xmlns:a="http://schemas.openxmlformats.org/drawingml/2006/main">
              <a:ext uri="{FF2B5EF4-FFF2-40B4-BE49-F238E27FC236}">
                <a16:creationId xmlns:a16="http://schemas.microsoft.com/office/drawing/2014/main" id="{BD984840-7FF3-40C1-95D5-495B6AEC0E03}"/>
              </a:ext>
            </a:extLst>
          </p:cNvPr>
          <p:cNvSpPr>
            <a:spLocks xmlns:a="http://schemas.openxmlformats.org/drawingml/2006/main" noGrp="1"/>
          </p:cNvSpPr>
          <p:nvPr/>
        </p:nvSpPr>
        <p:spPr>
          <a:xfrm xmlns:a="http://schemas.openxmlformats.org/drawingml/2006/main">
            <a:off x="3067050" y="7381875"/>
            <a:ext cx="11239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526970"/>
                </a:solidFill>
                <a:latin typeface="Calibri"/>
                <a:ea typeface="Calibri"/>
                <a:cs typeface="Calibri"/>
              </a:defRPr>
            </a:pPr>
            <a:r>
              <a:rPr sz="1725" b="0">
                <a:solidFill>
                  <a:srgbClr val="526970"/>
                </a:solidFill>
                <a:latin typeface="Calibri"/>
                <a:ea typeface="Calibri"/>
                <a:cs typeface="Calibri"/>
                <a:hlinkClick xmlns:r="http://schemas.openxmlformats.org/officeDocument/2006/relationships" r:id="R2d184357bb994d6d"/>
              </a:rPr>
              <a:t>MPLADS guidelines</a:t>
            </a:r>
            <a:r>
              <a:rPr sz="1725" b="0">
                <a:solidFill>
                  <a:srgbClr val="526970"/>
                </a:solidFill>
                <a:latin typeface="Calibri"/>
                <a:ea typeface="Calibri"/>
                <a:cs typeface="Calibri"/>
              </a:rPr>
              <a:t>   /   </a:t>
            </a:r>
            <a:r>
              <a:rPr sz="1725" b="0">
                <a:solidFill>
                  <a:srgbClr val="526970"/>
                </a:solidFill>
                <a:latin typeface="Calibri"/>
                <a:ea typeface="Calibri"/>
                <a:cs typeface="Calibri"/>
                <a:hlinkClick xmlns:r="http://schemas.openxmlformats.org/officeDocument/2006/relationships" r:id="R40f62ed612034aba"/>
              </a:rPr>
              <a:t>CAG audit reports</a:t>
            </a:r>
            <a:r>
              <a:rPr sz="1725" b="0">
                <a:solidFill>
                  <a:srgbClr val="526970"/>
                </a:solidFill>
                <a:latin typeface="Calibri"/>
                <a:ea typeface="Calibri"/>
                <a:cs typeface="Calibri"/>
              </a:rPr>
              <a:t>   /   GovTech and PFMS research   /   </a:t>
            </a:r>
            <a:r>
              <a:rPr sz="1725" b="0">
                <a:solidFill>
                  <a:srgbClr val="526970"/>
                </a:solidFill>
                <a:latin typeface="Calibri"/>
                <a:ea typeface="Calibri"/>
                <a:cs typeface="Calibri"/>
                <a:hlinkClick xmlns:r="http://schemas.openxmlformats.org/officeDocument/2006/relationships" r:id="R927c2ff343b2425b"/>
              </a:rPr>
              <a:t>FastAPI</a:t>
            </a:r>
            <a:r>
              <a:rPr sz="1725" b="0">
                <a:solidFill>
                  <a:srgbClr val="526970"/>
                </a:solidFill>
                <a:latin typeface="Calibri"/>
                <a:ea typeface="Calibri"/>
                <a:cs typeface="Calibri"/>
              </a:rPr>
              <a:t> and </a:t>
            </a:r>
            <a:r>
              <a:rPr sz="1725" b="0">
                <a:solidFill>
                  <a:srgbClr val="526970"/>
                </a:solidFill>
                <a:latin typeface="Calibri"/>
                <a:ea typeface="Calibri"/>
                <a:cs typeface="Calibri"/>
                <a:hlinkClick xmlns:r="http://schemas.openxmlformats.org/officeDocument/2006/relationships" r:id="R7b52149732404215"/>
              </a:rPr>
              <a:t>scikit-learn</a:t>
            </a:r>
          </a:p>
        </p:txBody>
      </p:sp>
    </p:spTree>
    <p:extLst>
      <p:ext uri="{BB962C8B-B14F-4D97-AF65-F5344CB8AC3E}">
        <p14:creationId xmlns:p14="http://schemas.microsoft.com/office/powerpoint/2010/main" val="793091974"/>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Quantum Coders">
            <a:extLst xmlns:a="http://schemas.openxmlformats.org/drawingml/2006/main">
              <a:ext uri="{FF2B5EF4-FFF2-40B4-BE49-F238E27FC236}">
                <a16:creationId xmlns:a16="http://schemas.microsoft.com/office/drawing/2014/main" id="{C7E85F54-7F37-457B-87EA-74D9C5CC604C}"/>
              </a:ext>
            </a:extLst>
          </p:cNvPr>
          <p:cNvSpPr>
            <a:spLocks xmlns:a="http://schemas.openxmlformats.org/drawingml/2006/main" noGrp="1"/>
          </p:cNvSpPr>
          <p:nvPr/>
        </p:nvSpPr>
        <p:spPr>
          <a:xfrm xmlns:a="http://schemas.openxmlformats.org/drawingml/2006/main">
            <a:off x="723900" y="590550"/>
            <a:ext cx="1323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125" b="1">
                <a:solidFill>
                  <a:srgbClr val="173843"/>
                </a:solidFill>
                <a:latin typeface="Calibri"/>
                <a:ea typeface="Calibri"/>
                <a:cs typeface="Calibri"/>
              </a:defRPr>
            </a:pPr>
            <a:r>
              <a:rPr sz="4125" b="1">
                <a:solidFill>
                  <a:srgbClr val="173843"/>
                </a:solidFill>
                <a:latin typeface="Calibri"/>
                <a:ea typeface="Calibri"/>
                <a:cs typeface="Calibri"/>
              </a:rPr>
              <a:t>Quantum Coders</a:t>
            </a:r>
          </a:p>
        </p:txBody>
      </p:sp>
      <p:sp>
        <p:nvSpPr>
          <p:cNvPr id="2" name="MPLADS-GUARD">
            <a:extLst xmlns:a="http://schemas.openxmlformats.org/drawingml/2006/main">
              <a:ext uri="{FF2B5EF4-FFF2-40B4-BE49-F238E27FC236}">
                <a16:creationId xmlns:a16="http://schemas.microsoft.com/office/drawing/2014/main" id="{E3EF4508-0E19-4F41-8C2D-9C3EC77854F2}"/>
              </a:ext>
            </a:extLst>
          </p:cNvPr>
          <p:cNvSpPr>
            <a:spLocks xmlns:a="http://schemas.openxmlformats.org/drawingml/2006/main" noGrp="1"/>
          </p:cNvSpPr>
          <p:nvPr/>
        </p:nvSpPr>
        <p:spPr>
          <a:xfrm xmlns:a="http://schemas.openxmlformats.org/drawingml/2006/main">
            <a:off x="742950" y="8067675"/>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970"/>
                </a:solidFill>
                <a:latin typeface="Calibri"/>
                <a:ea typeface="Calibri"/>
                <a:cs typeface="Calibri"/>
              </a:defRPr>
            </a:pPr>
            <a:r>
              <a:rPr sz="1500" b="0">
                <a:solidFill>
                  <a:srgbClr val="526970"/>
                </a:solidFill>
                <a:latin typeface="Calibri"/>
                <a:ea typeface="Calibri"/>
                <a:cs typeface="Calibri"/>
              </a:rPr>
              <a:t>MPLADS-GUARD</a:t>
            </a:r>
          </a:p>
        </p:txBody>
      </p:sp>
      <p:sp>
        <p:nvSpPr>
          <p:cNvPr id="3" name="06 / 06">
            <a:extLst xmlns:a="http://schemas.openxmlformats.org/drawingml/2006/main">
              <a:ext uri="{FF2B5EF4-FFF2-40B4-BE49-F238E27FC236}">
                <a16:creationId xmlns:a16="http://schemas.microsoft.com/office/drawing/2014/main" id="{63F0F2F1-359F-47AF-8796-9E36EAD0D00C}"/>
              </a:ext>
            </a:extLst>
          </p:cNvPr>
          <p:cNvSpPr>
            <a:spLocks xmlns:a="http://schemas.openxmlformats.org/drawingml/2006/main" noGrp="1"/>
          </p:cNvSpPr>
          <p:nvPr/>
        </p:nvSpPr>
        <p:spPr>
          <a:xfrm xmlns:a="http://schemas.openxmlformats.org/drawingml/2006/main">
            <a:off x="13525500" y="806767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26970"/>
                </a:solidFill>
                <a:latin typeface="Calibri"/>
                <a:ea typeface="Calibri"/>
                <a:cs typeface="Calibri"/>
              </a:defRPr>
            </a:pPr>
            <a:r>
              <a:rPr sz="1500" b="0">
                <a:solidFill>
                  <a:srgbClr val="526970"/>
                </a:solidFill>
                <a:latin typeface="Calibri"/>
                <a:ea typeface="Calibri"/>
                <a:cs typeface="Calibri"/>
              </a:rPr>
              <a:t>06 / 06</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0ce97bd33a34f5f"/>
          <a:stretch xmlns:a="http://schemas.openxmlformats.org/drawingml/2006/main"/>
        </p:blipFill>
        <p:spPr>
          <a:xfrm xmlns:a="http://schemas.openxmlformats.org/drawingml/2006/main">
            <a:off x="11763375" y="447996"/>
            <a:ext cx="2762250" cy="1304283"/>
          </a:xfrm>
          <a:prstGeom xmlns:a="http://schemas.openxmlformats.org/drawingml/2006/main" prst="rect">
            <a:avLst/>
          </a:prstGeom>
        </p:spPr>
      </p:pic>
      <p:sp>
        <p:nvSpPr>
          <p:cNvPr id="5" name="F.E.T Agra College Agra">
            <a:extLst xmlns:a="http://schemas.openxmlformats.org/drawingml/2006/main">
              <a:ext uri="{FF2B5EF4-FFF2-40B4-BE49-F238E27FC236}">
                <a16:creationId xmlns:a16="http://schemas.microsoft.com/office/drawing/2014/main" id="{89BF9EF6-C731-4BDC-B799-E0C764149975}"/>
              </a:ext>
            </a:extLst>
          </p:cNvPr>
          <p:cNvSpPr>
            <a:spLocks xmlns:a="http://schemas.openxmlformats.org/drawingml/2006/main" noGrp="1"/>
          </p:cNvSpPr>
          <p:nvPr/>
        </p:nvSpPr>
        <p:spPr>
          <a:xfrm xmlns:a="http://schemas.openxmlformats.org/drawingml/2006/main">
            <a:off x="762000" y="1495425"/>
            <a:ext cx="1028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0">
                <a:solidFill>
                  <a:srgbClr val="173843"/>
                </a:solidFill>
                <a:latin typeface="Calibri"/>
                <a:ea typeface="Calibri"/>
                <a:cs typeface="Calibri"/>
              </a:defRPr>
            </a:pPr>
            <a:r>
              <a:rPr sz="2625" b="0">
                <a:solidFill>
                  <a:srgbClr val="173843"/>
                </a:solidFill>
                <a:latin typeface="Calibri"/>
                <a:ea typeface="Calibri"/>
                <a:cs typeface="Calibri"/>
              </a:rPr>
              <a:t>F.E.T Agra College Agra</a:t>
            </a:r>
          </a:p>
        </p:txBody>
      </p:sp>
      <p:sp>
        <p:nvSpPr>
          <p:cNvPr id="6" name="Team Leader: Krish Sehgal">
            <a:extLst xmlns:a="http://schemas.openxmlformats.org/drawingml/2006/main">
              <a:ext uri="{FF2B5EF4-FFF2-40B4-BE49-F238E27FC236}">
                <a16:creationId xmlns:a16="http://schemas.microsoft.com/office/drawing/2014/main" id="{42064C32-F391-430A-A13F-B2CAE43AC2DD}"/>
              </a:ext>
            </a:extLst>
          </p:cNvPr>
          <p:cNvSpPr>
            <a:spLocks xmlns:a="http://schemas.openxmlformats.org/drawingml/2006/main" noGrp="1"/>
          </p:cNvSpPr>
          <p:nvPr/>
        </p:nvSpPr>
        <p:spPr>
          <a:xfrm xmlns:a="http://schemas.openxmlformats.org/drawingml/2006/main">
            <a:off x="762000" y="204787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87D72"/>
                </a:solidFill>
                <a:latin typeface="Calibri"/>
                <a:ea typeface="Calibri"/>
                <a:cs typeface="Calibri"/>
              </a:defRPr>
            </a:pPr>
            <a:r>
              <a:rPr sz="2100" b="1">
                <a:solidFill>
                  <a:srgbClr val="087D72"/>
                </a:solidFill>
                <a:latin typeface="Calibri"/>
                <a:ea typeface="Calibri"/>
                <a:cs typeface="Calibri"/>
              </a:rPr>
              <a:t>Team Leader: Krish Sehgal</a:t>
            </a:r>
          </a:p>
        </p:txBody>
      </p:sp>
      <p:graphicFrame>
        <p:nvGraphicFramePr>
          <p:cNvPr id="14" name=""/>
          <p:cNvGraphicFramePr/>
          <p:nvPr/>
        </p:nvGraphicFramePr>
        <p:xfrm>
          <a:off xmlns:a="http://schemas.openxmlformats.org/drawingml/2006/main" x="742950" y="2781300"/>
          <a:ext xmlns:a="http://schemas.openxmlformats.org/drawingml/2006/main" cx="13754100" cy="4686300"/>
        </p:xfrm>
        <a:graphic xmlns:a="http://schemas.openxmlformats.org/drawingml/2006/main">
          <a:graphicData uri="http://schemas.openxmlformats.org/drawingml/2006/table">
            <a:tbl>
              <a:tblPr firstRow="0" bandRow="0"/>
              <a:tblGrid>
                <a:gridCol w="4010025"/>
                <a:gridCol w="2381250"/>
                <a:gridCol w="4876800"/>
                <a:gridCol w="2486025"/>
              </a:tblGrid>
              <a:tr h="571500">
                <a:tc>
                  <a:txBody>
                    <a:bodyPr lIns="190500" tIns="76200" rIns="171450" bIns="76200">
                      <a:noAutofit/>
                    </a:bodyPr>
                    <a:lstStyle/>
                    <a:p>
                      <a:r>
                        <a:rPr sz="1950" b="1">
                          <a:solidFill>
                            <a:srgbClr val="FFFFFF"/>
                          </a:solidFill>
                          <a:latin typeface="Calibri"/>
                          <a:ea typeface="Calibri"/>
                          <a:cs typeface="Calibri"/>
                        </a:rPr>
                        <a:t>Name</a:t>
                      </a:r>
                    </a:p>
                  </a:txBody>
                  <a:tcPr marL="190500" marR="171450" marT="76200" marB="76200" anchor="ctr">
                    <a:solidFill>
                      <a:srgbClr val="102A36"/>
                    </a:solidFill>
                  </a:tcPr>
                </a:tc>
                <a:tc>
                  <a:txBody>
                    <a:bodyPr lIns="190500" tIns="76200" rIns="171450" bIns="76200">
                      <a:noAutofit/>
                    </a:bodyPr>
                    <a:lstStyle/>
                    <a:p>
                      <a:r>
                        <a:rPr sz="1950" b="1">
                          <a:solidFill>
                            <a:srgbClr val="FFFFFF"/>
                          </a:solidFill>
                          <a:latin typeface="Calibri"/>
                          <a:ea typeface="Calibri"/>
                          <a:cs typeface="Calibri"/>
                        </a:rPr>
                        <a:t>Roll number</a:t>
                      </a:r>
                    </a:p>
                  </a:txBody>
                  <a:tcPr marL="190500" marR="171450" marT="76200" marB="76200" anchor="ctr">
                    <a:solidFill>
                      <a:srgbClr val="102A36"/>
                    </a:solidFill>
                  </a:tcPr>
                </a:tc>
                <a:tc>
                  <a:txBody>
                    <a:bodyPr lIns="190500" tIns="76200" rIns="171450" bIns="76200">
                      <a:noAutofit/>
                    </a:bodyPr>
                    <a:lstStyle/>
                    <a:p>
                      <a:r>
                        <a:rPr sz="1950" b="1">
                          <a:solidFill>
                            <a:srgbClr val="FFFFFF"/>
                          </a:solidFill>
                          <a:latin typeface="Calibri"/>
                          <a:ea typeface="Calibri"/>
                          <a:cs typeface="Calibri"/>
                        </a:rPr>
                        <a:t>Email</a:t>
                      </a:r>
                    </a:p>
                  </a:txBody>
                  <a:tcPr marL="190500" marR="171450" marT="76200" marB="76200" anchor="ctr">
                    <a:solidFill>
                      <a:srgbClr val="102A36"/>
                    </a:solidFill>
                  </a:tcPr>
                </a:tc>
                <a:tc>
                  <a:txBody>
                    <a:bodyPr lIns="190500" tIns="76200" rIns="171450" bIns="76200">
                      <a:noAutofit/>
                    </a:bodyPr>
                    <a:lstStyle/>
                    <a:p>
                      <a:r>
                        <a:rPr sz="1950" b="1">
                          <a:solidFill>
                            <a:srgbClr val="FFFFFF"/>
                          </a:solidFill>
                          <a:latin typeface="Calibri"/>
                          <a:ea typeface="Calibri"/>
                          <a:cs typeface="Calibri"/>
                        </a:rPr>
                        <a:t>Branch / year</a:t>
                      </a:r>
                    </a:p>
                  </a:txBody>
                  <a:tcPr marL="190500" marR="171450" marT="76200" marB="76200" anchor="ctr">
                    <a:solidFill>
                      <a:srgbClr val="102A36"/>
                    </a:solidFill>
                  </a:tcPr>
                </a:tc>
              </a:tr>
              <a:tr h="685800">
                <a:tc>
                  <a:txBody>
                    <a:bodyPr lIns="190500" tIns="76200" rIns="171450" bIns="76200">
                      <a:noAutofit/>
                    </a:bodyPr>
                    <a:lstStyle/>
                    <a:p>
                      <a:r>
                        <a:rPr sz="2025" b="1">
                          <a:solidFill>
                            <a:srgbClr val="173843"/>
                          </a:solidFill>
                          <a:latin typeface="Calibri"/>
                          <a:ea typeface="Calibri"/>
                          <a:cs typeface="Calibri"/>
                        </a:rPr>
                        <a:t>Surya Pratap Singh Bais</a:t>
                      </a:r>
                    </a:p>
                  </a:txBody>
                  <a:tcPr marL="190500" marR="171450" marT="76200" marB="76200" anchor="ctr">
                    <a:solidFill>
                      <a:srgbClr val="FFFFFF"/>
                    </a:solidFill>
                  </a:tcPr>
                </a:tc>
                <a:tc>
                  <a:txBody>
                    <a:bodyPr lIns="190500" tIns="76200" rIns="171450" bIns="76200">
                      <a:noAutofit/>
                    </a:bodyPr>
                    <a:lstStyle/>
                    <a:p>
                      <a:r>
                        <a:rPr sz="2025" b="0">
                          <a:solidFill>
                            <a:srgbClr val="173843"/>
                          </a:solidFill>
                          <a:latin typeface="Calibri"/>
                          <a:ea typeface="Calibri"/>
                          <a:cs typeface="Calibri"/>
                        </a:rPr>
                        <a:t>2500020100118</a:t>
                      </a:r>
                    </a:p>
                  </a:txBody>
                  <a:tcPr marL="190500" marR="171450" marT="76200" marB="76200" anchor="ctr">
                    <a:solidFill>
                      <a:srgbClr val="FFFFFF"/>
                    </a:solidFill>
                  </a:tcPr>
                </a:tc>
                <a:tc>
                  <a:txBody>
                    <a:bodyPr lIns="190500" tIns="76200" rIns="171450" bIns="76200">
                      <a:noAutofit/>
                    </a:bodyPr>
                    <a:lstStyle/>
                    <a:p>
                      <a:r>
                        <a:rPr sz="2025" b="0">
                          <a:solidFill>
                            <a:srgbClr val="173843"/>
                          </a:solidFill>
                          <a:latin typeface="Calibri"/>
                          <a:ea typeface="Calibri"/>
                          <a:cs typeface="Calibri"/>
                        </a:rPr>
                        <a:t>suryasinghbais@gmail.com</a:t>
                      </a:r>
                    </a:p>
                  </a:txBody>
                  <a:tcPr marL="190500" marR="171450" marT="76200" marB="76200" anchor="ctr">
                    <a:solidFill>
                      <a:srgbClr val="FFFFFF"/>
                    </a:solidFill>
                  </a:tcPr>
                </a:tc>
                <a:tc>
                  <a:txBody>
                    <a:bodyPr lIns="190500" tIns="76200" rIns="171450" bIns="76200">
                      <a:noAutofit/>
                    </a:bodyPr>
                    <a:lstStyle/>
                    <a:p>
                      <a:r>
                        <a:rPr sz="2025" b="0">
                          <a:solidFill>
                            <a:srgbClr val="173843"/>
                          </a:solidFill>
                          <a:latin typeface="Calibri"/>
                          <a:ea typeface="Calibri"/>
                          <a:cs typeface="Calibri"/>
                        </a:rPr>
                        <a:t>CSE / 2nd year</a:t>
                      </a:r>
                    </a:p>
                  </a:txBody>
                  <a:tcPr marL="190500" marR="171450" marT="76200" marB="76200" anchor="ctr">
                    <a:solidFill>
                      <a:srgbClr val="FFFFFF"/>
                    </a:solidFill>
                  </a:tcPr>
                </a:tc>
              </a:tr>
              <a:tr h="685800">
                <a:tc>
                  <a:txBody>
                    <a:bodyPr lIns="190500" tIns="76200" rIns="171450" bIns="76200">
                      <a:noAutofit/>
                    </a:bodyPr>
                    <a:lstStyle/>
                    <a:p>
                      <a:r>
                        <a:rPr sz="2025" b="1">
                          <a:solidFill>
                            <a:srgbClr val="173843"/>
                          </a:solidFill>
                          <a:latin typeface="Calibri"/>
                          <a:ea typeface="Calibri"/>
                          <a:cs typeface="Calibri"/>
                        </a:rPr>
                        <a:t>Aqsa Mushir</a:t>
                      </a:r>
                    </a:p>
                  </a:txBody>
                  <a:tcPr marL="190500" marR="171450" marT="76200" marB="76200" anchor="ctr">
                    <a:solidFill>
                      <a:srgbClr val="EDF2EE"/>
                    </a:solidFill>
                  </a:tcPr>
                </a:tc>
                <a:tc>
                  <a:txBody>
                    <a:bodyPr lIns="190500" tIns="76200" rIns="171450" bIns="76200">
                      <a:noAutofit/>
                    </a:bodyPr>
                    <a:lstStyle/>
                    <a:p>
                      <a:r>
                        <a:rPr sz="2025" b="0">
                          <a:solidFill>
                            <a:srgbClr val="173843"/>
                          </a:solidFill>
                          <a:latin typeface="Calibri"/>
                          <a:ea typeface="Calibri"/>
                          <a:cs typeface="Calibri"/>
                        </a:rPr>
                        <a:t>2400020100016</a:t>
                      </a:r>
                    </a:p>
                  </a:txBody>
                  <a:tcPr marL="190500" marR="171450" marT="76200" marB="76200" anchor="ctr">
                    <a:solidFill>
                      <a:srgbClr val="EDF2EE"/>
                    </a:solidFill>
                  </a:tcPr>
                </a:tc>
                <a:tc>
                  <a:txBody>
                    <a:bodyPr lIns="190500" tIns="76200" rIns="171450" bIns="76200">
                      <a:noAutofit/>
                    </a:bodyPr>
                    <a:lstStyle/>
                    <a:p>
                      <a:r>
                        <a:rPr sz="2025" b="0">
                          <a:solidFill>
                            <a:srgbClr val="173843"/>
                          </a:solidFill>
                          <a:latin typeface="Calibri"/>
                          <a:ea typeface="Calibri"/>
                          <a:cs typeface="Calibri"/>
                        </a:rPr>
                        <a:t>aqsamushir@gmail.com</a:t>
                      </a:r>
                    </a:p>
                  </a:txBody>
                  <a:tcPr marL="190500" marR="171450" marT="76200" marB="76200" anchor="ctr">
                    <a:solidFill>
                      <a:srgbClr val="EDF2EE"/>
                    </a:solidFill>
                  </a:tcPr>
                </a:tc>
                <a:tc>
                  <a:txBody>
                    <a:bodyPr lIns="190500" tIns="76200" rIns="171450" bIns="76200">
                      <a:noAutofit/>
                    </a:bodyPr>
                    <a:lstStyle/>
                    <a:p>
                      <a:r>
                        <a:rPr sz="2025" b="0">
                          <a:solidFill>
                            <a:srgbClr val="173843"/>
                          </a:solidFill>
                          <a:latin typeface="Calibri"/>
                          <a:ea typeface="Calibri"/>
                          <a:cs typeface="Calibri"/>
                        </a:rPr>
                        <a:t>CSE / 3rd year</a:t>
                      </a:r>
                    </a:p>
                  </a:txBody>
                  <a:tcPr marL="190500" marR="171450" marT="76200" marB="76200" anchor="ctr">
                    <a:solidFill>
                      <a:srgbClr val="EDF2EE"/>
                    </a:solidFill>
                  </a:tcPr>
                </a:tc>
              </a:tr>
              <a:tr h="685800">
                <a:tc>
                  <a:txBody>
                    <a:bodyPr lIns="190500" tIns="76200" rIns="171450" bIns="76200">
                      <a:noAutofit/>
                    </a:bodyPr>
                    <a:lstStyle/>
                    <a:p>
                      <a:r>
                        <a:rPr sz="2025" b="1">
                          <a:solidFill>
                            <a:srgbClr val="173843"/>
                          </a:solidFill>
                          <a:latin typeface="Calibri"/>
                          <a:ea typeface="Calibri"/>
                          <a:cs typeface="Calibri"/>
                        </a:rPr>
                        <a:t>Shahin Khan</a:t>
                      </a:r>
                    </a:p>
                  </a:txBody>
                  <a:tcPr marL="190500" marR="171450" marT="76200" marB="76200" anchor="ctr">
                    <a:solidFill>
                      <a:srgbClr val="FFFFFF"/>
                    </a:solidFill>
                  </a:tcPr>
                </a:tc>
                <a:tc>
                  <a:txBody>
                    <a:bodyPr lIns="190500" tIns="76200" rIns="171450" bIns="76200">
                      <a:noAutofit/>
                    </a:bodyPr>
                    <a:lstStyle/>
                    <a:p>
                      <a:r>
                        <a:rPr sz="2025" b="0">
                          <a:solidFill>
                            <a:srgbClr val="173843"/>
                          </a:solidFill>
                          <a:latin typeface="Calibri"/>
                          <a:ea typeface="Calibri"/>
                          <a:cs typeface="Calibri"/>
                        </a:rPr>
                        <a:t>2400020100092</a:t>
                      </a:r>
                    </a:p>
                  </a:txBody>
                  <a:tcPr marL="190500" marR="171450" marT="76200" marB="76200" anchor="ctr">
                    <a:solidFill>
                      <a:srgbClr val="FFFFFF"/>
                    </a:solidFill>
                  </a:tcPr>
                </a:tc>
                <a:tc>
                  <a:txBody>
                    <a:bodyPr lIns="190500" tIns="76200" rIns="171450" bIns="76200">
                      <a:noAutofit/>
                    </a:bodyPr>
                    <a:lstStyle/>
                    <a:p>
                      <a:r>
                        <a:rPr sz="2025" b="0">
                          <a:solidFill>
                            <a:srgbClr val="173843"/>
                          </a:solidFill>
                          <a:latin typeface="Calibri"/>
                          <a:ea typeface="Calibri"/>
                          <a:cs typeface="Calibri"/>
                        </a:rPr>
                        <a:t>shahin01cse@gmail.com</a:t>
                      </a:r>
                    </a:p>
                  </a:txBody>
                  <a:tcPr marL="190500" marR="171450" marT="76200" marB="76200" anchor="ctr">
                    <a:solidFill>
                      <a:srgbClr val="FFFFFF"/>
                    </a:solidFill>
                  </a:tcPr>
                </a:tc>
                <a:tc>
                  <a:txBody>
                    <a:bodyPr lIns="190500" tIns="76200" rIns="171450" bIns="76200">
                      <a:noAutofit/>
                    </a:bodyPr>
                    <a:lstStyle/>
                    <a:p>
                      <a:r>
                        <a:rPr sz="2025" b="0">
                          <a:solidFill>
                            <a:srgbClr val="173843"/>
                          </a:solidFill>
                          <a:latin typeface="Calibri"/>
                          <a:ea typeface="Calibri"/>
                          <a:cs typeface="Calibri"/>
                        </a:rPr>
                        <a:t>CSE / 3rd year</a:t>
                      </a:r>
                    </a:p>
                  </a:txBody>
                  <a:tcPr marL="190500" marR="171450" marT="76200" marB="76200" anchor="ctr">
                    <a:solidFill>
                      <a:srgbClr val="FFFFFF"/>
                    </a:solidFill>
                  </a:tcPr>
                </a:tc>
              </a:tr>
              <a:tr h="685800">
                <a:tc>
                  <a:txBody>
                    <a:bodyPr lIns="190500" tIns="76200" rIns="171450" bIns="76200">
                      <a:noAutofit/>
                    </a:bodyPr>
                    <a:lstStyle/>
                    <a:p>
                      <a:r>
                        <a:rPr sz="2025" b="1">
                          <a:solidFill>
                            <a:srgbClr val="173843"/>
                          </a:solidFill>
                          <a:latin typeface="Calibri"/>
                          <a:ea typeface="Calibri"/>
                          <a:cs typeface="Calibri"/>
                        </a:rPr>
                        <a:t>Raj Prajapati</a:t>
                      </a:r>
                    </a:p>
                  </a:txBody>
                  <a:tcPr marL="190500" marR="171450" marT="76200" marB="76200" anchor="ctr">
                    <a:solidFill>
                      <a:srgbClr val="EDF2EE"/>
                    </a:solidFill>
                  </a:tcPr>
                </a:tc>
                <a:tc>
                  <a:txBody>
                    <a:bodyPr lIns="190500" tIns="76200" rIns="171450" bIns="76200">
                      <a:noAutofit/>
                    </a:bodyPr>
                    <a:lstStyle/>
                    <a:p>
                      <a:r>
                        <a:rPr sz="2025" b="0">
                          <a:solidFill>
                            <a:srgbClr val="173843"/>
                          </a:solidFill>
                          <a:latin typeface="Calibri"/>
                          <a:ea typeface="Calibri"/>
                          <a:cs typeface="Calibri"/>
                        </a:rPr>
                        <a:t>2300020100061</a:t>
                      </a:r>
                    </a:p>
                  </a:txBody>
                  <a:tcPr marL="190500" marR="171450" marT="76200" marB="76200" anchor="ctr">
                    <a:solidFill>
                      <a:srgbClr val="EDF2EE"/>
                    </a:solidFill>
                  </a:tcPr>
                </a:tc>
                <a:tc>
                  <a:txBody>
                    <a:bodyPr lIns="190500" tIns="76200" rIns="171450" bIns="76200">
                      <a:noAutofit/>
                    </a:bodyPr>
                    <a:lstStyle/>
                    <a:p>
                      <a:r>
                        <a:rPr sz="2025" b="0">
                          <a:solidFill>
                            <a:srgbClr val="173843"/>
                          </a:solidFill>
                          <a:latin typeface="Calibri"/>
                          <a:ea typeface="Calibri"/>
                          <a:cs typeface="Calibri"/>
                        </a:rPr>
                        <a:t>rajt65800@gmail.com</a:t>
                      </a:r>
                    </a:p>
                  </a:txBody>
                  <a:tcPr marL="190500" marR="171450" marT="76200" marB="76200" anchor="ctr">
                    <a:solidFill>
                      <a:srgbClr val="EDF2EE"/>
                    </a:solidFill>
                  </a:tcPr>
                </a:tc>
                <a:tc>
                  <a:txBody>
                    <a:bodyPr lIns="190500" tIns="76200" rIns="171450" bIns="76200">
                      <a:noAutofit/>
                    </a:bodyPr>
                    <a:lstStyle/>
                    <a:p>
                      <a:r>
                        <a:rPr sz="2025" b="0">
                          <a:solidFill>
                            <a:srgbClr val="173843"/>
                          </a:solidFill>
                          <a:latin typeface="Calibri"/>
                          <a:ea typeface="Calibri"/>
                          <a:cs typeface="Calibri"/>
                        </a:rPr>
                        <a:t>CSE / 4th year</a:t>
                      </a:r>
                    </a:p>
                  </a:txBody>
                  <a:tcPr marL="190500" marR="171450" marT="76200" marB="76200" anchor="ctr">
                    <a:solidFill>
                      <a:srgbClr val="EDF2EE"/>
                    </a:solidFill>
                  </a:tcPr>
                </a:tc>
              </a:tr>
              <a:tr h="685800">
                <a:tc>
                  <a:txBody>
                    <a:bodyPr lIns="190500" tIns="76200" rIns="171450" bIns="76200">
                      <a:noAutofit/>
                    </a:bodyPr>
                    <a:lstStyle/>
                    <a:p>
                      <a:r>
                        <a:rPr sz="2025" b="1">
                          <a:solidFill>
                            <a:srgbClr val="173843"/>
                          </a:solidFill>
                          <a:latin typeface="Calibri"/>
                          <a:ea typeface="Calibri"/>
                          <a:cs typeface="Calibri"/>
                        </a:rPr>
                        <a:t>Krish Sehgal</a:t>
                      </a:r>
                    </a:p>
                  </a:txBody>
                  <a:tcPr marL="190500" marR="171450" marT="76200" marB="76200" anchor="ctr">
                    <a:solidFill>
                      <a:srgbClr val="DEEEE6"/>
                    </a:solidFill>
                  </a:tcPr>
                </a:tc>
                <a:tc>
                  <a:txBody>
                    <a:bodyPr lIns="190500" tIns="76200" rIns="171450" bIns="76200">
                      <a:noAutofit/>
                    </a:bodyPr>
                    <a:lstStyle/>
                    <a:p>
                      <a:r>
                        <a:rPr sz="2025" b="0">
                          <a:solidFill>
                            <a:srgbClr val="173843"/>
                          </a:solidFill>
                          <a:latin typeface="Calibri"/>
                          <a:ea typeface="Calibri"/>
                          <a:cs typeface="Calibri"/>
                        </a:rPr>
                        <a:t>2300020100043</a:t>
                      </a:r>
                    </a:p>
                  </a:txBody>
                  <a:tcPr marL="190500" marR="171450" marT="76200" marB="76200" anchor="ctr">
                    <a:solidFill>
                      <a:srgbClr val="DEEEE6"/>
                    </a:solidFill>
                  </a:tcPr>
                </a:tc>
                <a:tc>
                  <a:txBody>
                    <a:bodyPr lIns="190500" tIns="76200" rIns="171450" bIns="76200">
                      <a:noAutofit/>
                    </a:bodyPr>
                    <a:lstStyle/>
                    <a:p>
                      <a:r>
                        <a:rPr sz="2025" b="0">
                          <a:solidFill>
                            <a:srgbClr val="173843"/>
                          </a:solidFill>
                          <a:latin typeface="Calibri"/>
                          <a:ea typeface="Calibri"/>
                          <a:cs typeface="Calibri"/>
                        </a:rPr>
                        <a:t>krishsehgal08@gmail.com</a:t>
                      </a:r>
                    </a:p>
                  </a:txBody>
                  <a:tcPr marL="190500" marR="171450" marT="76200" marB="76200" anchor="ctr">
                    <a:solidFill>
                      <a:srgbClr val="DEEEE6"/>
                    </a:solidFill>
                  </a:tcPr>
                </a:tc>
                <a:tc>
                  <a:txBody>
                    <a:bodyPr lIns="190500" tIns="76200" rIns="171450" bIns="76200">
                      <a:noAutofit/>
                    </a:bodyPr>
                    <a:lstStyle/>
                    <a:p>
                      <a:r>
                        <a:rPr sz="2025" b="0">
                          <a:solidFill>
                            <a:srgbClr val="173843"/>
                          </a:solidFill>
                          <a:latin typeface="Calibri"/>
                          <a:ea typeface="Calibri"/>
                          <a:cs typeface="Calibri"/>
                        </a:rPr>
                        <a:t>CSE / 4th year</a:t>
                      </a:r>
                    </a:p>
                  </a:txBody>
                  <a:tcPr marL="190500" marR="171450" marT="76200" marB="76200" anchor="ctr">
                    <a:solidFill>
                      <a:srgbClr val="DEEEE6"/>
                    </a:solidFill>
                  </a:tcPr>
                </a:tc>
              </a:tr>
              <a:tr h="685800">
                <a:tc>
                  <a:txBody>
                    <a:bodyPr lIns="190500" tIns="76200" rIns="171450" bIns="76200">
                      <a:noAutofit/>
                    </a:bodyPr>
                    <a:lstStyle/>
                    <a:p>
                      <a:r>
                        <a:rPr sz="2025" b="1">
                          <a:solidFill>
                            <a:srgbClr val="173843"/>
                          </a:solidFill>
                          <a:latin typeface="Calibri"/>
                          <a:ea typeface="Calibri"/>
                          <a:cs typeface="Calibri"/>
                        </a:rPr>
                        <a:t>Vishal Sharma</a:t>
                      </a:r>
                    </a:p>
                  </a:txBody>
                  <a:tcPr marL="190500" marR="171450" marT="76200" marB="76200" anchor="ctr">
                    <a:solidFill>
                      <a:srgbClr val="EDF2EE"/>
                    </a:solidFill>
                  </a:tcPr>
                </a:tc>
                <a:tc>
                  <a:txBody>
                    <a:bodyPr lIns="190500" tIns="76200" rIns="171450" bIns="76200">
                      <a:noAutofit/>
                    </a:bodyPr>
                    <a:lstStyle/>
                    <a:p>
                      <a:r>
                        <a:rPr sz="2025" b="0">
                          <a:solidFill>
                            <a:srgbClr val="173843"/>
                          </a:solidFill>
                          <a:latin typeface="Calibri"/>
                          <a:ea typeface="Calibri"/>
                          <a:cs typeface="Calibri"/>
                        </a:rPr>
                        <a:t>2300020100079</a:t>
                      </a:r>
                    </a:p>
                  </a:txBody>
                  <a:tcPr marL="190500" marR="171450" marT="76200" marB="76200" anchor="ctr">
                    <a:solidFill>
                      <a:srgbClr val="EDF2EE"/>
                    </a:solidFill>
                  </a:tcPr>
                </a:tc>
                <a:tc>
                  <a:txBody>
                    <a:bodyPr lIns="190500" tIns="76200" rIns="171450" bIns="76200">
                      <a:noAutofit/>
                    </a:bodyPr>
                    <a:lstStyle/>
                    <a:p>
                      <a:r>
                        <a:rPr sz="2025" b="0">
                          <a:solidFill>
                            <a:srgbClr val="173843"/>
                          </a:solidFill>
                          <a:latin typeface="Calibri"/>
                          <a:ea typeface="Calibri"/>
                          <a:cs typeface="Calibri"/>
                        </a:rPr>
                        <a:t>vishal.sept05@gmail.com</a:t>
                      </a:r>
                    </a:p>
                  </a:txBody>
                  <a:tcPr marL="190500" marR="171450" marT="76200" marB="76200" anchor="ctr">
                    <a:solidFill>
                      <a:srgbClr val="EDF2EE"/>
                    </a:solidFill>
                  </a:tcPr>
                </a:tc>
                <a:tc>
                  <a:txBody>
                    <a:bodyPr lIns="190500" tIns="76200" rIns="171450" bIns="76200">
                      <a:noAutofit/>
                    </a:bodyPr>
                    <a:lstStyle/>
                    <a:p>
                      <a:r>
                        <a:rPr sz="2025" b="0">
                          <a:solidFill>
                            <a:srgbClr val="173843"/>
                          </a:solidFill>
                          <a:latin typeface="Calibri"/>
                          <a:ea typeface="Calibri"/>
                          <a:cs typeface="Calibri"/>
                        </a:rPr>
                        <a:t>CSE / 4th year</a:t>
                      </a:r>
                    </a:p>
                  </a:txBody>
                  <a:tcPr marL="190500" marR="171450" marT="76200" marB="76200" anchor="ctr">
                    <a:solidFill>
                      <a:srgbClr val="EDF2EE"/>
                    </a:solidFill>
                  </a:tcPr>
                </a:tc>
              </a:tr>
            </a:tbl>
          </a:graphicData>
        </a:graphic>
      </p:graphicFrame>
    </p:spTree>
    <p:extLst>
      <p:ext uri="{BB962C8B-B14F-4D97-AF65-F5344CB8AC3E}">
        <p14:creationId xmlns:p14="http://schemas.microsoft.com/office/powerpoint/2010/main" val="13666530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2026-09-10T18:42:00.4010000Z</dcterms:created>
  <dcterms:modified xsi:type="dcterms:W3CDTF">2026-09-10T18:42:00.4020000Z</dcterms:modified>
</coreProperties>
</file>