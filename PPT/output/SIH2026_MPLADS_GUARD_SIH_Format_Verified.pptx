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e7198db0a4d4419" /><Relationship Type="http://schemas.openxmlformats.org/officeDocument/2006/relationships/extended-properties" Target="/docProps/app.xml" Id="Red5ba8b1b47b414d" /><Relationship Type="http://schemas.openxmlformats.org/officeDocument/2006/relationships/officeDocument" Target="/ppt/presentation.xml" Id="R7d2231825dab4961" /></Relationships>
</file>

<file path=ppt/presentation.xml><?xml version="1.0" encoding="utf-8"?>
<p:presentation xmlns:p="http://schemas.openxmlformats.org/presentationml/2006/main">
  <p:sldMasterIdLst>
    <p:sldMasterId xmlns:r="http://schemas.openxmlformats.org/officeDocument/2006/relationships" id="2147483648" r:id="R9ed27fc3571e46dd"/>
  </p:sldMasterIdLst>
  <p:notesMasterIdLst>
    <p:notesMasterId xmlns:r="http://schemas.openxmlformats.org/officeDocument/2006/relationships" r:id="R819f3fa4584f4242"/>
  </p:notesMasterIdLst>
  <p:sldIdLst>
    <p:sldId xmlns:r="http://schemas.openxmlformats.org/officeDocument/2006/relationships" id="256" r:id="R4d2d4995e6854bce"/>
    <p:sldId xmlns:r="http://schemas.openxmlformats.org/officeDocument/2006/relationships" id="257" r:id="Rcad305a8de62491d"/>
    <p:sldId xmlns:r="http://schemas.openxmlformats.org/officeDocument/2006/relationships" id="258" r:id="Re9e85ca6867f4941"/>
    <p:sldId xmlns:r="http://schemas.openxmlformats.org/officeDocument/2006/relationships" id="259" r:id="R818faacc56e24c32"/>
    <p:sldId xmlns:r="http://schemas.openxmlformats.org/officeDocument/2006/relationships" id="260" r:id="R00f6595744194614"/>
    <p:sldId xmlns:r="http://schemas.openxmlformats.org/officeDocument/2006/relationships" id="261" r:id="Rcdd91344865547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38ab3b557a4a84" /><Relationship Type="http://schemas.openxmlformats.org/officeDocument/2006/relationships/slideMaster" Target="/ppt/slideMasters/slideMaster1.xml" Id="R9ed27fc3571e46dd" /><Relationship Type="http://schemas.openxmlformats.org/officeDocument/2006/relationships/notesMaster" Target="/ppt/notesMasters/notesMaster1.xml" Id="R819f3fa4584f4242" /><Relationship Type="http://schemas.openxmlformats.org/officeDocument/2006/relationships/presProps" Target="/ppt/presProps.xml" Id="R80d44b0808294b1c" /><Relationship Type="http://schemas.openxmlformats.org/officeDocument/2006/relationships/tableStyles" Target="/ppt/tableStyles.xml" Id="R6fbd9347331e4120" /><Relationship Type="http://schemas.openxmlformats.org/officeDocument/2006/relationships/slide" Target="/ppt/slides/slide1.xml" Id="R4d2d4995e6854bce" /><Relationship Type="http://schemas.openxmlformats.org/officeDocument/2006/relationships/slide" Target="/ppt/slides/slide2.xml" Id="Rcad305a8de62491d" /><Relationship Type="http://schemas.openxmlformats.org/officeDocument/2006/relationships/slide" Target="/ppt/slides/slide3.xml" Id="Re9e85ca6867f4941" /><Relationship Type="http://schemas.openxmlformats.org/officeDocument/2006/relationships/slide" Target="/ppt/slides/slide4.xml" Id="R818faacc56e24c32" /><Relationship Type="http://schemas.openxmlformats.org/officeDocument/2006/relationships/slide" Target="/ppt/slides/slide5.xml" Id="R00f6595744194614" /><Relationship Type="http://schemas.openxmlformats.org/officeDocument/2006/relationships/slide" Target="/ppt/slides/slide6.xml" Id="Rcdd91344865547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455c4e6f4547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c5607d24e74e32" /><Relationship Type="http://schemas.openxmlformats.org/officeDocument/2006/relationships/notesMaster" Target="/ppt/notesMasters/notesMaster1.xml" Id="Rbeeeba211f7c4f1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07a9cc320a40de" /><Relationship Type="http://schemas.openxmlformats.org/officeDocument/2006/relationships/notesMaster" Target="/ppt/notesMasters/notesMaster1.xml" Id="R8b1767e2427c45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a2a2bd87ed491d" /><Relationship Type="http://schemas.openxmlformats.org/officeDocument/2006/relationships/notesMaster" Target="/ppt/notesMasters/notesMaster1.xml" Id="R6924d1ac80a44b5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445295045d4e3f" /><Relationship Type="http://schemas.openxmlformats.org/officeDocument/2006/relationships/notesMaster" Target="/ppt/notesMasters/notesMaster1.xml" Id="R5a00b368b56f40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023b387d27433e" /><Relationship Type="http://schemas.openxmlformats.org/officeDocument/2006/relationships/notesMaster" Target="/ppt/notesMasters/notesMaster1.xml" Id="Re4b8b115e68840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21cdc5390042f3" /><Relationship Type="http://schemas.openxmlformats.org/officeDocument/2006/relationships/notesMaster" Target="/ppt/notesMasters/notesMaster1.xml" Id="Rc94a9cba771a4c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MPLADS-GUARD. Team: Quantum Coders. Event: Smart India Hackathon 2026. Problem Statement ID: SIH26102 (numeric ID 26102). Theme: Smart Automation. PS category: Software.</a:t>
            </a:r>
          </a:p>
          <a:p xmlns:a="http://schemas.openxmlformats.org/drawingml/2006/main">
            <a:r>
              <a:t>Official title supplied in the project: Development of an AI-powered system to detect anomalies, fraud, and inefficiencies in MPLAD Scheme implementation regd.</a:t>
            </a:r>
          </a:p>
          <a:p xmlns:a="http://schemas.openxmlformats.org/drawingml/2006/main">
            <a:r>
              <a:t>MPLADS means Members of Parliament Local Area Development Scheme. The platform concept covers approvals and sanctions, expenditure, cost estimates, payments, work progress, completion status and asset evidence. It serves Members of Parliament, State Nodal Authorities, District Authorities and the Ministry.</a:t>
            </a:r>
          </a:p>
          <a:p xmlns:a="http://schemas.openxmlformats.org/drawingml/2006/main">
            <a:r>
              <a:t>Source: user-supplied project PDF, page 1; project Problem statement.txt. Project status here is a proposed solution overview. Team ID was not supplied.</a:t>
            </a:r>
          </a:p>
          <a:p xmlns:a="http://schemas.openxmlformats.org/drawingml/2006/main">
            <a:r>
              <a:t>The cover artwork is a conceptual illustration generated for the presentation, not evidence of a real project or inspection. SIH2026-IDEA-Presentation-Format.pptx supplies the event identity and content categories.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a:t>
            </a:r>
          </a:p>
          <a:p xmlns:a="http://schemas.openxmlformats.org/drawingml/2006/main">
            <a:r>
              <a:t>Manual tracking of financial and project records at scheme scale creates oversight gaps. The proposal translates broad notions of fraud and inefficiency into concrete, computable signals. A flagged anomaly is a reason to investigate, not a legal finding of fraud.</a:t>
            </a:r>
          </a:p>
          <a:p xmlns:a="http://schemas.openxmlformats.org/drawingml/2006/main">
            <a:r>
              <a:t>March Rush: identify unusually fast or unverified expenditure before the end of the financial year. MPLADS funds are non-lapsable, so this signal should measure unusual behavior rather than assume funds must be spent by year end.</a:t>
            </a:r>
          </a:p>
          <a:p xmlns:a="http://schemas.openxmlformats.org/drawingml/2006/main">
            <a:r>
              <a:t>Ghost assets: projects marked completed without verifiable geotagged proof.</a:t>
            </a:r>
          </a:p>
          <a:p xmlns:a="http://schemas.openxmlformats.org/drawingml/2006/main">
            <a:r>
              <a:t>Duplicate assets and billing: compare work descriptions, invoices, vendor records and geospatial proximity.</a:t>
            </a:r>
          </a:p>
          <a:p xmlns:a="http://schemas.openxmlformats.org/drawingml/2006/main">
            <a:r>
              <a:t>Compliance gaps: monitor SC and ST allocation rules independently and version the thresholds to the applicable guidelines. The source PDF states a combined 15% SC/ST quota; its intended allocation-compliance feature is retained. The 15% SC and 7.5% ST benchmarks appear separately in official MPLADS reference material; verify the applicable 2023 guideline and amendments before activating compliance rules.</a:t>
            </a:r>
          </a:p>
          <a:p xmlns:a="http://schemas.openxmlformats.org/drawingml/2006/main">
            <a:r>
              <a:t>Skewed utility: funds concentrated on a single asset type can warrant assessment against local needs. Concentration alone does not establish misuse.</a:t>
            </a:r>
          </a:p>
          <a:p xmlns:a="http://schemas.openxmlformats.org/drawingml/2006/main">
            <a:r>
              <a:t>SOLUTION AND DISTINCTIVENESS</a:t>
            </a:r>
          </a:p>
          <a:p xmlns:a="http://schemas.openxmlformats.org/drawingml/2006/main">
            <a:r>
              <a:t>Raw government data enters a rule engine and AI/ML analysis stage. Computable signals feed anomaly flags and dashboards. Historical financial behavior supports detection of vendor favoritism, March Rush and other outliers. Cross-verification of images, coordinates and invoices supports review of ghost and duplicate works. Alerts cover SC/ST allocation drops and mid-project cost overruns, with timeliness dependent on incoming data.</a:t>
            </a:r>
          </a:p>
          <a:p xmlns:a="http://schemas.openxmlformats.org/drawingml/2006/main">
            <a:r>
              <a:t>Key value proposition: prevent financial leakage from ghost works and inflated costs, make portal data understandable and support eventual nationwide scale. These are intended benefits to validate, not measured outcomes.</a:t>
            </a:r>
          </a:p>
          <a:p xmlns:a="http://schemas.openxmlformats.org/drawingml/2006/main">
            <a:r>
              <a:t>Source: user-supplied project PDF, page 2. Supporting government context: https://mplads.gov.in/ and https://mplads.gov.in/MPLADS/En/2034.aspx. CAG historical performance audit: https://cag.gov.in/en/audit-report/details/2341.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 ARCHITECTURE</a:t>
            </a:r>
          </a:p>
          <a:p xmlns:a="http://schemas.openxmlformats.org/drawingml/2006/main">
            <a:r>
              <a:t>Client and UI: React.js administrative dashboard, live risk heatmaps and charts. The client sends API requests and receives JSON responses.</a:t>
            </a:r>
          </a:p>
          <a:p xmlns:a="http://schemas.openxmlformats.org/drawingml/2006/main">
            <a:r>
              <a:t>API gateway: FastAPI implements authentication, routing and REST API endpoints. FastAPI handles requests for source records, sends normalized records to Python analytics services and returns risk flags to the client. The Python API service also manages data access and returns evidence for each alert.</a:t>
            </a:r>
          </a:p>
          <a:p xmlns:a="http://schemas.openxmlformats.org/drawingml/2006/main">
            <a:r>
              <a:t>Database: MongoDB retains invoices, tenders, relevant project records and analytics results. Authorized records are fetched for processing.</a:t>
            </a:r>
          </a:p>
          <a:p xmlns:a="http://schemas.openxmlformats.org/drawingml/2006/main">
            <a:r>
              <a:t>AI/ML core: Pandas data cleansing, feature engineering for March Rush and geotags, inference using Isolation Forest and other scikit-learn models, and a risk-scoring matrix with high, medium and low tiers.</a:t>
            </a:r>
          </a:p>
          <a:p xmlns:a="http://schemas.openxmlformats.org/drawingml/2006/main">
            <a:r>
              <a:t>DETAILED AI/ML PIPELINE</a:t>
            </a:r>
          </a:p>
          <a:p xmlns:a="http://schemas.openxmlformats.org/drawingml/2006/main">
            <a:r>
              <a:t>1. Ingestion and cleansing: raw financial logs comprising invoices and tenders; Pandas pipeline for missing-value imputation and normalization.</a:t>
            </a:r>
          </a:p>
          <a:p xmlns:a="http://schemas.openxmlformats.org/drawingml/2006/main">
            <a:r>
              <a:t>2. Advanced feature engineering: spatial coordinate verifier for geotag proximity and matches; financial ratio matrix for cost overruns and deficit ratios; time-series extractor for March Rush spending velocity.</a:t>
            </a:r>
          </a:p>
          <a:p xmlns:a="http://schemas.openxmlformats.org/drawingml/2006/main">
            <a:r>
              <a:t>3. Multi-model inference: vector similarity matcher for duplicate invoices and vendor checks; Isolation Forest for unsupervised outliers; a Random Forest classifier retained as a candidate for labeled case classification. Explicit scheme compliance remains in a deterministic rule engine.</a:t>
            </a:r>
          </a:p>
          <a:p xmlns:a="http://schemas.openxmlformats.org/drawingml/2006/main">
            <a:r>
              <a:t>4. Risk aggregation and scoring: a weighted risk engine combines the signals. A configurable dynamic threshold matrix assigns high, medium or low risk with supporting evidence.</a:t>
            </a:r>
          </a:p>
          <a:p xmlns:a="http://schemas.openxmlformats.org/drawingml/2006/main">
            <a:r>
              <a:t>Technology list: Python, TensorFlow, NumPy, Pandas, scikit-learn, MongoDB, FastAPI and React.js. TensorFlow remains in the proposed AI toolkit. Supervised models depend on suitable verified labels and evaluation.</a:t>
            </a:r>
          </a:p>
          <a:p xmlns:a="http://schemas.openxmlformats.org/drawingml/2006/main">
            <a:r>
              <a:t>DATA SOURCES</a:t>
            </a:r>
          </a:p>
          <a:p xmlns:a="http://schemas.openxmlformats.org/drawingml/2006/main">
            <a:r>
              <a:t>MPLADS portal: allocations, MP recommendations and expenditure reports.</a:t>
            </a:r>
          </a:p>
          <a:p xmlns:a="http://schemas.openxmlformats.org/drawingml/2006/main">
            <a:r>
              <a:t>PFMS: proposed authorized digital transaction trails and vendor-payment records. Access is a project dependency, not an established integration.</a:t>
            </a:r>
          </a:p>
          <a:p xmlns:a="http://schemas.openxmlformats.org/drawingml/2006/main">
            <a:r>
              <a:t>Geospatial records: district maps, coordinates and geotagged asset logs.</a:t>
            </a:r>
          </a:p>
          <a:p xmlns:a="http://schemas.openxmlformats.org/drawingml/2006/main">
            <a:r>
              <a:t>Source: user-supplied PDF, page 3 (both architecture diagrams and technology list) and page 6. Documentation: https://fastapi.tiangolo.com/features/ and https://scikit-learn.org/stable/modules/generated/sklearn.ensemble.IsolationForest.html. Data source references: https://mplads.gov.in/ and https://pfms.nic.in/.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RISK ASSESSMENT AND MITIGATION</a:t>
            </a:r>
          </a:p>
          <a:p xmlns:a="http://schemas.openxmlformats.org/drawingml/2006/main">
            <a:r>
              <a:t>Data transparency risk: district expenditure reports can be vague or delayed. Proposed mitigation is automated invoice and tender ingestion through the FastAPI backend, with schema and freshness checks. Automation cannot recover evidence that authorities do not provide. Near-real-time monitoring requires suitably timely authorized feeds.</a:t>
            </a:r>
          </a:p>
          <a:p xmlns:a="http://schemas.openxmlformats.org/drawingml/2006/main">
            <a:r>
              <a:t>Auditing bottlenecks: manual auditing is costly and creates oversight lags. Isolation Forest and automated anomaly screening prioritize suspicious cases and reduce repetitive manual work. Physical inspections remain appropriate when documentary evidence is insufficient.</a:t>
            </a:r>
          </a:p>
          <a:p xmlns:a="http://schemas.openxmlformats.org/drawingml/2006/main">
            <a:r>
              <a:t>False positives and credibility: reviewers may question whether a flagged case indicates corruption. A multi-tier risk scoring matrix should expose verifiable district-level evidence. Human investigation determines whether a flag reflects genuine misuse.</a:t>
            </a:r>
          </a:p>
          <a:p xmlns:a="http://schemas.openxmlformats.org/drawingml/2006/main">
            <a:r>
              <a:t>TECHNICAL FEASIBILITY</a:t>
            </a:r>
          </a:p>
          <a:p xmlns:a="http://schemas.openxmlformats.org/drawingml/2006/main">
            <a:r>
              <a:t>React.js UI, FastAPI APIs and MongoDB persistence form the application. Python analytics services use Pandas for cleansing and scikit-learn for financial behavior modeling. NumPy supports numeric processing; TensorFlow is retained for advanced model work. REST interfaces connect the components. Secure cloud architecture targets nationwide district transaction volumes, subject to load and security testing.</a:t>
            </a:r>
          </a:p>
          <a:p xmlns:a="http://schemas.openxmlformats.org/drawingml/2006/main">
            <a:r>
              <a:t>RESOURCE REQUIREMENTS</a:t>
            </a:r>
          </a:p>
          <a:p xmlns:a="http://schemas.openxmlformats.org/drawingml/2006/main">
            <a:r>
              <a:t>Backend and database hosting, with AWS or Render among the original deployment options. Vercel can host the React frontend. The UI needs responsive dashboard components, charting libraries and live risk heatmaps.</a:t>
            </a:r>
          </a:p>
          <a:p xmlns:a="http://schemas.openxmlformats.org/drawingml/2006/main">
            <a:r>
              <a:t>ECONOMIC APPROACH</a:t>
            </a:r>
          </a:p>
          <a:p xmlns:a="http://schemas.openxmlformats.org/drawingml/2006/main">
            <a:r>
              <a:t>Administrative cost efficiency: reduce physical audit delays, paperwork and bureaucratic burden for district authorities.</a:t>
            </a:r>
          </a:p>
          <a:p xmlns:a="http://schemas.openxmlformats.org/drawingml/2006/main">
            <a:r>
              <a:t>Optimized public spending: identify suspicious year-end spending and ghost projects to reduce avoidable loss. The original proposal expresses potential savings in crores, but provides no quantified evaluation; that ambition is unvalidated.</a:t>
            </a:r>
          </a:p>
          <a:p xmlns:a="http://schemas.openxmlformats.org/drawingml/2006/main">
            <a:r>
              <a:t>National scalability and SaaS potential: adapt the platform for other ministries, states and enterprise governance use cases.</a:t>
            </a:r>
          </a:p>
          <a:p xmlns:a="http://schemas.openxmlformats.org/drawingml/2006/main">
            <a:r>
              <a:t>Source: user-supplied PDF, page 4 and technical documentation section on page 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IMPACT AND BENEFITS</a:t>
            </a:r>
          </a:p>
          <a:p xmlns:a="http://schemas.openxmlformats.org/drawingml/2006/main">
            <a:r>
              <a:t>Governance and transparency: reduce information asymmetry between central authorities, local districts and citizens with a shared, traceable view of fund use and project progress.</a:t>
            </a:r>
          </a:p>
          <a:p xmlns:a="http://schemas.openxmlformats.org/drawingml/2006/main">
            <a:r>
              <a:t>Economic and financial impact: prevent avoidable loss from suspicious March Rush spending, ghost-project funding and misallocation. Financial savings require measurement in a pilot.</a:t>
            </a:r>
          </a:p>
          <a:p xmlns:a="http://schemas.openxmlformats.org/drawingml/2006/main">
            <a:r>
              <a:t>Operational impact: the source proposal targets 100% automated screening to replace slow sample-based monitoring. The practical target is to screen all ingested eligible digital records, issue timely alerts and support prioritized human or physical audits. This is not a claim of 100% fraud-detection accuracy or a measured result.</a:t>
            </a:r>
          </a:p>
          <a:p xmlns:a="http://schemas.openxmlformats.org/drawingml/2006/main">
            <a:r>
              <a:t>National and community impact: strengthen grassroots infrastructure and ensure that MPLADS spending benefits intended communities. The objective is financial transparency and greater public welfare.</a:t>
            </a:r>
          </a:p>
          <a:p xmlns:a="http://schemas.openxmlformats.org/drawingml/2006/main">
            <a:r>
              <a:t>FUTURE PROSPECTS</a:t>
            </a:r>
          </a:p>
          <a:p xmlns:a="http://schemas.openxmlformats.org/drawingml/2006/main">
            <a:r>
              <a:t>1. Cross-scheme scalability: adapt the architecture beyond MPLADS to MGNREGA, PMGSY (Pradhan Mantri Gram Sadak Yojana) and other central and state welfare schemes.</a:t>
            </a:r>
          </a:p>
          <a:p xmlns:a="http://schemas.openxmlformats.org/drawingml/2006/main">
            <a:r>
              <a:t>2. Predictive AI: advanced time-series models to forecast budget deficits and fund overruns.</a:t>
            </a:r>
          </a:p>
          <a:p xmlns:a="http://schemas.openxmlformats.org/drawingml/2006/main">
            <a:r>
              <a:t>3. Blockchain integration: explore immutable vendor-invoice logging to improve traceability and resistance to tampering. Such a ledger does not independently prove input truth or eliminate every duplicate.</a:t>
            </a:r>
          </a:p>
          <a:p xmlns:a="http://schemas.openxmlformats.org/drawingml/2006/main">
            <a:r>
              <a:t>4. Citizen mobile app: crowdsource geotagged inspections of local public assets.</a:t>
            </a:r>
          </a:p>
          <a:p xmlns:a="http://schemas.openxmlformats.org/drawingml/2006/main">
            <a:r>
              <a:t>5. Automated policy recommendations: use historical anomaly patterns to suggest improved compliance guidelines for ministry review.</a:t>
            </a:r>
          </a:p>
          <a:p xmlns:a="http://schemas.openxmlformats.org/drawingml/2006/main">
            <a:r>
              <a:t>RESEARCH AND REFERENCES</a:t>
            </a:r>
          </a:p>
          <a:p xmlns:a="http://schemas.openxmlformats.org/drawingml/2006/main">
            <a:r>
              <a:t>Supporting research: CAG performance audit reports motivate attention to fund slippages, delays and unutilized allocations. Historical MPLADS audit example: Report No. 31 of 2010, tabled 18 March 2011. https://cag.gov.in/en/audit-report/details/2341</a:t>
            </a:r>
          </a:p>
          <a:p xmlns:a="http://schemas.openxmlformats.org/drawingml/2006/main">
            <a:r>
              <a:t>Academic research areas retained from the source: automated fraud detection, GovTech, public financial management systems (PFMS), and unsupervised anomaly detection in the public sector. The original PDF provides no individual paper titles, so no specific paper is claimed as reviewed.</a:t>
            </a:r>
          </a:p>
          <a:p xmlns:a="http://schemas.openxmlformats.org/drawingml/2006/main">
            <a:r>
              <a:t>Data sources: MPLADS allocations, recommendations and expenditure reporting (https://mplads.gov.in/); proposed authorized PFMS transaction trails and vendor-payment records (https://pfms.nic.in/); district maps, coordinates and geotagged asset logs.</a:t>
            </a:r>
          </a:p>
          <a:p xmlns:a="http://schemas.openxmlformats.org/drawingml/2006/main">
            <a:r>
              <a:t>Market research hypotheses: state and central ministries need transparency tools; broader digital coverage could improve on manual sampling; the same approach could apply across schemes. These represent proposed demand and efficiency hypotheses, not a completed market study.</a:t>
            </a:r>
          </a:p>
          <a:p xmlns:a="http://schemas.openxmlformats.org/drawingml/2006/main">
            <a:r>
              <a:t>Technical references: Python analytics with Pandas, NumPy, scikit-learn and TensorFlow; React.js UI, MongoDB data storage and FastAPI REST microservices. FastAPI documentation: https://fastapi.tiangolo.com/features/. Isolation Forest documentation: https://scikit-learn.org/stable/modules/generated/sklearn.ensemble.IsolationForest.html. Official MPLADS guidelines landing page: https://mplads.gov.in/MPLADS/En/2034.aspx.</a:t>
            </a:r>
          </a:p>
          <a:p xmlns:a="http://schemas.openxmlformats.org/drawingml/2006/main">
            <a:r>
              <a:t>Source content: user-supplied PDF, pages 5 and 6. All roadmap items are proposed, not implemented capabilities.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a:t>
            </a:r>
          </a:p>
          <a:p xmlns:a="http://schemas.openxmlformats.org/drawingml/2006/main">
            <a:r>
              <a:t>Registered team name: Quantum Coders. College: F.E.T Agra College Agra. Team Leader: Krish Sehgal.</a:t>
            </a:r>
          </a:p>
          <a:p xmlns:a="http://schemas.openxmlformats.org/drawingml/2006/main">
            <a:r>
              <a:t>Surya Pratap Singh Bais; roll 2500020100118; suryasinghbais@gmail.com; CSE, 2nd year.</a:t>
            </a:r>
          </a:p>
          <a:p xmlns:a="http://schemas.openxmlformats.org/drawingml/2006/main">
            <a:r>
              <a:t>Aqsa Mushir; roll 2400020100016; aqsamushir@gmail.com; CSE, 3rd year.</a:t>
            </a:r>
          </a:p>
          <a:p xmlns:a="http://schemas.openxmlformats.org/drawingml/2006/main">
            <a:r>
              <a:t>Shahin Khan; roll 2400020100092; shahin01cse@gmail.com; CSE, 3rd year.</a:t>
            </a:r>
          </a:p>
          <a:p xmlns:a="http://schemas.openxmlformats.org/drawingml/2006/main">
            <a:r>
              <a:t>Raj Prajapati; roll 2300020100061; rajt65800@gmail.com; CSE, 4th year.</a:t>
            </a:r>
          </a:p>
          <a:p xmlns:a="http://schemas.openxmlformats.org/drawingml/2006/main">
            <a:r>
              <a:t>Krish Sehgal; roll 2300020100043; krishsehgal08@gmail.com; CSE, 4th year.</a:t>
            </a:r>
          </a:p>
          <a:p xmlns:a="http://schemas.openxmlformats.org/drawingml/2006/main">
            <a:r>
              <a:t>Vishal Sharma; roll 2300020100079; vishal.sept05@gmail.com; CSE, 4th year.</a:t>
            </a:r>
          </a:p>
          <a:p xmlns:a="http://schemas.openxmlformats.org/drawingml/2006/main">
            <a:r>
              <a:t>Source: user-supplied project PDF, page 7. Logo: original artwork embedded in SIH2026-IDEA-Presentation-Format.pptx.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2173fb9afc4d5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ce5f76caa6497a" /><Relationship Type="http://schemas.openxmlformats.org/officeDocument/2006/relationships/slideLayout" Target="/ppt/slideLayouts/slideLayout1.xml" Id="R6aa886e93a64429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a886e93a64429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d28311735054a8f" /><Relationship Type="http://schemas.openxmlformats.org/officeDocument/2006/relationships/image" Target="/ppt/media/image.png" Id="Rce6c15396c894c17" /><Relationship Type="http://schemas.openxmlformats.org/officeDocument/2006/relationships/notesSlide" Target="/ppt/notesSlides/notesSlide1.xml" Id="R405c6732afce47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258f6c373a54d53" /><Relationship Type="http://schemas.openxmlformats.org/officeDocument/2006/relationships/image" Target="/ppt/media/image2.png" Id="R0162393b4b554b47" /><Relationship Type="http://schemas.openxmlformats.org/officeDocument/2006/relationships/notesSlide" Target="/ppt/notesSlides/notesSlide2.xml" Id="R0531ac50814941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8f305ef64934d89" /><Relationship Type="http://schemas.openxmlformats.org/officeDocument/2006/relationships/image" Target="/ppt/media/image3.png" Id="R7ba6aaeba79e4928" /><Relationship Type="http://schemas.openxmlformats.org/officeDocument/2006/relationships/notesSlide" Target="/ppt/notesSlides/notesSlide3.xml" Id="Ra5304cc370ab45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7729ffa5ff2409a" /><Relationship Type="http://schemas.openxmlformats.org/officeDocument/2006/relationships/image" Target="/ppt/media/image4.png" Id="R8f5b386db3fa4c14" /><Relationship Type="http://schemas.openxmlformats.org/officeDocument/2006/relationships/notesSlide" Target="/ppt/notesSlides/notesSlide4.xml" Id="R8ec73a11b84c42c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d5ee6d56e2e40a4" /><Relationship Type="http://schemas.openxmlformats.org/officeDocument/2006/relationships/image" Target="/ppt/media/image5.png" Id="Rc5c91463b6ee479a" /><Relationship Type="http://schemas.openxmlformats.org/officeDocument/2006/relationships/hyperlink" Target="https://cag.gov.in/en/audit-report/details/2341" TargetMode="External" Id="R851125cec80a421d" /><Relationship Type="http://schemas.openxmlformats.org/officeDocument/2006/relationships/hyperlink" Target="https://mplads.gov.in/" TargetMode="External" Id="R9079a913c3004e15" /><Relationship Type="http://schemas.openxmlformats.org/officeDocument/2006/relationships/hyperlink" Target="https://fastapi.tiangolo.com/features/" TargetMode="External" Id="R928696254b664e19" /><Relationship Type="http://schemas.openxmlformats.org/officeDocument/2006/relationships/notesSlide" Target="/ppt/notesSlides/notesSlide5.xml" Id="R4214e730340a4f9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a8114af52164a99" /><Relationship Type="http://schemas.openxmlformats.org/officeDocument/2006/relationships/image" Target="/ppt/media/image6.png" Id="R5128ddd5c0504eef" /><Relationship Type="http://schemas.openxmlformats.org/officeDocument/2006/relationships/notesSlide" Target="/ppt/notesSlides/notesSlide6.xml" Id="R6e7a781ac1524ea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MART INDIA HACKATHON 2026">
            <a:extLst xmlns:a="http://schemas.openxmlformats.org/drawingml/2006/main">
              <a:ext uri="{FF2B5EF4-FFF2-40B4-BE49-F238E27FC236}">
                <a16:creationId xmlns:a16="http://schemas.microsoft.com/office/drawing/2014/main" id="{0F2292AE-149A-4409-94E4-7612B9315566}"/>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SMART INDIA HACKATHON 2026</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e6c15396c894c17"/>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2D121AE-B4BC-4513-80C4-6DF3E54429CD}"/>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4" name="Quantum Coders">
            <a:extLst xmlns:a="http://schemas.openxmlformats.org/drawingml/2006/main">
              <a:ext uri="{FF2B5EF4-FFF2-40B4-BE49-F238E27FC236}">
                <a16:creationId xmlns:a16="http://schemas.microsoft.com/office/drawing/2014/main" id="{7739DAE3-A65F-443D-8C9A-0411558C84EF}"/>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5" name="Smart India Hackathon 2026">
            <a:extLst xmlns:a="http://schemas.openxmlformats.org/drawingml/2006/main">
              <a:ext uri="{FF2B5EF4-FFF2-40B4-BE49-F238E27FC236}">
                <a16:creationId xmlns:a16="http://schemas.microsoft.com/office/drawing/2014/main" id="{B61C43E6-A36A-4751-A239-64178D4009FD}"/>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6" name="1 / 6">
            <a:extLst xmlns:a="http://schemas.openxmlformats.org/drawingml/2006/main">
              <a:ext uri="{FF2B5EF4-FFF2-40B4-BE49-F238E27FC236}">
                <a16:creationId xmlns:a16="http://schemas.microsoft.com/office/drawing/2014/main" id="{8B1A05D2-D53B-4E9C-852E-1263BFBDC313}"/>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1 / 6</a:t>
            </a:r>
          </a:p>
        </p:txBody>
      </p:sp>
      <p:sp>
        <p:nvSpPr>
          <p:cNvPr id="7" name="MPLADS-GUARD">
            <a:extLst xmlns:a="http://schemas.openxmlformats.org/drawingml/2006/main">
              <a:ext uri="{FF2B5EF4-FFF2-40B4-BE49-F238E27FC236}">
                <a16:creationId xmlns:a16="http://schemas.microsoft.com/office/drawing/2014/main" id="{7B191E3B-3C0C-4849-8929-C9A5146F7AE5}"/>
              </a:ext>
            </a:extLst>
          </p:cNvPr>
          <p:cNvSpPr>
            <a:spLocks xmlns:a="http://schemas.openxmlformats.org/drawingml/2006/main" noGrp="1"/>
          </p:cNvSpPr>
          <p:nvPr/>
        </p:nvSpPr>
        <p:spPr>
          <a:xfrm xmlns:a="http://schemas.openxmlformats.org/drawingml/2006/main">
            <a:off x="586740" y="1463040"/>
            <a:ext cx="10668000" cy="739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80" b="1">
                <a:solidFill>
                  <a:srgbClr val="234F83"/>
                </a:solidFill>
                <a:latin typeface="Calibri"/>
                <a:ea typeface="Calibri"/>
                <a:cs typeface="Calibri"/>
              </a:defRPr>
            </a:pPr>
            <a:r>
              <a:rPr sz="4380" b="1">
                <a:solidFill>
                  <a:srgbClr val="234F83"/>
                </a:solidFill>
                <a:latin typeface="Calibri"/>
                <a:ea typeface="Calibri"/>
                <a:cs typeface="Calibri"/>
              </a:rPr>
              <a:t>MPLADS-GUARD</a:t>
            </a:r>
          </a:p>
        </p:txBody>
      </p:sp>
      <p:sp>
        <p:nvSpPr>
          <p:cNvPr id="8" name="AI-driven anomaly detection for government funds">
            <a:extLst xmlns:a="http://schemas.openxmlformats.org/drawingml/2006/main">
              <a:ext uri="{FF2B5EF4-FFF2-40B4-BE49-F238E27FC236}">
                <a16:creationId xmlns:a16="http://schemas.microsoft.com/office/drawing/2014/main" id="{FD9DFABD-34AF-4FBB-B3BF-6EFBDBD4CDEA}"/>
              </a:ext>
            </a:extLst>
          </p:cNvPr>
          <p:cNvSpPr>
            <a:spLocks xmlns:a="http://schemas.openxmlformats.org/drawingml/2006/main" noGrp="1"/>
          </p:cNvSpPr>
          <p:nvPr/>
        </p:nvSpPr>
        <p:spPr>
          <a:xfrm xmlns:a="http://schemas.openxmlformats.org/drawingml/2006/main">
            <a:off x="617220" y="217932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40" b="0">
                <a:solidFill>
                  <a:srgbClr val="162B3B"/>
                </a:solidFill>
                <a:latin typeface="Calibri"/>
                <a:ea typeface="Calibri"/>
                <a:cs typeface="Calibri"/>
              </a:defRPr>
            </a:pPr>
            <a:r>
              <a:rPr sz="2040" b="0">
                <a:solidFill>
                  <a:srgbClr val="162B3B"/>
                </a:solidFill>
                <a:latin typeface="Calibri"/>
                <a:ea typeface="Calibri"/>
                <a:cs typeface="Calibri"/>
              </a:rPr>
              <a:t>AI-driven anomaly detection for government funds</a:t>
            </a:r>
          </a:p>
        </p:txBody>
      </p:sp>
      <p:sp>
        <p:nvSpPr>
          <p:cNvPr id="9" name="Problem Statement ID">
            <a:extLst xmlns:a="http://schemas.openxmlformats.org/drawingml/2006/main">
              <a:ext uri="{FF2B5EF4-FFF2-40B4-BE49-F238E27FC236}">
                <a16:creationId xmlns:a16="http://schemas.microsoft.com/office/drawing/2014/main" id="{88D687C9-0A65-4BB7-B91A-52B87AC49BF9}"/>
              </a:ext>
            </a:extLst>
          </p:cNvPr>
          <p:cNvSpPr>
            <a:spLocks xmlns:a="http://schemas.openxmlformats.org/drawingml/2006/main" noGrp="1"/>
          </p:cNvSpPr>
          <p:nvPr/>
        </p:nvSpPr>
        <p:spPr>
          <a:xfrm xmlns:a="http://schemas.openxmlformats.org/drawingml/2006/main">
            <a:off x="624840" y="2895600"/>
            <a:ext cx="2971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Problem Statement ID</a:t>
            </a:r>
          </a:p>
        </p:txBody>
      </p:sp>
      <p:sp>
        <p:nvSpPr>
          <p:cNvPr id="10" name="SIH26102">
            <a:extLst xmlns:a="http://schemas.openxmlformats.org/drawingml/2006/main">
              <a:ext uri="{FF2B5EF4-FFF2-40B4-BE49-F238E27FC236}">
                <a16:creationId xmlns:a16="http://schemas.microsoft.com/office/drawing/2014/main" id="{5353F9F2-4EEA-4A4A-82D7-B7878566E7D1}"/>
              </a:ext>
            </a:extLst>
          </p:cNvPr>
          <p:cNvSpPr>
            <a:spLocks xmlns:a="http://schemas.openxmlformats.org/drawingml/2006/main" noGrp="1"/>
          </p:cNvSpPr>
          <p:nvPr/>
        </p:nvSpPr>
        <p:spPr>
          <a:xfrm xmlns:a="http://schemas.openxmlformats.org/drawingml/2006/main">
            <a:off x="3764280" y="2895600"/>
            <a:ext cx="75438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1">
                <a:solidFill>
                  <a:srgbClr val="162B3B"/>
                </a:solidFill>
                <a:latin typeface="Calibri"/>
                <a:ea typeface="Calibri"/>
                <a:cs typeface="Calibri"/>
              </a:defRPr>
            </a:pPr>
            <a:r>
              <a:rPr sz="1920" b="1">
                <a:solidFill>
                  <a:srgbClr val="162B3B"/>
                </a:solidFill>
                <a:latin typeface="Calibri"/>
                <a:ea typeface="Calibri"/>
                <a:cs typeface="Calibri"/>
              </a:rPr>
              <a:t>SIH26102</a:t>
            </a:r>
          </a:p>
        </p:txBody>
      </p:sp>
      <p:sp>
        <p:nvSpPr>
          <p:cNvPr id="11" name="Problem Statement Title">
            <a:extLst xmlns:a="http://schemas.openxmlformats.org/drawingml/2006/main">
              <a:ext uri="{FF2B5EF4-FFF2-40B4-BE49-F238E27FC236}">
                <a16:creationId xmlns:a16="http://schemas.microsoft.com/office/drawing/2014/main" id="{F7F19F23-05C7-47AE-BB9B-202F64B944CF}"/>
              </a:ext>
            </a:extLst>
          </p:cNvPr>
          <p:cNvSpPr>
            <a:spLocks xmlns:a="http://schemas.openxmlformats.org/drawingml/2006/main" noGrp="1"/>
          </p:cNvSpPr>
          <p:nvPr/>
        </p:nvSpPr>
        <p:spPr>
          <a:xfrm xmlns:a="http://schemas.openxmlformats.org/drawingml/2006/main">
            <a:off x="624840" y="3398520"/>
            <a:ext cx="312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Problem Statement Title</a:t>
            </a:r>
          </a:p>
        </p:txBody>
      </p:sp>
      <p:sp>
        <p:nvSpPr>
          <p:cNvPr id="12" name="Development of an AI-powered system to detect anomalies">
            <a:extLst xmlns:a="http://schemas.openxmlformats.org/drawingml/2006/main">
              <a:ext uri="{FF2B5EF4-FFF2-40B4-BE49-F238E27FC236}">
                <a16:creationId xmlns:a16="http://schemas.microsoft.com/office/drawing/2014/main" id="{F7B5077A-F22C-4149-9691-2F0C5DFB43A9}"/>
              </a:ext>
            </a:extLst>
          </p:cNvPr>
          <p:cNvSpPr>
            <a:spLocks xmlns:a="http://schemas.openxmlformats.org/drawingml/2006/main" noGrp="1"/>
          </p:cNvSpPr>
          <p:nvPr/>
        </p:nvSpPr>
        <p:spPr>
          <a:xfrm xmlns:a="http://schemas.openxmlformats.org/drawingml/2006/main">
            <a:off x="3764280" y="3398520"/>
            <a:ext cx="7772400" cy="853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62B3B"/>
                </a:solidFill>
                <a:latin typeface="Calibri"/>
                <a:ea typeface="Calibri"/>
                <a:cs typeface="Calibri"/>
              </a:defRPr>
            </a:pPr>
            <a:r>
              <a:rPr sz="1800" b="0">
                <a:solidFill>
                  <a:srgbClr val="162B3B"/>
                </a:solidFill>
                <a:latin typeface="Calibri"/>
                <a:ea typeface="Calibri"/>
                <a:cs typeface="Calibri"/>
              </a:rPr>
              <a:t>Development of an AI-powered system to detect anomalies, fraud,</a:t>
            </a:r>
          </a:p>
          <a:p xmlns:a="http://schemas.openxmlformats.org/drawingml/2006/main">
            <a:pPr>
              <a:defRPr sz="1800" b="0">
                <a:solidFill>
                  <a:srgbClr val="162B3B"/>
                </a:solidFill>
                <a:latin typeface="Calibri"/>
                <a:ea typeface="Calibri"/>
                <a:cs typeface="Calibri"/>
              </a:defRPr>
            </a:pPr>
            <a:r>
              <a:rPr sz="1800" b="0">
                <a:solidFill>
                  <a:srgbClr val="162B3B"/>
                </a:solidFill>
                <a:latin typeface="Calibri"/>
                <a:ea typeface="Calibri"/>
                <a:cs typeface="Calibri"/>
              </a:rPr>
              <a:t>and inefficiencies in MPLAD Scheme implementation regd.</a:t>
            </a:r>
          </a:p>
        </p:txBody>
      </p:sp>
      <p:sp>
        <p:nvSpPr>
          <p:cNvPr id="13" name="Theme">
            <a:extLst xmlns:a="http://schemas.openxmlformats.org/drawingml/2006/main">
              <a:ext uri="{FF2B5EF4-FFF2-40B4-BE49-F238E27FC236}">
                <a16:creationId xmlns:a16="http://schemas.microsoft.com/office/drawing/2014/main" id="{C8804D1F-A5AD-4A6F-9BE1-7F53A0ED74D3}"/>
              </a:ext>
            </a:extLst>
          </p:cNvPr>
          <p:cNvSpPr>
            <a:spLocks xmlns:a="http://schemas.openxmlformats.org/drawingml/2006/main" noGrp="1"/>
          </p:cNvSpPr>
          <p:nvPr/>
        </p:nvSpPr>
        <p:spPr>
          <a:xfrm xmlns:a="http://schemas.openxmlformats.org/drawingml/2006/main">
            <a:off x="624840" y="4518660"/>
            <a:ext cx="2971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Theme</a:t>
            </a:r>
          </a:p>
        </p:txBody>
      </p:sp>
      <p:sp>
        <p:nvSpPr>
          <p:cNvPr id="14" name="Smart Automation">
            <a:extLst xmlns:a="http://schemas.openxmlformats.org/drawingml/2006/main">
              <a:ext uri="{FF2B5EF4-FFF2-40B4-BE49-F238E27FC236}">
                <a16:creationId xmlns:a16="http://schemas.microsoft.com/office/drawing/2014/main" id="{05B3BEBA-2969-4606-A79E-D5B905C34C13}"/>
              </a:ext>
            </a:extLst>
          </p:cNvPr>
          <p:cNvSpPr>
            <a:spLocks xmlns:a="http://schemas.openxmlformats.org/drawingml/2006/main" noGrp="1"/>
          </p:cNvSpPr>
          <p:nvPr/>
        </p:nvSpPr>
        <p:spPr>
          <a:xfrm xmlns:a="http://schemas.openxmlformats.org/drawingml/2006/main">
            <a:off x="3764280" y="4518660"/>
            <a:ext cx="7543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0">
                <a:solidFill>
                  <a:srgbClr val="162B3B"/>
                </a:solidFill>
                <a:latin typeface="Calibri"/>
                <a:ea typeface="Calibri"/>
                <a:cs typeface="Calibri"/>
              </a:defRPr>
            </a:pPr>
            <a:r>
              <a:rPr sz="1920" b="0">
                <a:solidFill>
                  <a:srgbClr val="162B3B"/>
                </a:solidFill>
                <a:latin typeface="Calibri"/>
                <a:ea typeface="Calibri"/>
                <a:cs typeface="Calibri"/>
              </a:rPr>
              <a:t>Smart Automation</a:t>
            </a:r>
          </a:p>
        </p:txBody>
      </p:sp>
      <p:sp>
        <p:nvSpPr>
          <p:cNvPr id="15" name="PS Category">
            <a:extLst xmlns:a="http://schemas.openxmlformats.org/drawingml/2006/main">
              <a:ext uri="{FF2B5EF4-FFF2-40B4-BE49-F238E27FC236}">
                <a16:creationId xmlns:a16="http://schemas.microsoft.com/office/drawing/2014/main" id="{C4D8DB4E-327E-4A59-9CD1-A0B7FBA350DF}"/>
              </a:ext>
            </a:extLst>
          </p:cNvPr>
          <p:cNvSpPr>
            <a:spLocks xmlns:a="http://schemas.openxmlformats.org/drawingml/2006/main" noGrp="1"/>
          </p:cNvSpPr>
          <p:nvPr/>
        </p:nvSpPr>
        <p:spPr>
          <a:xfrm xmlns:a="http://schemas.openxmlformats.org/drawingml/2006/main">
            <a:off x="624840" y="5082540"/>
            <a:ext cx="2971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PS Category</a:t>
            </a:r>
          </a:p>
        </p:txBody>
      </p:sp>
      <p:sp>
        <p:nvSpPr>
          <p:cNvPr id="16" name="Software">
            <a:extLst xmlns:a="http://schemas.openxmlformats.org/drawingml/2006/main">
              <a:ext uri="{FF2B5EF4-FFF2-40B4-BE49-F238E27FC236}">
                <a16:creationId xmlns:a16="http://schemas.microsoft.com/office/drawing/2014/main" id="{D79BA8F1-D71C-4932-853E-D7998F48ED41}"/>
              </a:ext>
            </a:extLst>
          </p:cNvPr>
          <p:cNvSpPr>
            <a:spLocks xmlns:a="http://schemas.openxmlformats.org/drawingml/2006/main" noGrp="1"/>
          </p:cNvSpPr>
          <p:nvPr/>
        </p:nvSpPr>
        <p:spPr>
          <a:xfrm xmlns:a="http://schemas.openxmlformats.org/drawingml/2006/main">
            <a:off x="3764280" y="5082540"/>
            <a:ext cx="7543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0">
                <a:solidFill>
                  <a:srgbClr val="162B3B"/>
                </a:solidFill>
                <a:latin typeface="Calibri"/>
                <a:ea typeface="Calibri"/>
                <a:cs typeface="Calibri"/>
              </a:defRPr>
            </a:pPr>
            <a:r>
              <a:rPr sz="1920" b="0">
                <a:solidFill>
                  <a:srgbClr val="162B3B"/>
                </a:solidFill>
                <a:latin typeface="Calibri"/>
                <a:ea typeface="Calibri"/>
                <a:cs typeface="Calibri"/>
              </a:rPr>
              <a:t>Software</a:t>
            </a:r>
          </a:p>
        </p:txBody>
      </p:sp>
      <p:sp>
        <p:nvSpPr>
          <p:cNvPr id="17" name="Team Name">
            <a:extLst xmlns:a="http://schemas.openxmlformats.org/drawingml/2006/main">
              <a:ext uri="{FF2B5EF4-FFF2-40B4-BE49-F238E27FC236}">
                <a16:creationId xmlns:a16="http://schemas.microsoft.com/office/drawing/2014/main" id="{CDE1E385-EC80-4744-AFF3-6D7E5014959A}"/>
              </a:ext>
            </a:extLst>
          </p:cNvPr>
          <p:cNvSpPr>
            <a:spLocks xmlns:a="http://schemas.openxmlformats.org/drawingml/2006/main" noGrp="1"/>
          </p:cNvSpPr>
          <p:nvPr/>
        </p:nvSpPr>
        <p:spPr>
          <a:xfrm xmlns:a="http://schemas.openxmlformats.org/drawingml/2006/main">
            <a:off x="624840" y="5654040"/>
            <a:ext cx="2971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Team Name</a:t>
            </a:r>
          </a:p>
        </p:txBody>
      </p:sp>
      <p:sp>
        <p:nvSpPr>
          <p:cNvPr id="18" name="Quantum Coders">
            <a:extLst xmlns:a="http://schemas.openxmlformats.org/drawingml/2006/main">
              <a:ext uri="{FF2B5EF4-FFF2-40B4-BE49-F238E27FC236}">
                <a16:creationId xmlns:a16="http://schemas.microsoft.com/office/drawing/2014/main" id="{79173E8E-E771-4292-9C25-1274B8C9186F}"/>
              </a:ext>
            </a:extLst>
          </p:cNvPr>
          <p:cNvSpPr>
            <a:spLocks xmlns:a="http://schemas.openxmlformats.org/drawingml/2006/main" noGrp="1"/>
          </p:cNvSpPr>
          <p:nvPr/>
        </p:nvSpPr>
        <p:spPr>
          <a:xfrm xmlns:a="http://schemas.openxmlformats.org/drawingml/2006/main">
            <a:off x="3764280" y="5654040"/>
            <a:ext cx="7543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1">
                <a:solidFill>
                  <a:srgbClr val="162B3B"/>
                </a:solidFill>
                <a:latin typeface="Calibri"/>
                <a:ea typeface="Calibri"/>
                <a:cs typeface="Calibri"/>
              </a:defRPr>
            </a:pPr>
            <a:r>
              <a:rPr sz="1920" b="1">
                <a:solidFill>
                  <a:srgbClr val="162B3B"/>
                </a:solidFill>
                <a:latin typeface="Calibri"/>
                <a:ea typeface="Calibri"/>
                <a:cs typeface="Calibri"/>
              </a:rPr>
              <a:t>Quantum Coders</a:t>
            </a:r>
          </a:p>
        </p:txBody>
      </p:sp>
    </p:spTree>
    <p:extLst>
      <p:ext uri="{BB962C8B-B14F-4D97-AF65-F5344CB8AC3E}">
        <p14:creationId xmlns:p14="http://schemas.microsoft.com/office/powerpoint/2010/main" val="5332851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MPLADS-GUARD">
            <a:extLst xmlns:a="http://schemas.openxmlformats.org/drawingml/2006/main">
              <a:ext uri="{FF2B5EF4-FFF2-40B4-BE49-F238E27FC236}">
                <a16:creationId xmlns:a16="http://schemas.microsoft.com/office/drawing/2014/main" id="{9D951410-37DE-4E7A-BFDE-A719A94BEDE4}"/>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MPLADS-GUARD</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0162393b4b554b47"/>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Proposed solution: an AI-driven tracking pipeline for M">
            <a:extLst xmlns:a="http://schemas.openxmlformats.org/drawingml/2006/main">
              <a:ext uri="{FF2B5EF4-FFF2-40B4-BE49-F238E27FC236}">
                <a16:creationId xmlns:a16="http://schemas.microsoft.com/office/drawing/2014/main" id="{B6F809C9-7210-43D2-9F83-608660DD7DC7}"/>
              </a:ext>
            </a:extLst>
          </p:cNvPr>
          <p:cNvSpPr>
            <a:spLocks xmlns:a="http://schemas.openxmlformats.org/drawingml/2006/main" noGrp="1"/>
          </p:cNvSpPr>
          <p:nvPr/>
        </p:nvSpPr>
        <p:spPr>
          <a:xfrm xmlns:a="http://schemas.openxmlformats.org/drawingml/2006/main">
            <a:off x="579120" y="1059180"/>
            <a:ext cx="110490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0">
                <a:solidFill>
                  <a:srgbClr val="4C606B"/>
                </a:solidFill>
                <a:latin typeface="Calibri"/>
                <a:ea typeface="Calibri"/>
                <a:cs typeface="Calibri"/>
              </a:defRPr>
            </a:pPr>
            <a:r>
              <a:rPr sz="1740" b="0">
                <a:solidFill>
                  <a:srgbClr val="4C606B"/>
                </a:solidFill>
                <a:latin typeface="Calibri"/>
                <a:ea typeface="Calibri"/>
                <a:cs typeface="Calibri"/>
              </a:rPr>
              <a:t>Proposed solution: an AI-driven tracking pipeline for MPLADS funds and project execution</a:t>
            </a:r>
          </a:p>
        </p:txBody>
      </p:sp>
      <p:sp>
        <p:nvSpPr>
          <p:cNvPr id="4" name="">
            <a:extLst xmlns:a="http://schemas.openxmlformats.org/drawingml/2006/main">
              <a:ext uri="{FF2B5EF4-FFF2-40B4-BE49-F238E27FC236}">
                <a16:creationId xmlns:a16="http://schemas.microsoft.com/office/drawing/2014/main" id="{1ACCD980-F4C4-46B9-A3C9-B8A24D2DEDE1}"/>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5" name="Quantum Coders">
            <a:extLst xmlns:a="http://schemas.openxmlformats.org/drawingml/2006/main">
              <a:ext uri="{FF2B5EF4-FFF2-40B4-BE49-F238E27FC236}">
                <a16:creationId xmlns:a16="http://schemas.microsoft.com/office/drawing/2014/main" id="{FE83BA2A-A999-4A79-B26F-53BC8CEDB8EC}"/>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6" name="Smart India Hackathon 2026">
            <a:extLst xmlns:a="http://schemas.openxmlformats.org/drawingml/2006/main">
              <a:ext uri="{FF2B5EF4-FFF2-40B4-BE49-F238E27FC236}">
                <a16:creationId xmlns:a16="http://schemas.microsoft.com/office/drawing/2014/main" id="{78051AF3-6C9C-4564-80A7-6701DEBC356F}"/>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7" name="2 / 6">
            <a:extLst xmlns:a="http://schemas.openxmlformats.org/drawingml/2006/main">
              <a:ext uri="{FF2B5EF4-FFF2-40B4-BE49-F238E27FC236}">
                <a16:creationId xmlns:a16="http://schemas.microsoft.com/office/drawing/2014/main" id="{D53489E3-085A-470D-9379-77B59725BEDA}"/>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2 / 6</a:t>
            </a:r>
          </a:p>
        </p:txBody>
      </p:sp>
      <p:sp>
        <p:nvSpPr>
          <p:cNvPr id="8" name="Raw government data">
            <a:extLst xmlns:a="http://schemas.openxmlformats.org/drawingml/2006/main">
              <a:ext uri="{FF2B5EF4-FFF2-40B4-BE49-F238E27FC236}">
                <a16:creationId xmlns:a16="http://schemas.microsoft.com/office/drawing/2014/main" id="{42004E56-0D4F-475C-BBEF-ADA8D72CD2E7}"/>
              </a:ext>
            </a:extLst>
          </p:cNvPr>
          <p:cNvSpPr>
            <a:spLocks xmlns:a="http://schemas.openxmlformats.org/drawingml/2006/main" noGrp="1"/>
          </p:cNvSpPr>
          <p:nvPr/>
        </p:nvSpPr>
        <p:spPr>
          <a:xfrm xmlns:a="http://schemas.openxmlformats.org/drawingml/2006/main">
            <a:off x="594360" y="1569720"/>
            <a:ext cx="1927860" cy="57912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Raw government</a:t>
            </a:r>
          </a:p>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data</a:t>
            </a:r>
          </a:p>
        </p:txBody>
      </p:sp>
      <p:sp>
        <p:nvSpPr>
          <p:cNvPr id="9" name="Rule engine">
            <a:extLst xmlns:a="http://schemas.openxmlformats.org/drawingml/2006/main">
              <a:ext uri="{FF2B5EF4-FFF2-40B4-BE49-F238E27FC236}">
                <a16:creationId xmlns:a16="http://schemas.microsoft.com/office/drawing/2014/main" id="{B56BB951-F214-4761-8BC7-AD851BC426D6}"/>
              </a:ext>
            </a:extLst>
          </p:cNvPr>
          <p:cNvSpPr>
            <a:spLocks xmlns:a="http://schemas.openxmlformats.org/drawingml/2006/main" noGrp="1"/>
          </p:cNvSpPr>
          <p:nvPr/>
        </p:nvSpPr>
        <p:spPr>
          <a:xfrm xmlns:a="http://schemas.openxmlformats.org/drawingml/2006/main">
            <a:off x="2865120" y="1569720"/>
            <a:ext cx="1927860" cy="57912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Rule engine</a:t>
            </a:r>
          </a:p>
        </p:txBody>
      </p:sp>
      <p:sp>
        <p:nvSpPr>
          <p:cNvPr id="10" name="AI / ML analysis">
            <a:extLst xmlns:a="http://schemas.openxmlformats.org/drawingml/2006/main">
              <a:ext uri="{FF2B5EF4-FFF2-40B4-BE49-F238E27FC236}">
                <a16:creationId xmlns:a16="http://schemas.microsoft.com/office/drawing/2014/main" id="{7576ABA6-968A-40A5-988B-7BC8BDD7F58A}"/>
              </a:ext>
            </a:extLst>
          </p:cNvPr>
          <p:cNvSpPr>
            <a:spLocks xmlns:a="http://schemas.openxmlformats.org/drawingml/2006/main" noGrp="1"/>
          </p:cNvSpPr>
          <p:nvPr/>
        </p:nvSpPr>
        <p:spPr>
          <a:xfrm xmlns:a="http://schemas.openxmlformats.org/drawingml/2006/main">
            <a:off x="5135880" y="1569720"/>
            <a:ext cx="1927860" cy="57912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AI / ML</a:t>
            </a:r>
          </a:p>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analysis</a:t>
            </a:r>
          </a:p>
        </p:txBody>
      </p:sp>
      <p:sp>
        <p:nvSpPr>
          <p:cNvPr id="11" name="Anomaly flags">
            <a:extLst xmlns:a="http://schemas.openxmlformats.org/drawingml/2006/main">
              <a:ext uri="{FF2B5EF4-FFF2-40B4-BE49-F238E27FC236}">
                <a16:creationId xmlns:a16="http://schemas.microsoft.com/office/drawing/2014/main" id="{6AA08F4C-12EB-4BEC-984D-86DBB2E976A2}"/>
              </a:ext>
            </a:extLst>
          </p:cNvPr>
          <p:cNvSpPr>
            <a:spLocks xmlns:a="http://schemas.openxmlformats.org/drawingml/2006/main" noGrp="1"/>
          </p:cNvSpPr>
          <p:nvPr/>
        </p:nvSpPr>
        <p:spPr>
          <a:xfrm xmlns:a="http://schemas.openxmlformats.org/drawingml/2006/main">
            <a:off x="7406640" y="1569720"/>
            <a:ext cx="1927860" cy="57912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Anomaly flags</a:t>
            </a:r>
          </a:p>
        </p:txBody>
      </p:sp>
      <p:sp>
        <p:nvSpPr>
          <p:cNvPr id="12" name="Dashboard">
            <a:extLst xmlns:a="http://schemas.openxmlformats.org/drawingml/2006/main">
              <a:ext uri="{FF2B5EF4-FFF2-40B4-BE49-F238E27FC236}">
                <a16:creationId xmlns:a16="http://schemas.microsoft.com/office/drawing/2014/main" id="{41B12817-95AE-4162-849D-F70B7186E6BB}"/>
              </a:ext>
            </a:extLst>
          </p:cNvPr>
          <p:cNvSpPr>
            <a:spLocks xmlns:a="http://schemas.openxmlformats.org/drawingml/2006/main" noGrp="1"/>
          </p:cNvSpPr>
          <p:nvPr/>
        </p:nvSpPr>
        <p:spPr>
          <a:xfrm xmlns:a="http://schemas.openxmlformats.org/drawingml/2006/main">
            <a:off x="9677400" y="1569720"/>
            <a:ext cx="1927860" cy="579120"/>
          </a:xfrm>
          <a:prstGeom xmlns:a="http://schemas.openxmlformats.org/drawingml/2006/main" prst="rect">
            <a:avLst/>
          </a:prstGeom>
          <a:solidFill xmlns:a="http://schemas.openxmlformats.org/drawingml/2006/main">
            <a:srgbClr val="DFEEE7"/>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Dashboard</a:t>
            </a:r>
          </a:p>
        </p:txBody>
      </p:sp>
      <p:cxnSp>
        <p:nvCxnSpPr>
          <p:cNvPr id="56" name=""/>
          <p:cNvCxnSpPr>
            <a:stCxn xmlns:a="http://schemas.openxmlformats.org/drawingml/2006/main" id="8" idx="3"/>
            <a:endCxn xmlns:a="http://schemas.openxmlformats.org/drawingml/2006/main" id="9" idx="1"/>
          </p:cNvCxnSpPr>
          <p:nvPr/>
        </p:nvCxnSpPr>
        <p:spPr>
          <a:xfrm xmlns:a="http://schemas.openxmlformats.org/drawingml/2006/main">
            <a:off x="2522220" y="1859280"/>
            <a:ext cx="34290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57" name=""/>
          <p:cNvCxnSpPr>
            <a:stCxn xmlns:a="http://schemas.openxmlformats.org/drawingml/2006/main" id="9" idx="3"/>
            <a:endCxn xmlns:a="http://schemas.openxmlformats.org/drawingml/2006/main" id="10" idx="1"/>
          </p:cNvCxnSpPr>
          <p:nvPr/>
        </p:nvCxnSpPr>
        <p:spPr>
          <a:xfrm xmlns:a="http://schemas.openxmlformats.org/drawingml/2006/main">
            <a:off x="4792980" y="1859280"/>
            <a:ext cx="34290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58" name=""/>
          <p:cNvCxnSpPr>
            <a:stCxn xmlns:a="http://schemas.openxmlformats.org/drawingml/2006/main" id="10" idx="3"/>
            <a:endCxn xmlns:a="http://schemas.openxmlformats.org/drawingml/2006/main" id="11" idx="1"/>
          </p:cNvCxnSpPr>
          <p:nvPr/>
        </p:nvCxnSpPr>
        <p:spPr>
          <a:xfrm xmlns:a="http://schemas.openxmlformats.org/drawingml/2006/main">
            <a:off x="7063740" y="1859280"/>
            <a:ext cx="34290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59" name=""/>
          <p:cNvCxnSpPr>
            <a:stCxn xmlns:a="http://schemas.openxmlformats.org/drawingml/2006/main" id="11" idx="3"/>
            <a:endCxn xmlns:a="http://schemas.openxmlformats.org/drawingml/2006/main" id="12" idx="1"/>
          </p:cNvCxnSpPr>
          <p:nvPr/>
        </p:nvCxnSpPr>
        <p:spPr>
          <a:xfrm xmlns:a="http://schemas.openxmlformats.org/drawingml/2006/main">
            <a:off x="9334500" y="1859280"/>
            <a:ext cx="342900" cy="0"/>
          </a:xfrm>
          <a:prstGeom xmlns:a="http://schemas.openxmlformats.org/drawingml/2006/main" prst="straightConnector1">
            <a:avLst/>
          </a:prstGeom>
          <a:ln xmlns:a="http://schemas.openxmlformats.org/drawingml/2006/main" w="19050">
            <a:solidFill>
              <a:srgbClr val="234F83"/>
            </a:solidFill>
            <a:tailEnd type="triangle" w="med" len="med"/>
          </a:ln>
        </p:spPr>
      </p:cxnSp>
      <p:sp>
        <p:nvSpPr>
          <p:cNvPr id="17" name="Problem">
            <a:extLst xmlns:a="http://schemas.openxmlformats.org/drawingml/2006/main">
              <a:ext uri="{FF2B5EF4-FFF2-40B4-BE49-F238E27FC236}">
                <a16:creationId xmlns:a16="http://schemas.microsoft.com/office/drawing/2014/main" id="{F7BA143A-513D-4824-A2D7-3C93DA0CC2AD}"/>
              </a:ext>
            </a:extLst>
          </p:cNvPr>
          <p:cNvSpPr>
            <a:spLocks xmlns:a="http://schemas.openxmlformats.org/drawingml/2006/main" noGrp="1"/>
          </p:cNvSpPr>
          <p:nvPr/>
        </p:nvSpPr>
        <p:spPr>
          <a:xfrm xmlns:a="http://schemas.openxmlformats.org/drawingml/2006/main">
            <a:off x="609600" y="2491740"/>
            <a:ext cx="32766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Problem</a:t>
            </a:r>
          </a:p>
        </p:txBody>
      </p:sp>
      <p:sp>
        <p:nvSpPr>
          <p:cNvPr id="18" name="Manual oversight">
            <a:extLst xmlns:a="http://schemas.openxmlformats.org/drawingml/2006/main">
              <a:ext uri="{FF2B5EF4-FFF2-40B4-BE49-F238E27FC236}">
                <a16:creationId xmlns:a16="http://schemas.microsoft.com/office/drawing/2014/main" id="{07ED3E57-2892-4B56-93AF-0B2570353C43}"/>
              </a:ext>
            </a:extLst>
          </p:cNvPr>
          <p:cNvSpPr>
            <a:spLocks xmlns:a="http://schemas.openxmlformats.org/drawingml/2006/main" noGrp="1"/>
          </p:cNvSpPr>
          <p:nvPr/>
        </p:nvSpPr>
        <p:spPr>
          <a:xfrm xmlns:a="http://schemas.openxmlformats.org/drawingml/2006/main">
            <a:off x="609600" y="2910840"/>
            <a:ext cx="33070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Manual oversight</a:t>
            </a:r>
          </a:p>
        </p:txBody>
      </p:sp>
      <p:sp>
        <p:nvSpPr>
          <p:cNvPr id="19" name="Fraud and inefficiency are difficult to track manually ">
            <a:extLst xmlns:a="http://schemas.openxmlformats.org/drawingml/2006/main">
              <a:ext uri="{FF2B5EF4-FFF2-40B4-BE49-F238E27FC236}">
                <a16:creationId xmlns:a16="http://schemas.microsoft.com/office/drawing/2014/main" id="{2745DD13-AD4A-4701-B223-5A62A895AA5D}"/>
              </a:ext>
            </a:extLst>
          </p:cNvPr>
          <p:cNvSpPr>
            <a:spLocks xmlns:a="http://schemas.openxmlformats.org/drawingml/2006/main" noGrp="1"/>
          </p:cNvSpPr>
          <p:nvPr/>
        </p:nvSpPr>
        <p:spPr>
          <a:xfrm xmlns:a="http://schemas.openxmlformats.org/drawingml/2006/main">
            <a:off x="609600" y="3200400"/>
            <a:ext cx="33070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Fraud and inefficiency are difficult to track manually at scheme scale.</a:t>
            </a:r>
          </a:p>
        </p:txBody>
      </p:sp>
      <p:sp>
        <p:nvSpPr>
          <p:cNvPr id="20" name="March Rush">
            <a:extLst xmlns:a="http://schemas.openxmlformats.org/drawingml/2006/main">
              <a:ext uri="{FF2B5EF4-FFF2-40B4-BE49-F238E27FC236}">
                <a16:creationId xmlns:a16="http://schemas.microsoft.com/office/drawing/2014/main" id="{CF2C4D95-3126-4202-91A3-A4BD5302FCA0}"/>
              </a:ext>
            </a:extLst>
          </p:cNvPr>
          <p:cNvSpPr>
            <a:spLocks xmlns:a="http://schemas.openxmlformats.org/drawingml/2006/main" noGrp="1"/>
          </p:cNvSpPr>
          <p:nvPr/>
        </p:nvSpPr>
        <p:spPr>
          <a:xfrm xmlns:a="http://schemas.openxmlformats.org/drawingml/2006/main">
            <a:off x="609600" y="3741420"/>
            <a:ext cx="33070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March Rush</a:t>
            </a:r>
          </a:p>
        </p:txBody>
      </p:sp>
      <p:sp>
        <p:nvSpPr>
          <p:cNvPr id="21" name="Sudden, unverified expenditure spikes before financial ">
            <a:extLst xmlns:a="http://schemas.openxmlformats.org/drawingml/2006/main">
              <a:ext uri="{FF2B5EF4-FFF2-40B4-BE49-F238E27FC236}">
                <a16:creationId xmlns:a16="http://schemas.microsoft.com/office/drawing/2014/main" id="{106799F9-BF13-4DDF-892F-A45E26567B58}"/>
              </a:ext>
            </a:extLst>
          </p:cNvPr>
          <p:cNvSpPr>
            <a:spLocks xmlns:a="http://schemas.openxmlformats.org/drawingml/2006/main" noGrp="1"/>
          </p:cNvSpPr>
          <p:nvPr/>
        </p:nvSpPr>
        <p:spPr>
          <a:xfrm xmlns:a="http://schemas.openxmlformats.org/drawingml/2006/main">
            <a:off x="609600" y="4030980"/>
            <a:ext cx="33070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Sudden, unverified expenditure spikes before financial year-end.</a:t>
            </a:r>
          </a:p>
        </p:txBody>
      </p:sp>
      <p:sp>
        <p:nvSpPr>
          <p:cNvPr id="22" name="Ghost assets">
            <a:extLst xmlns:a="http://schemas.openxmlformats.org/drawingml/2006/main">
              <a:ext uri="{FF2B5EF4-FFF2-40B4-BE49-F238E27FC236}">
                <a16:creationId xmlns:a16="http://schemas.microsoft.com/office/drawing/2014/main" id="{3EE54FC2-DA7F-4156-9C59-C905A90F382C}"/>
              </a:ext>
            </a:extLst>
          </p:cNvPr>
          <p:cNvSpPr>
            <a:spLocks xmlns:a="http://schemas.openxmlformats.org/drawingml/2006/main" noGrp="1"/>
          </p:cNvSpPr>
          <p:nvPr/>
        </p:nvSpPr>
        <p:spPr>
          <a:xfrm xmlns:a="http://schemas.openxmlformats.org/drawingml/2006/main">
            <a:off x="609600" y="4572000"/>
            <a:ext cx="33070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Ghost assets</a:t>
            </a:r>
          </a:p>
        </p:txBody>
      </p:sp>
      <p:sp>
        <p:nvSpPr>
          <p:cNvPr id="23" name="Works marked complete without verifiable geotagged proo">
            <a:extLst xmlns:a="http://schemas.openxmlformats.org/drawingml/2006/main">
              <a:ext uri="{FF2B5EF4-FFF2-40B4-BE49-F238E27FC236}">
                <a16:creationId xmlns:a16="http://schemas.microsoft.com/office/drawing/2014/main" id="{3DC5FCC5-58D0-4685-AC76-021654E07929}"/>
              </a:ext>
            </a:extLst>
          </p:cNvPr>
          <p:cNvSpPr>
            <a:spLocks xmlns:a="http://schemas.openxmlformats.org/drawingml/2006/main" noGrp="1"/>
          </p:cNvSpPr>
          <p:nvPr/>
        </p:nvSpPr>
        <p:spPr>
          <a:xfrm xmlns:a="http://schemas.openxmlformats.org/drawingml/2006/main">
            <a:off x="609600" y="4861560"/>
            <a:ext cx="33070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Works marked complete without verifiable geotagged proof.</a:t>
            </a:r>
          </a:p>
        </p:txBody>
      </p:sp>
      <p:sp>
        <p:nvSpPr>
          <p:cNvPr id="24" name="Compliance and utility gaps">
            <a:extLst xmlns:a="http://schemas.openxmlformats.org/drawingml/2006/main">
              <a:ext uri="{FF2B5EF4-FFF2-40B4-BE49-F238E27FC236}">
                <a16:creationId xmlns:a16="http://schemas.microsoft.com/office/drawing/2014/main" id="{E6164E70-ECDC-4DC9-8D1F-0FB6F409649D}"/>
              </a:ext>
            </a:extLst>
          </p:cNvPr>
          <p:cNvSpPr>
            <a:spLocks xmlns:a="http://schemas.openxmlformats.org/drawingml/2006/main" noGrp="1"/>
          </p:cNvSpPr>
          <p:nvPr/>
        </p:nvSpPr>
        <p:spPr>
          <a:xfrm xmlns:a="http://schemas.openxmlformats.org/drawingml/2006/main">
            <a:off x="609600" y="5402580"/>
            <a:ext cx="33070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Compliance and utility gaps</a:t>
            </a:r>
          </a:p>
        </p:txBody>
      </p:sp>
      <p:sp>
        <p:nvSpPr>
          <p:cNvPr id="25" name="SC/ST allocation shortfalls and funds concentrated on o">
            <a:extLst xmlns:a="http://schemas.openxmlformats.org/drawingml/2006/main">
              <a:ext uri="{FF2B5EF4-FFF2-40B4-BE49-F238E27FC236}">
                <a16:creationId xmlns:a16="http://schemas.microsoft.com/office/drawing/2014/main" id="{D01E42C5-3812-42A2-A6C1-E4A279BDADD8}"/>
              </a:ext>
            </a:extLst>
          </p:cNvPr>
          <p:cNvSpPr>
            <a:spLocks xmlns:a="http://schemas.openxmlformats.org/drawingml/2006/main" noGrp="1"/>
          </p:cNvSpPr>
          <p:nvPr/>
        </p:nvSpPr>
        <p:spPr>
          <a:xfrm xmlns:a="http://schemas.openxmlformats.org/drawingml/2006/main">
            <a:off x="609600" y="5692140"/>
            <a:ext cx="33070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SC/ST allocation shortfalls and funds concentrated on one asset type.</a:t>
            </a:r>
          </a:p>
        </p:txBody>
      </p:sp>
      <p:sp>
        <p:nvSpPr>
          <p:cNvPr id="26" name="Proposed solution">
            <a:extLst xmlns:a="http://schemas.openxmlformats.org/drawingml/2006/main">
              <a:ext uri="{FF2B5EF4-FFF2-40B4-BE49-F238E27FC236}">
                <a16:creationId xmlns:a16="http://schemas.microsoft.com/office/drawing/2014/main" id="{5C726E6A-ACFA-4386-8CC4-059156894789}"/>
              </a:ext>
            </a:extLst>
          </p:cNvPr>
          <p:cNvSpPr>
            <a:spLocks xmlns:a="http://schemas.openxmlformats.org/drawingml/2006/main" noGrp="1"/>
          </p:cNvSpPr>
          <p:nvPr/>
        </p:nvSpPr>
        <p:spPr>
          <a:xfrm xmlns:a="http://schemas.openxmlformats.org/drawingml/2006/main">
            <a:off x="4343400" y="2491740"/>
            <a:ext cx="332994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Proposed solution</a:t>
            </a:r>
          </a:p>
        </p:txBody>
      </p:sp>
      <p:sp>
        <p:nvSpPr>
          <p:cNvPr id="27" name="Computable signals">
            <a:extLst xmlns:a="http://schemas.openxmlformats.org/drawingml/2006/main">
              <a:ext uri="{FF2B5EF4-FFF2-40B4-BE49-F238E27FC236}">
                <a16:creationId xmlns:a16="http://schemas.microsoft.com/office/drawing/2014/main" id="{F789942B-0D58-4E70-9D46-F65E7E238F6B}"/>
              </a:ext>
            </a:extLst>
          </p:cNvPr>
          <p:cNvSpPr>
            <a:spLocks xmlns:a="http://schemas.openxmlformats.org/drawingml/2006/main" noGrp="1"/>
          </p:cNvSpPr>
          <p:nvPr/>
        </p:nvSpPr>
        <p:spPr>
          <a:xfrm xmlns:a="http://schemas.openxmlformats.org/drawingml/2006/main">
            <a:off x="4343400" y="2910840"/>
            <a:ext cx="33451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Computable signals</a:t>
            </a:r>
          </a:p>
        </p:txBody>
      </p:sp>
      <p:sp>
        <p:nvSpPr>
          <p:cNvPr id="28" name="Convert broad governance concerns into measurable check">
            <a:extLst xmlns:a="http://schemas.openxmlformats.org/drawingml/2006/main">
              <a:ext uri="{FF2B5EF4-FFF2-40B4-BE49-F238E27FC236}">
                <a16:creationId xmlns:a16="http://schemas.microsoft.com/office/drawing/2014/main" id="{1E037EE3-7C45-45FE-B22C-C5859942E7BB}"/>
              </a:ext>
            </a:extLst>
          </p:cNvPr>
          <p:cNvSpPr>
            <a:spLocks xmlns:a="http://schemas.openxmlformats.org/drawingml/2006/main" noGrp="1"/>
          </p:cNvSpPr>
          <p:nvPr/>
        </p:nvSpPr>
        <p:spPr>
          <a:xfrm xmlns:a="http://schemas.openxmlformats.org/drawingml/2006/main">
            <a:off x="4343400" y="3200400"/>
            <a:ext cx="33451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Convert broad governance concerns into measurable checks.</a:t>
            </a:r>
          </a:p>
        </p:txBody>
      </p:sp>
      <p:sp>
        <p:nvSpPr>
          <p:cNvPr id="29" name="Historical financial analysis">
            <a:extLst xmlns:a="http://schemas.openxmlformats.org/drawingml/2006/main">
              <a:ext uri="{FF2B5EF4-FFF2-40B4-BE49-F238E27FC236}">
                <a16:creationId xmlns:a16="http://schemas.microsoft.com/office/drawing/2014/main" id="{49D55D84-2E9F-4C46-9D6A-B8B2C38DEE14}"/>
              </a:ext>
            </a:extLst>
          </p:cNvPr>
          <p:cNvSpPr>
            <a:spLocks xmlns:a="http://schemas.openxmlformats.org/drawingml/2006/main" noGrp="1"/>
          </p:cNvSpPr>
          <p:nvPr/>
        </p:nvSpPr>
        <p:spPr>
          <a:xfrm xmlns:a="http://schemas.openxmlformats.org/drawingml/2006/main">
            <a:off x="4343400" y="3741420"/>
            <a:ext cx="33451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Historical financial analysis</a:t>
            </a:r>
          </a:p>
        </p:txBody>
      </p:sp>
      <p:sp>
        <p:nvSpPr>
          <p:cNvPr id="30" name="Use ML to flag vendor favoritism, March Rush and unusua">
            <a:extLst xmlns:a="http://schemas.openxmlformats.org/drawingml/2006/main">
              <a:ext uri="{FF2B5EF4-FFF2-40B4-BE49-F238E27FC236}">
                <a16:creationId xmlns:a16="http://schemas.microsoft.com/office/drawing/2014/main" id="{8AE4C54D-21B0-48C2-82E1-CE24C0F43965}"/>
              </a:ext>
            </a:extLst>
          </p:cNvPr>
          <p:cNvSpPr>
            <a:spLocks xmlns:a="http://schemas.openxmlformats.org/drawingml/2006/main" noGrp="1"/>
          </p:cNvSpPr>
          <p:nvPr/>
        </p:nvSpPr>
        <p:spPr>
          <a:xfrm xmlns:a="http://schemas.openxmlformats.org/drawingml/2006/main">
            <a:off x="4343400" y="4030980"/>
            <a:ext cx="33451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Use ML to flag vendor favoritism, March Rush and unusual expenditure.</a:t>
            </a:r>
          </a:p>
        </p:txBody>
      </p:sp>
      <p:sp>
        <p:nvSpPr>
          <p:cNvPr id="31" name="Asset cross-verification">
            <a:extLst xmlns:a="http://schemas.openxmlformats.org/drawingml/2006/main">
              <a:ext uri="{FF2B5EF4-FFF2-40B4-BE49-F238E27FC236}">
                <a16:creationId xmlns:a16="http://schemas.microsoft.com/office/drawing/2014/main" id="{DF4658B4-E447-4206-91C9-C8C787BD90A6}"/>
              </a:ext>
            </a:extLst>
          </p:cNvPr>
          <p:cNvSpPr>
            <a:spLocks xmlns:a="http://schemas.openxmlformats.org/drawingml/2006/main" noGrp="1"/>
          </p:cNvSpPr>
          <p:nvPr/>
        </p:nvSpPr>
        <p:spPr>
          <a:xfrm xmlns:a="http://schemas.openxmlformats.org/drawingml/2006/main">
            <a:off x="4343400" y="4572000"/>
            <a:ext cx="33451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Asset cross-verification</a:t>
            </a:r>
          </a:p>
        </p:txBody>
      </p:sp>
      <p:sp>
        <p:nvSpPr>
          <p:cNvPr id="32" name="Match geotagged images and invoices to expose ghost or ">
            <a:extLst xmlns:a="http://schemas.openxmlformats.org/drawingml/2006/main">
              <a:ext uri="{FF2B5EF4-FFF2-40B4-BE49-F238E27FC236}">
                <a16:creationId xmlns:a16="http://schemas.microsoft.com/office/drawing/2014/main" id="{F6B84A85-5C51-4C95-9E2D-B2F0F89634B1}"/>
              </a:ext>
            </a:extLst>
          </p:cNvPr>
          <p:cNvSpPr>
            <a:spLocks xmlns:a="http://schemas.openxmlformats.org/drawingml/2006/main" noGrp="1"/>
          </p:cNvSpPr>
          <p:nvPr/>
        </p:nvSpPr>
        <p:spPr>
          <a:xfrm xmlns:a="http://schemas.openxmlformats.org/drawingml/2006/main">
            <a:off x="4343400" y="4861560"/>
            <a:ext cx="33451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Match geotagged images and invoices to expose ghost or duplicate works.</a:t>
            </a:r>
          </a:p>
        </p:txBody>
      </p:sp>
      <p:sp>
        <p:nvSpPr>
          <p:cNvPr id="33" name="Early alerts">
            <a:extLst xmlns:a="http://schemas.openxmlformats.org/drawingml/2006/main">
              <a:ext uri="{FF2B5EF4-FFF2-40B4-BE49-F238E27FC236}">
                <a16:creationId xmlns:a16="http://schemas.microsoft.com/office/drawing/2014/main" id="{A00D469C-157C-49E5-9C49-7081F55E7E06}"/>
              </a:ext>
            </a:extLst>
          </p:cNvPr>
          <p:cNvSpPr>
            <a:spLocks xmlns:a="http://schemas.openxmlformats.org/drawingml/2006/main" noGrp="1"/>
          </p:cNvSpPr>
          <p:nvPr/>
        </p:nvSpPr>
        <p:spPr>
          <a:xfrm xmlns:a="http://schemas.openxmlformats.org/drawingml/2006/main">
            <a:off x="4343400" y="5402580"/>
            <a:ext cx="33451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Early alerts</a:t>
            </a:r>
          </a:p>
        </p:txBody>
      </p:sp>
      <p:sp>
        <p:nvSpPr>
          <p:cNvPr id="34" name="Track allocation drops and cost overruns during project">
            <a:extLst xmlns:a="http://schemas.openxmlformats.org/drawingml/2006/main">
              <a:ext uri="{FF2B5EF4-FFF2-40B4-BE49-F238E27FC236}">
                <a16:creationId xmlns:a16="http://schemas.microsoft.com/office/drawing/2014/main" id="{7A3993A3-766B-42F9-A88E-9ECB7B9705D4}"/>
              </a:ext>
            </a:extLst>
          </p:cNvPr>
          <p:cNvSpPr>
            <a:spLocks xmlns:a="http://schemas.openxmlformats.org/drawingml/2006/main" noGrp="1"/>
          </p:cNvSpPr>
          <p:nvPr/>
        </p:nvSpPr>
        <p:spPr>
          <a:xfrm xmlns:a="http://schemas.openxmlformats.org/drawingml/2006/main">
            <a:off x="4343400" y="5692140"/>
            <a:ext cx="33451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Track allocation drops and cost overruns during project execution.</a:t>
            </a:r>
          </a:p>
        </p:txBody>
      </p:sp>
      <p:sp>
        <p:nvSpPr>
          <p:cNvPr id="35" name="Innovation and uniqueness">
            <a:extLst xmlns:a="http://schemas.openxmlformats.org/drawingml/2006/main">
              <a:ext uri="{FF2B5EF4-FFF2-40B4-BE49-F238E27FC236}">
                <a16:creationId xmlns:a16="http://schemas.microsoft.com/office/drawing/2014/main" id="{F3305B08-F7E9-448F-A558-7167CD7CD65A}"/>
              </a:ext>
            </a:extLst>
          </p:cNvPr>
          <p:cNvSpPr>
            <a:spLocks xmlns:a="http://schemas.openxmlformats.org/drawingml/2006/main" noGrp="1"/>
          </p:cNvSpPr>
          <p:nvPr/>
        </p:nvSpPr>
        <p:spPr>
          <a:xfrm xmlns:a="http://schemas.openxmlformats.org/drawingml/2006/main">
            <a:off x="8077200" y="2491740"/>
            <a:ext cx="359664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Innovation and uniqueness</a:t>
            </a:r>
          </a:p>
        </p:txBody>
      </p:sp>
      <p:sp>
        <p:nvSpPr>
          <p:cNvPr id="36" name="Measurable rules">
            <a:extLst xmlns:a="http://schemas.openxmlformats.org/drawingml/2006/main">
              <a:ext uri="{FF2B5EF4-FFF2-40B4-BE49-F238E27FC236}">
                <a16:creationId xmlns:a16="http://schemas.microsoft.com/office/drawing/2014/main" id="{7C75EC09-9AC2-4318-A1BD-8B5D0DAC5DD7}"/>
              </a:ext>
            </a:extLst>
          </p:cNvPr>
          <p:cNvSpPr>
            <a:spLocks xmlns:a="http://schemas.openxmlformats.org/drawingml/2006/main" noGrp="1"/>
          </p:cNvSpPr>
          <p:nvPr/>
        </p:nvSpPr>
        <p:spPr>
          <a:xfrm xmlns:a="http://schemas.openxmlformats.org/drawingml/2006/main">
            <a:off x="8077200" y="2910840"/>
            <a:ext cx="34975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Measurable rules</a:t>
            </a:r>
          </a:p>
        </p:txBody>
      </p:sp>
      <p:sp>
        <p:nvSpPr>
          <p:cNvPr id="37" name="Translate monitoring concerns into clear algorithmic si">
            <a:extLst xmlns:a="http://schemas.openxmlformats.org/drawingml/2006/main">
              <a:ext uri="{FF2B5EF4-FFF2-40B4-BE49-F238E27FC236}">
                <a16:creationId xmlns:a16="http://schemas.microsoft.com/office/drawing/2014/main" id="{2EC393CB-50F2-46D5-9796-7BC4C3A9CBB8}"/>
              </a:ext>
            </a:extLst>
          </p:cNvPr>
          <p:cNvSpPr>
            <a:spLocks xmlns:a="http://schemas.openxmlformats.org/drawingml/2006/main" noGrp="1"/>
          </p:cNvSpPr>
          <p:nvPr/>
        </p:nvSpPr>
        <p:spPr>
          <a:xfrm xmlns:a="http://schemas.openxmlformats.org/drawingml/2006/main">
            <a:off x="8077200" y="3200400"/>
            <a:ext cx="34975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Translate monitoring concerns into clear algorithmic signals.</a:t>
            </a:r>
          </a:p>
        </p:txBody>
      </p:sp>
      <p:sp>
        <p:nvSpPr>
          <p:cNvPr id="38" name="Proactive tracking">
            <a:extLst xmlns:a="http://schemas.openxmlformats.org/drawingml/2006/main">
              <a:ext uri="{FF2B5EF4-FFF2-40B4-BE49-F238E27FC236}">
                <a16:creationId xmlns:a16="http://schemas.microsoft.com/office/drawing/2014/main" id="{F17EDC21-A297-4CAC-8B9F-C770390F4B44}"/>
              </a:ext>
            </a:extLst>
          </p:cNvPr>
          <p:cNvSpPr>
            <a:spLocks xmlns:a="http://schemas.openxmlformats.org/drawingml/2006/main" noGrp="1"/>
          </p:cNvSpPr>
          <p:nvPr/>
        </p:nvSpPr>
        <p:spPr>
          <a:xfrm xmlns:a="http://schemas.openxmlformats.org/drawingml/2006/main">
            <a:off x="8077200" y="3741420"/>
            <a:ext cx="34975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Proactive tracking</a:t>
            </a:r>
          </a:p>
        </p:txBody>
      </p:sp>
      <p:sp>
        <p:nvSpPr>
          <p:cNvPr id="39" name="Flag cost overruns mid-execution, with evidence for cor">
            <a:extLst xmlns:a="http://schemas.openxmlformats.org/drawingml/2006/main">
              <a:ext uri="{FF2B5EF4-FFF2-40B4-BE49-F238E27FC236}">
                <a16:creationId xmlns:a16="http://schemas.microsoft.com/office/drawing/2014/main" id="{1E2C1B3C-38D7-4C11-B383-D6BC15503092}"/>
              </a:ext>
            </a:extLst>
          </p:cNvPr>
          <p:cNvSpPr>
            <a:spLocks xmlns:a="http://schemas.openxmlformats.org/drawingml/2006/main" noGrp="1"/>
          </p:cNvSpPr>
          <p:nvPr/>
        </p:nvSpPr>
        <p:spPr>
          <a:xfrm xmlns:a="http://schemas.openxmlformats.org/drawingml/2006/main">
            <a:off x="8077200" y="4030980"/>
            <a:ext cx="34975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Flag cost overruns mid-execution, with evidence for corrective action.</a:t>
            </a:r>
          </a:p>
        </p:txBody>
      </p:sp>
      <p:sp>
        <p:nvSpPr>
          <p:cNvPr id="40" name="Smart cross-verification">
            <a:extLst xmlns:a="http://schemas.openxmlformats.org/drawingml/2006/main">
              <a:ext uri="{FF2B5EF4-FFF2-40B4-BE49-F238E27FC236}">
                <a16:creationId xmlns:a16="http://schemas.microsoft.com/office/drawing/2014/main" id="{F18D6675-3357-4987-9783-E1C03189ECA2}"/>
              </a:ext>
            </a:extLst>
          </p:cNvPr>
          <p:cNvSpPr>
            <a:spLocks xmlns:a="http://schemas.openxmlformats.org/drawingml/2006/main" noGrp="1"/>
          </p:cNvSpPr>
          <p:nvPr/>
        </p:nvSpPr>
        <p:spPr>
          <a:xfrm xmlns:a="http://schemas.openxmlformats.org/drawingml/2006/main">
            <a:off x="8077200" y="4572000"/>
            <a:ext cx="34975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Smart cross-verification</a:t>
            </a:r>
          </a:p>
        </p:txBody>
      </p:sp>
      <p:sp>
        <p:nvSpPr>
          <p:cNvPr id="41" name="Match geotags and invoices to reduce repetitive manual ">
            <a:extLst xmlns:a="http://schemas.openxmlformats.org/drawingml/2006/main">
              <a:ext uri="{FF2B5EF4-FFF2-40B4-BE49-F238E27FC236}">
                <a16:creationId xmlns:a16="http://schemas.microsoft.com/office/drawing/2014/main" id="{B4A55480-F0E1-4A6D-A748-FD944A3AE048}"/>
              </a:ext>
            </a:extLst>
          </p:cNvPr>
          <p:cNvSpPr>
            <a:spLocks xmlns:a="http://schemas.openxmlformats.org/drawingml/2006/main" noGrp="1"/>
          </p:cNvSpPr>
          <p:nvPr/>
        </p:nvSpPr>
        <p:spPr>
          <a:xfrm xmlns:a="http://schemas.openxmlformats.org/drawingml/2006/main">
            <a:off x="8077200" y="4861560"/>
            <a:ext cx="34975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Match geotags and invoices to reduce repetitive manual checks.</a:t>
            </a:r>
          </a:p>
        </p:txBody>
      </p:sp>
      <p:sp>
        <p:nvSpPr>
          <p:cNvPr id="42" name="Key value proposition">
            <a:extLst xmlns:a="http://schemas.openxmlformats.org/drawingml/2006/main">
              <a:ext uri="{FF2B5EF4-FFF2-40B4-BE49-F238E27FC236}">
                <a16:creationId xmlns:a16="http://schemas.microsoft.com/office/drawing/2014/main" id="{FCF8966C-D990-4A41-B7D4-5D58E47D17E4}"/>
              </a:ext>
            </a:extLst>
          </p:cNvPr>
          <p:cNvSpPr>
            <a:spLocks xmlns:a="http://schemas.openxmlformats.org/drawingml/2006/main" noGrp="1"/>
          </p:cNvSpPr>
          <p:nvPr/>
        </p:nvSpPr>
        <p:spPr>
          <a:xfrm xmlns:a="http://schemas.openxmlformats.org/drawingml/2006/main">
            <a:off x="8077200" y="5547360"/>
            <a:ext cx="34975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20" b="1">
                <a:solidFill>
                  <a:srgbClr val="196C61"/>
                </a:solidFill>
                <a:latin typeface="Calibri"/>
                <a:ea typeface="Calibri"/>
                <a:cs typeface="Calibri"/>
              </a:defRPr>
            </a:pPr>
            <a:r>
              <a:rPr sz="1620" b="1">
                <a:solidFill>
                  <a:srgbClr val="196C61"/>
                </a:solidFill>
                <a:latin typeface="Calibri"/>
                <a:ea typeface="Calibri"/>
                <a:cs typeface="Calibri"/>
              </a:rPr>
              <a:t>Key value proposition</a:t>
            </a:r>
          </a:p>
        </p:txBody>
      </p:sp>
      <p:sp>
        <p:nvSpPr>
          <p:cNvPr id="43" name="Leakage prevention, clear portal insights and a backend">
            <a:extLst xmlns:a="http://schemas.openxmlformats.org/drawingml/2006/main">
              <a:ext uri="{FF2B5EF4-FFF2-40B4-BE49-F238E27FC236}">
                <a16:creationId xmlns:a16="http://schemas.microsoft.com/office/drawing/2014/main" id="{5E2FA76A-7F9B-41AA-AA37-141436D81AF6}"/>
              </a:ext>
            </a:extLst>
          </p:cNvPr>
          <p:cNvSpPr>
            <a:spLocks xmlns:a="http://schemas.openxmlformats.org/drawingml/2006/main" noGrp="1"/>
          </p:cNvSpPr>
          <p:nvPr/>
        </p:nvSpPr>
        <p:spPr>
          <a:xfrm xmlns:a="http://schemas.openxmlformats.org/drawingml/2006/main">
            <a:off x="8077200" y="5875020"/>
            <a:ext cx="3497580" cy="601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Leakage prevention, clear portal insights and a backend designed for national scale.</a:t>
            </a:r>
          </a:p>
        </p:txBody>
      </p:sp>
    </p:spTree>
    <p:extLst>
      <p:ext uri="{BB962C8B-B14F-4D97-AF65-F5344CB8AC3E}">
        <p14:creationId xmlns:p14="http://schemas.microsoft.com/office/powerpoint/2010/main" val="17339876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TECHNICAL APPROACH">
            <a:extLst xmlns:a="http://schemas.openxmlformats.org/drawingml/2006/main">
              <a:ext uri="{FF2B5EF4-FFF2-40B4-BE49-F238E27FC236}">
                <a16:creationId xmlns:a16="http://schemas.microsoft.com/office/drawing/2014/main" id="{1A66219D-AC4E-4DEA-827D-6DF6D42C8DA6}"/>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TECHNICAL APPROACH</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7ba6aaeba79e4928"/>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System architecture and AI/ML data flow">
            <a:extLst xmlns:a="http://schemas.openxmlformats.org/drawingml/2006/main">
              <a:ext uri="{FF2B5EF4-FFF2-40B4-BE49-F238E27FC236}">
                <a16:creationId xmlns:a16="http://schemas.microsoft.com/office/drawing/2014/main" id="{3CFEF47D-4354-455B-81BB-956D7D56FFC5}"/>
              </a:ext>
            </a:extLst>
          </p:cNvPr>
          <p:cNvSpPr>
            <a:spLocks xmlns:a="http://schemas.openxmlformats.org/drawingml/2006/main" noGrp="1"/>
          </p:cNvSpPr>
          <p:nvPr/>
        </p:nvSpPr>
        <p:spPr>
          <a:xfrm xmlns:a="http://schemas.openxmlformats.org/drawingml/2006/main">
            <a:off x="579120" y="1059180"/>
            <a:ext cx="110490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0">
                <a:solidFill>
                  <a:srgbClr val="4C606B"/>
                </a:solidFill>
                <a:latin typeface="Calibri"/>
                <a:ea typeface="Calibri"/>
                <a:cs typeface="Calibri"/>
              </a:defRPr>
            </a:pPr>
            <a:r>
              <a:rPr sz="1740" b="0">
                <a:solidFill>
                  <a:srgbClr val="4C606B"/>
                </a:solidFill>
                <a:latin typeface="Calibri"/>
                <a:ea typeface="Calibri"/>
                <a:cs typeface="Calibri"/>
              </a:rPr>
              <a:t>System architecture and AI/ML data flow</a:t>
            </a:r>
          </a:p>
        </p:txBody>
      </p:sp>
      <p:sp>
        <p:nvSpPr>
          <p:cNvPr id="4" name="">
            <a:extLst xmlns:a="http://schemas.openxmlformats.org/drawingml/2006/main">
              <a:ext uri="{FF2B5EF4-FFF2-40B4-BE49-F238E27FC236}">
                <a16:creationId xmlns:a16="http://schemas.microsoft.com/office/drawing/2014/main" id="{BD0A1AC6-5929-4BC9-9780-EEEA4E5768F2}"/>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5" name="Quantum Coders">
            <a:extLst xmlns:a="http://schemas.openxmlformats.org/drawingml/2006/main">
              <a:ext uri="{FF2B5EF4-FFF2-40B4-BE49-F238E27FC236}">
                <a16:creationId xmlns:a16="http://schemas.microsoft.com/office/drawing/2014/main" id="{D5BC1AD4-BF92-48AF-9E7C-8FB903F6C157}"/>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6" name="Smart India Hackathon 2026">
            <a:extLst xmlns:a="http://schemas.openxmlformats.org/drawingml/2006/main">
              <a:ext uri="{FF2B5EF4-FFF2-40B4-BE49-F238E27FC236}">
                <a16:creationId xmlns:a16="http://schemas.microsoft.com/office/drawing/2014/main" id="{4C6FD794-CEA5-432A-976B-F3EF1A349F1D}"/>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7" name="3 / 6">
            <a:extLst xmlns:a="http://schemas.openxmlformats.org/drawingml/2006/main">
              <a:ext uri="{FF2B5EF4-FFF2-40B4-BE49-F238E27FC236}">
                <a16:creationId xmlns:a16="http://schemas.microsoft.com/office/drawing/2014/main" id="{5ADC38D0-F260-42D8-A2D0-41AAC8CD8509}"/>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3 / 6</a:t>
            </a:r>
          </a:p>
        </p:txBody>
      </p:sp>
      <p:sp>
        <p:nvSpPr>
          <p:cNvPr id="8" name="System architecture">
            <a:extLst xmlns:a="http://schemas.openxmlformats.org/drawingml/2006/main">
              <a:ext uri="{FF2B5EF4-FFF2-40B4-BE49-F238E27FC236}">
                <a16:creationId xmlns:a16="http://schemas.microsoft.com/office/drawing/2014/main" id="{C320DF12-FE81-4F63-AAB7-EA99BE76D9BF}"/>
              </a:ext>
            </a:extLst>
          </p:cNvPr>
          <p:cNvSpPr>
            <a:spLocks xmlns:a="http://schemas.openxmlformats.org/drawingml/2006/main" noGrp="1"/>
          </p:cNvSpPr>
          <p:nvPr/>
        </p:nvSpPr>
        <p:spPr>
          <a:xfrm xmlns:a="http://schemas.openxmlformats.org/drawingml/2006/main">
            <a:off x="594360" y="1539240"/>
            <a:ext cx="83820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System architecture</a:t>
            </a:r>
          </a:p>
        </p:txBody>
      </p:sp>
      <p:sp>
        <p:nvSpPr>
          <p:cNvPr id="9" name="React.js dashboard Live risk heatmaps and charts">
            <a:extLst xmlns:a="http://schemas.openxmlformats.org/drawingml/2006/main">
              <a:ext uri="{FF2B5EF4-FFF2-40B4-BE49-F238E27FC236}">
                <a16:creationId xmlns:a16="http://schemas.microsoft.com/office/drawing/2014/main" id="{77BC362C-ADC3-4501-AE70-32324870902F}"/>
              </a:ext>
            </a:extLst>
          </p:cNvPr>
          <p:cNvSpPr>
            <a:spLocks xmlns:a="http://schemas.openxmlformats.org/drawingml/2006/main" noGrp="1"/>
          </p:cNvSpPr>
          <p:nvPr/>
        </p:nvSpPr>
        <p:spPr>
          <a:xfrm xmlns:a="http://schemas.openxmlformats.org/drawingml/2006/main">
            <a:off x="594360" y="2019300"/>
            <a:ext cx="2750820" cy="70104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80" b="0">
                <a:solidFill>
                  <a:srgbClr val="162B3B"/>
                </a:solidFill>
                <a:latin typeface="Calibri"/>
                <a:ea typeface="Calibri"/>
                <a:cs typeface="Calibri"/>
              </a:defRPr>
            </a:pPr>
            <a:r>
              <a:rPr sz="1680" b="0">
                <a:solidFill>
                  <a:srgbClr val="162B3B"/>
                </a:solidFill>
                <a:latin typeface="Calibri"/>
                <a:ea typeface="Calibri"/>
                <a:cs typeface="Calibri"/>
              </a:rPr>
              <a:t>React.js dashboard</a:t>
            </a:r>
          </a:p>
          <a:p xmlns:a="http://schemas.openxmlformats.org/drawingml/2006/main">
            <a:pPr algn="ctr">
              <a:defRPr sz="1680" b="0">
                <a:solidFill>
                  <a:srgbClr val="162B3B"/>
                </a:solidFill>
                <a:latin typeface="Calibri"/>
                <a:ea typeface="Calibri"/>
                <a:cs typeface="Calibri"/>
              </a:defRPr>
            </a:pPr>
            <a:r>
              <a:rPr sz="1680" b="0">
                <a:solidFill>
                  <a:srgbClr val="162B3B"/>
                </a:solidFill>
                <a:latin typeface="Calibri"/>
                <a:ea typeface="Calibri"/>
                <a:cs typeface="Calibri"/>
              </a:rPr>
              <a:t>Live risk heatmaps and charts</a:t>
            </a:r>
          </a:p>
        </p:txBody>
      </p:sp>
      <p:sp>
        <p:nvSpPr>
          <p:cNvPr id="10" name="FastAPI backend Authentication and routing">
            <a:extLst xmlns:a="http://schemas.openxmlformats.org/drawingml/2006/main">
              <a:ext uri="{FF2B5EF4-FFF2-40B4-BE49-F238E27FC236}">
                <a16:creationId xmlns:a16="http://schemas.microsoft.com/office/drawing/2014/main" id="{A57D9C1B-F683-4236-83CC-C3741056B9E1}"/>
              </a:ext>
            </a:extLst>
          </p:cNvPr>
          <p:cNvSpPr>
            <a:spLocks xmlns:a="http://schemas.openxmlformats.org/drawingml/2006/main" noGrp="1"/>
          </p:cNvSpPr>
          <p:nvPr/>
        </p:nvSpPr>
        <p:spPr>
          <a:xfrm xmlns:a="http://schemas.openxmlformats.org/drawingml/2006/main">
            <a:off x="4671060" y="2019300"/>
            <a:ext cx="2750820" cy="701040"/>
          </a:xfrm>
          <a:prstGeom xmlns:a="http://schemas.openxmlformats.org/drawingml/2006/main" prst="rect">
            <a:avLst/>
          </a:prstGeom>
          <a:solidFill xmlns:a="http://schemas.openxmlformats.org/drawingml/2006/main">
            <a:srgbClr val="DFEEE7"/>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80" b="0">
                <a:solidFill>
                  <a:srgbClr val="162B3B"/>
                </a:solidFill>
                <a:latin typeface="Calibri"/>
                <a:ea typeface="Calibri"/>
                <a:cs typeface="Calibri"/>
              </a:defRPr>
            </a:pPr>
            <a:r>
              <a:rPr sz="1680" b="0">
                <a:solidFill>
                  <a:srgbClr val="162B3B"/>
                </a:solidFill>
                <a:latin typeface="Calibri"/>
                <a:ea typeface="Calibri"/>
                <a:cs typeface="Calibri"/>
              </a:rPr>
              <a:t>FastAPI backend</a:t>
            </a:r>
          </a:p>
          <a:p xmlns:a="http://schemas.openxmlformats.org/drawingml/2006/main">
            <a:pPr algn="ctr">
              <a:defRPr sz="1680" b="0">
                <a:solidFill>
                  <a:srgbClr val="162B3B"/>
                </a:solidFill>
                <a:latin typeface="Calibri"/>
                <a:ea typeface="Calibri"/>
                <a:cs typeface="Calibri"/>
              </a:defRPr>
            </a:pPr>
            <a:r>
              <a:rPr sz="1680" b="0">
                <a:solidFill>
                  <a:srgbClr val="162B3B"/>
                </a:solidFill>
                <a:latin typeface="Calibri"/>
                <a:ea typeface="Calibri"/>
                <a:cs typeface="Calibri"/>
              </a:rPr>
              <a:t>Authentication and routing</a:t>
            </a:r>
          </a:p>
        </p:txBody>
      </p:sp>
      <p:sp>
        <p:nvSpPr>
          <p:cNvPr id="11" name="MongoDB Invoices, tenders and logs">
            <a:extLst xmlns:a="http://schemas.openxmlformats.org/drawingml/2006/main">
              <a:ext uri="{FF2B5EF4-FFF2-40B4-BE49-F238E27FC236}">
                <a16:creationId xmlns:a16="http://schemas.microsoft.com/office/drawing/2014/main" id="{244627FF-F9C4-4495-A34A-261D36EAB078}"/>
              </a:ext>
            </a:extLst>
          </p:cNvPr>
          <p:cNvSpPr>
            <a:spLocks xmlns:a="http://schemas.openxmlformats.org/drawingml/2006/main" noGrp="1"/>
          </p:cNvSpPr>
          <p:nvPr/>
        </p:nvSpPr>
        <p:spPr>
          <a:xfrm xmlns:a="http://schemas.openxmlformats.org/drawingml/2006/main">
            <a:off x="8747760" y="2019300"/>
            <a:ext cx="2750820" cy="70104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MongoDB</a:t>
            </a:r>
          </a:p>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Invoices, tenders and logs</a:t>
            </a:r>
          </a:p>
        </p:txBody>
      </p:sp>
      <p:cxnSp>
        <p:nvCxnSpPr>
          <p:cNvPr id="45" name=""/>
          <p:cNvCxnSpPr>
            <a:stCxn xmlns:a="http://schemas.openxmlformats.org/drawingml/2006/main" id="9" idx="3"/>
            <a:endCxn xmlns:a="http://schemas.openxmlformats.org/drawingml/2006/main" id="10" idx="1"/>
          </p:cNvCxnSpPr>
          <p:nvPr/>
        </p:nvCxnSpPr>
        <p:spPr>
          <a:xfrm xmlns:a="http://schemas.openxmlformats.org/drawingml/2006/main">
            <a:off x="3345180" y="2369820"/>
            <a:ext cx="1325880" cy="0"/>
          </a:xfrm>
          <a:prstGeom xmlns:a="http://schemas.openxmlformats.org/drawingml/2006/main" prst="straightConnector1">
            <a:avLst/>
          </a:prstGeom>
          <a:ln xmlns:a="http://schemas.openxmlformats.org/drawingml/2006/main" w="19050">
            <a:solidFill>
              <a:srgbClr val="234F83"/>
            </a:solidFill>
            <a:headEnd type="triangle" w="med" len="med"/>
            <a:tailEnd type="triangle" w="med" len="med"/>
          </a:ln>
        </p:spPr>
      </p:cxnSp>
      <p:cxnSp>
        <p:nvCxnSpPr>
          <p:cNvPr id="46" name=""/>
          <p:cNvCxnSpPr>
            <a:stCxn xmlns:a="http://schemas.openxmlformats.org/drawingml/2006/main" id="10" idx="3"/>
            <a:endCxn xmlns:a="http://schemas.openxmlformats.org/drawingml/2006/main" id="11" idx="1"/>
          </p:cNvCxnSpPr>
          <p:nvPr/>
        </p:nvCxnSpPr>
        <p:spPr>
          <a:xfrm xmlns:a="http://schemas.openxmlformats.org/drawingml/2006/main">
            <a:off x="7421880" y="2369820"/>
            <a:ext cx="1325880" cy="0"/>
          </a:xfrm>
          <a:prstGeom xmlns:a="http://schemas.openxmlformats.org/drawingml/2006/main" prst="straightConnector1">
            <a:avLst/>
          </a:prstGeom>
          <a:ln xmlns:a="http://schemas.openxmlformats.org/drawingml/2006/main" w="19050">
            <a:solidFill>
              <a:srgbClr val="234F83"/>
            </a:solidFill>
            <a:headEnd type="triangle" w="med" len="med"/>
            <a:tailEnd type="triangle" w="med" len="med"/>
          </a:ln>
        </p:spPr>
      </p:cxnSp>
      <p:sp>
        <p:nvSpPr>
          <p:cNvPr id="14" name="API requests / JSON">
            <a:extLst xmlns:a="http://schemas.openxmlformats.org/drawingml/2006/main">
              <a:ext uri="{FF2B5EF4-FFF2-40B4-BE49-F238E27FC236}">
                <a16:creationId xmlns:a16="http://schemas.microsoft.com/office/drawing/2014/main" id="{12634140-37B1-4C0C-9F59-285BC5CF2B21}"/>
              </a:ext>
            </a:extLst>
          </p:cNvPr>
          <p:cNvSpPr>
            <a:spLocks xmlns:a="http://schemas.openxmlformats.org/drawingml/2006/main" noGrp="1"/>
          </p:cNvSpPr>
          <p:nvPr/>
        </p:nvSpPr>
        <p:spPr>
          <a:xfrm xmlns:a="http://schemas.openxmlformats.org/drawingml/2006/main">
            <a:off x="3383280" y="1752600"/>
            <a:ext cx="123444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60" b="0">
                <a:solidFill>
                  <a:srgbClr val="4C606B"/>
                </a:solidFill>
                <a:latin typeface="Calibri"/>
                <a:ea typeface="Calibri"/>
                <a:cs typeface="Calibri"/>
              </a:defRPr>
            </a:pPr>
            <a:r>
              <a:rPr sz="1260" b="0">
                <a:solidFill>
                  <a:srgbClr val="4C606B"/>
                </a:solidFill>
                <a:latin typeface="Calibri"/>
                <a:ea typeface="Calibri"/>
                <a:cs typeface="Calibri"/>
              </a:rPr>
              <a:t>API requests / JSON</a:t>
            </a:r>
          </a:p>
        </p:txBody>
      </p:sp>
      <p:sp>
        <p:nvSpPr>
          <p:cNvPr id="15" name="Fetch / store records">
            <a:extLst xmlns:a="http://schemas.openxmlformats.org/drawingml/2006/main">
              <a:ext uri="{FF2B5EF4-FFF2-40B4-BE49-F238E27FC236}">
                <a16:creationId xmlns:a16="http://schemas.microsoft.com/office/drawing/2014/main" id="{641EB0A2-C208-44BB-81C4-D7CA7E77BACA}"/>
              </a:ext>
            </a:extLst>
          </p:cNvPr>
          <p:cNvSpPr>
            <a:spLocks xmlns:a="http://schemas.openxmlformats.org/drawingml/2006/main" noGrp="1"/>
          </p:cNvSpPr>
          <p:nvPr/>
        </p:nvSpPr>
        <p:spPr>
          <a:xfrm xmlns:a="http://schemas.openxmlformats.org/drawingml/2006/main">
            <a:off x="7475220" y="1752600"/>
            <a:ext cx="12573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60" b="0">
                <a:solidFill>
                  <a:srgbClr val="4C606B"/>
                </a:solidFill>
                <a:latin typeface="Calibri"/>
                <a:ea typeface="Calibri"/>
                <a:cs typeface="Calibri"/>
              </a:defRPr>
            </a:pPr>
            <a:r>
              <a:rPr sz="1260" b="0">
                <a:solidFill>
                  <a:srgbClr val="4C606B"/>
                </a:solidFill>
                <a:latin typeface="Calibri"/>
                <a:ea typeface="Calibri"/>
                <a:cs typeface="Calibri"/>
              </a:rPr>
              <a:t>Fetch / store records</a:t>
            </a:r>
          </a:p>
        </p:txBody>
      </p:sp>
      <p:sp>
        <p:nvSpPr>
          <p:cNvPr id="16" name="Python AI/ML service Inference and risk scoring">
            <a:extLst xmlns:a="http://schemas.openxmlformats.org/drawingml/2006/main">
              <a:ext uri="{FF2B5EF4-FFF2-40B4-BE49-F238E27FC236}">
                <a16:creationId xmlns:a16="http://schemas.microsoft.com/office/drawing/2014/main" id="{253C7A69-5166-4A9A-9EFF-7A77C5F54049}"/>
              </a:ext>
            </a:extLst>
          </p:cNvPr>
          <p:cNvSpPr>
            <a:spLocks xmlns:a="http://schemas.openxmlformats.org/drawingml/2006/main" noGrp="1"/>
          </p:cNvSpPr>
          <p:nvPr/>
        </p:nvSpPr>
        <p:spPr>
          <a:xfrm xmlns:a="http://schemas.openxmlformats.org/drawingml/2006/main">
            <a:off x="4671060" y="3345180"/>
            <a:ext cx="2750820" cy="678180"/>
          </a:xfrm>
          <a:prstGeom xmlns:a="http://schemas.openxmlformats.org/drawingml/2006/main" prst="rect">
            <a:avLst/>
          </a:prstGeom>
          <a:solidFill xmlns:a="http://schemas.openxmlformats.org/drawingml/2006/main">
            <a:srgbClr val="DFEEE7"/>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Python AI/ML service</a:t>
            </a:r>
          </a:p>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Inference and risk scoring</a:t>
            </a:r>
          </a:p>
        </p:txBody>
      </p:sp>
      <p:cxnSp>
        <p:nvCxnSpPr>
          <p:cNvPr id="50" name=""/>
          <p:cNvCxnSpPr>
            <a:stCxn xmlns:a="http://schemas.openxmlformats.org/drawingml/2006/main" id="10" idx="2"/>
            <a:endCxn xmlns:a="http://schemas.openxmlformats.org/drawingml/2006/main" id="16" idx="0"/>
          </p:cNvCxnSpPr>
          <p:nvPr/>
        </p:nvCxnSpPr>
        <p:spPr>
          <a:xfrm xmlns:a="http://schemas.openxmlformats.org/drawingml/2006/main">
            <a:off x="6046470" y="2720340"/>
            <a:ext cx="0" cy="624840"/>
          </a:xfrm>
          <a:prstGeom xmlns:a="http://schemas.openxmlformats.org/drawingml/2006/main" prst="straightConnector1">
            <a:avLst/>
          </a:prstGeom>
          <a:ln xmlns:a="http://schemas.openxmlformats.org/drawingml/2006/main" w="19050">
            <a:solidFill>
              <a:srgbClr val="234F83"/>
            </a:solidFill>
            <a:headEnd type="triangle" w="med" len="med"/>
            <a:tailEnd type="triangle" w="med" len="med"/>
          </a:ln>
        </p:spPr>
      </p:cxnSp>
      <p:sp>
        <p:nvSpPr>
          <p:cNvPr id="18" name="Validated data / risk flags">
            <a:extLst xmlns:a="http://schemas.openxmlformats.org/drawingml/2006/main">
              <a:ext uri="{FF2B5EF4-FFF2-40B4-BE49-F238E27FC236}">
                <a16:creationId xmlns:a16="http://schemas.microsoft.com/office/drawing/2014/main" id="{F94B6AC7-F17A-42AC-9916-635007651544}"/>
              </a:ext>
            </a:extLst>
          </p:cNvPr>
          <p:cNvSpPr>
            <a:spLocks xmlns:a="http://schemas.openxmlformats.org/drawingml/2006/main" noGrp="1"/>
          </p:cNvSpPr>
          <p:nvPr/>
        </p:nvSpPr>
        <p:spPr>
          <a:xfrm xmlns:a="http://schemas.openxmlformats.org/drawingml/2006/main">
            <a:off x="7658100" y="3223260"/>
            <a:ext cx="37719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40" b="0">
                <a:solidFill>
                  <a:srgbClr val="4C606B"/>
                </a:solidFill>
                <a:latin typeface="Calibri"/>
                <a:ea typeface="Calibri"/>
                <a:cs typeface="Calibri"/>
              </a:defRPr>
            </a:pPr>
            <a:r>
              <a:rPr sz="1440" b="0">
                <a:solidFill>
                  <a:srgbClr val="4C606B"/>
                </a:solidFill>
                <a:latin typeface="Calibri"/>
                <a:ea typeface="Calibri"/>
                <a:cs typeface="Calibri"/>
              </a:rPr>
              <a:t>Validated data / risk flags</a:t>
            </a:r>
          </a:p>
        </p:txBody>
      </p:sp>
      <p:sp>
        <p:nvSpPr>
          <p:cNvPr id="19" name="AI/ML core">
            <a:extLst xmlns:a="http://schemas.openxmlformats.org/drawingml/2006/main">
              <a:ext uri="{FF2B5EF4-FFF2-40B4-BE49-F238E27FC236}">
                <a16:creationId xmlns:a16="http://schemas.microsoft.com/office/drawing/2014/main" id="{6478344A-4598-44C0-A97B-2A270C714B9B}"/>
              </a:ext>
            </a:extLst>
          </p:cNvPr>
          <p:cNvSpPr>
            <a:spLocks xmlns:a="http://schemas.openxmlformats.org/drawingml/2006/main" noGrp="1"/>
          </p:cNvSpPr>
          <p:nvPr/>
        </p:nvSpPr>
        <p:spPr>
          <a:xfrm xmlns:a="http://schemas.openxmlformats.org/drawingml/2006/main">
            <a:off x="594360" y="33909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1">
                <a:solidFill>
                  <a:srgbClr val="234F83"/>
                </a:solidFill>
                <a:latin typeface="Calibri"/>
                <a:ea typeface="Calibri"/>
                <a:cs typeface="Calibri"/>
              </a:defRPr>
            </a:pPr>
            <a:r>
              <a:rPr sz="1920" b="1">
                <a:solidFill>
                  <a:srgbClr val="234F83"/>
                </a:solidFill>
                <a:latin typeface="Calibri"/>
                <a:ea typeface="Calibri"/>
                <a:cs typeface="Calibri"/>
              </a:rPr>
              <a:t>AI/ML core</a:t>
            </a:r>
          </a:p>
        </p:txBody>
      </p:sp>
      <p:sp>
        <p:nvSpPr>
          <p:cNvPr id="20" name="Intelligent anomaly detection pipeline">
            <a:extLst xmlns:a="http://schemas.openxmlformats.org/drawingml/2006/main">
              <a:ext uri="{FF2B5EF4-FFF2-40B4-BE49-F238E27FC236}">
                <a16:creationId xmlns:a16="http://schemas.microsoft.com/office/drawing/2014/main" id="{ECCD8DEA-3D2D-4C17-BA65-9848D85F85B3}"/>
              </a:ext>
            </a:extLst>
          </p:cNvPr>
          <p:cNvSpPr>
            <a:spLocks xmlns:a="http://schemas.openxmlformats.org/drawingml/2006/main" noGrp="1"/>
          </p:cNvSpPr>
          <p:nvPr/>
        </p:nvSpPr>
        <p:spPr>
          <a:xfrm xmlns:a="http://schemas.openxmlformats.org/drawingml/2006/main">
            <a:off x="594360" y="3741420"/>
            <a:ext cx="35814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Intelligent anomaly detection pipeline</a:t>
            </a:r>
          </a:p>
        </p:txBody>
      </p:sp>
      <p:sp>
        <p:nvSpPr>
          <p:cNvPr id="21" name="Processing pipeline">
            <a:extLst xmlns:a="http://schemas.openxmlformats.org/drawingml/2006/main">
              <a:ext uri="{FF2B5EF4-FFF2-40B4-BE49-F238E27FC236}">
                <a16:creationId xmlns:a16="http://schemas.microsoft.com/office/drawing/2014/main" id="{9F07888D-C53F-45C9-854D-B20B16D09E46}"/>
              </a:ext>
            </a:extLst>
          </p:cNvPr>
          <p:cNvSpPr>
            <a:spLocks xmlns:a="http://schemas.openxmlformats.org/drawingml/2006/main" noGrp="1"/>
          </p:cNvSpPr>
          <p:nvPr/>
        </p:nvSpPr>
        <p:spPr>
          <a:xfrm xmlns:a="http://schemas.openxmlformats.org/drawingml/2006/main">
            <a:off x="594360" y="4320540"/>
            <a:ext cx="106680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Processing pipeline</a:t>
            </a:r>
          </a:p>
        </p:txBody>
      </p:sp>
      <p:sp>
        <p:nvSpPr>
          <p:cNvPr id="22" name="Raw financial logs Invoices and tenders">
            <a:extLst xmlns:a="http://schemas.openxmlformats.org/drawingml/2006/main">
              <a:ext uri="{FF2B5EF4-FFF2-40B4-BE49-F238E27FC236}">
                <a16:creationId xmlns:a16="http://schemas.microsoft.com/office/drawing/2014/main" id="{1E08FD44-9EDA-4377-83DB-AE11735CEB8E}"/>
              </a:ext>
            </a:extLst>
          </p:cNvPr>
          <p:cNvSpPr>
            <a:spLocks xmlns:a="http://schemas.openxmlformats.org/drawingml/2006/main" noGrp="1"/>
          </p:cNvSpPr>
          <p:nvPr/>
        </p:nvSpPr>
        <p:spPr>
          <a:xfrm xmlns:a="http://schemas.openxmlformats.org/drawingml/2006/main">
            <a:off x="594360" y="4770120"/>
            <a:ext cx="1965960" cy="86106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Raw financial logs</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Invoices and tenders</a:t>
            </a:r>
          </a:p>
        </p:txBody>
      </p:sp>
      <p:sp>
        <p:nvSpPr>
          <p:cNvPr id="23" name="Pandas cleansing Missing values and normalization">
            <a:extLst xmlns:a="http://schemas.openxmlformats.org/drawingml/2006/main">
              <a:ext uri="{FF2B5EF4-FFF2-40B4-BE49-F238E27FC236}">
                <a16:creationId xmlns:a16="http://schemas.microsoft.com/office/drawing/2014/main" id="{5AF21B43-9E8E-4FD2-84A4-AABCE0451C0D}"/>
              </a:ext>
            </a:extLst>
          </p:cNvPr>
          <p:cNvSpPr>
            <a:spLocks xmlns:a="http://schemas.openxmlformats.org/drawingml/2006/main" noGrp="1"/>
          </p:cNvSpPr>
          <p:nvPr/>
        </p:nvSpPr>
        <p:spPr>
          <a:xfrm xmlns:a="http://schemas.openxmlformats.org/drawingml/2006/main">
            <a:off x="2849880" y="4770120"/>
            <a:ext cx="1965960" cy="86106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Pandas cleansing</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Missing values and</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normalization</a:t>
            </a:r>
          </a:p>
        </p:txBody>
      </p:sp>
      <p:sp>
        <p:nvSpPr>
          <p:cNvPr id="24" name="Feature engineering Geotags, cost / deficit ratios, spending velocity">
            <a:extLst xmlns:a="http://schemas.openxmlformats.org/drawingml/2006/main">
              <a:ext uri="{FF2B5EF4-FFF2-40B4-BE49-F238E27FC236}">
                <a16:creationId xmlns:a16="http://schemas.microsoft.com/office/drawing/2014/main" id="{663FF81C-E10D-437F-886A-555C364950AE}"/>
              </a:ext>
            </a:extLst>
          </p:cNvPr>
          <p:cNvSpPr>
            <a:spLocks xmlns:a="http://schemas.openxmlformats.org/drawingml/2006/main" noGrp="1"/>
          </p:cNvSpPr>
          <p:nvPr/>
        </p:nvSpPr>
        <p:spPr>
          <a:xfrm xmlns:a="http://schemas.openxmlformats.org/drawingml/2006/main">
            <a:off x="5105400" y="4770120"/>
            <a:ext cx="1965960" cy="86106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Feature engineering</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Geotags, cost / deficit</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ratios, spending velocity</a:t>
            </a:r>
          </a:p>
        </p:txBody>
      </p:sp>
      <p:sp>
        <p:nvSpPr>
          <p:cNvPr id="25" name="Multi-model inference Isolation Forest, similarity, Random Forest*">
            <a:extLst xmlns:a="http://schemas.openxmlformats.org/drawingml/2006/main">
              <a:ext uri="{FF2B5EF4-FFF2-40B4-BE49-F238E27FC236}">
                <a16:creationId xmlns:a16="http://schemas.microsoft.com/office/drawing/2014/main" id="{DAE294B7-B1D5-4D31-964D-25ED2DEEA019}"/>
              </a:ext>
            </a:extLst>
          </p:cNvPr>
          <p:cNvSpPr>
            <a:spLocks xmlns:a="http://schemas.openxmlformats.org/drawingml/2006/main" noGrp="1"/>
          </p:cNvSpPr>
          <p:nvPr/>
        </p:nvSpPr>
        <p:spPr>
          <a:xfrm xmlns:a="http://schemas.openxmlformats.org/drawingml/2006/main">
            <a:off x="7360920" y="4770120"/>
            <a:ext cx="1965960" cy="86106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Multi-model inference</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Isolation Forest, similarity,</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Random Forest*</a:t>
            </a:r>
          </a:p>
        </p:txBody>
      </p:sp>
      <p:sp>
        <p:nvSpPr>
          <p:cNvPr id="26" name="Weighted risk scores Dynamic thresholds High / medium / low">
            <a:extLst xmlns:a="http://schemas.openxmlformats.org/drawingml/2006/main">
              <a:ext uri="{FF2B5EF4-FFF2-40B4-BE49-F238E27FC236}">
                <a16:creationId xmlns:a16="http://schemas.microsoft.com/office/drawing/2014/main" id="{68229072-96B6-49FE-B4E7-74A24A6CF26F}"/>
              </a:ext>
            </a:extLst>
          </p:cNvPr>
          <p:cNvSpPr>
            <a:spLocks xmlns:a="http://schemas.openxmlformats.org/drawingml/2006/main" noGrp="1"/>
          </p:cNvSpPr>
          <p:nvPr/>
        </p:nvSpPr>
        <p:spPr>
          <a:xfrm xmlns:a="http://schemas.openxmlformats.org/drawingml/2006/main">
            <a:off x="9616440" y="4770120"/>
            <a:ext cx="1965960" cy="861060"/>
          </a:xfrm>
          <a:prstGeom xmlns:a="http://schemas.openxmlformats.org/drawingml/2006/main" prst="rect">
            <a:avLst/>
          </a:prstGeom>
          <a:solidFill xmlns:a="http://schemas.openxmlformats.org/drawingml/2006/main">
            <a:srgbClr val="DFEEE7"/>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Weighted risk scores</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Dynamic thresholds</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High / medium / low</a:t>
            </a:r>
          </a:p>
        </p:txBody>
      </p:sp>
      <p:cxnSp>
        <p:nvCxnSpPr>
          <p:cNvPr id="60" name=""/>
          <p:cNvCxnSpPr>
            <a:stCxn xmlns:a="http://schemas.openxmlformats.org/drawingml/2006/main" id="22" idx="3"/>
            <a:endCxn xmlns:a="http://schemas.openxmlformats.org/drawingml/2006/main" id="23" idx="1"/>
          </p:cNvCxnSpPr>
          <p:nvPr/>
        </p:nvCxnSpPr>
        <p:spPr>
          <a:xfrm xmlns:a="http://schemas.openxmlformats.org/drawingml/2006/main">
            <a:off x="2560320" y="5200650"/>
            <a:ext cx="28956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61" name=""/>
          <p:cNvCxnSpPr>
            <a:stCxn xmlns:a="http://schemas.openxmlformats.org/drawingml/2006/main" id="23" idx="3"/>
            <a:endCxn xmlns:a="http://schemas.openxmlformats.org/drawingml/2006/main" id="24" idx="1"/>
          </p:cNvCxnSpPr>
          <p:nvPr/>
        </p:nvCxnSpPr>
        <p:spPr>
          <a:xfrm xmlns:a="http://schemas.openxmlformats.org/drawingml/2006/main">
            <a:off x="4815840" y="5200650"/>
            <a:ext cx="28956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62" name=""/>
          <p:cNvCxnSpPr>
            <a:stCxn xmlns:a="http://schemas.openxmlformats.org/drawingml/2006/main" id="24" idx="3"/>
            <a:endCxn xmlns:a="http://schemas.openxmlformats.org/drawingml/2006/main" id="25" idx="1"/>
          </p:cNvCxnSpPr>
          <p:nvPr/>
        </p:nvCxnSpPr>
        <p:spPr>
          <a:xfrm xmlns:a="http://schemas.openxmlformats.org/drawingml/2006/main">
            <a:off x="7071360" y="5200650"/>
            <a:ext cx="28956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63" name=""/>
          <p:cNvCxnSpPr>
            <a:stCxn xmlns:a="http://schemas.openxmlformats.org/drawingml/2006/main" id="25" idx="3"/>
            <a:endCxn xmlns:a="http://schemas.openxmlformats.org/drawingml/2006/main" id="26" idx="1"/>
          </p:cNvCxnSpPr>
          <p:nvPr/>
        </p:nvCxnSpPr>
        <p:spPr>
          <a:xfrm xmlns:a="http://schemas.openxmlformats.org/drawingml/2006/main">
            <a:off x="9326880" y="5200650"/>
            <a:ext cx="289560" cy="0"/>
          </a:xfrm>
          <a:prstGeom xmlns:a="http://schemas.openxmlformats.org/drawingml/2006/main" prst="straightConnector1">
            <a:avLst/>
          </a:prstGeom>
          <a:ln xmlns:a="http://schemas.openxmlformats.org/drawingml/2006/main" w="19050">
            <a:solidFill>
              <a:srgbClr val="234F83"/>
            </a:solidFill>
            <a:tailEnd type="triangle" w="med" len="med"/>
          </a:ln>
        </p:spPr>
      </p:cxnSp>
      <p:sp>
        <p:nvSpPr>
          <p:cNvPr id="31" name="Tech stack">
            <a:extLst xmlns:a="http://schemas.openxmlformats.org/drawingml/2006/main">
              <a:ext uri="{FF2B5EF4-FFF2-40B4-BE49-F238E27FC236}">
                <a16:creationId xmlns:a16="http://schemas.microsoft.com/office/drawing/2014/main" id="{2E8265C9-4C0F-4B41-BBC7-1DFA4B06D5DE}"/>
              </a:ext>
            </a:extLst>
          </p:cNvPr>
          <p:cNvSpPr>
            <a:spLocks xmlns:a="http://schemas.openxmlformats.org/drawingml/2006/main" noGrp="1"/>
          </p:cNvSpPr>
          <p:nvPr/>
        </p:nvSpPr>
        <p:spPr>
          <a:xfrm xmlns:a="http://schemas.openxmlformats.org/drawingml/2006/main">
            <a:off x="609600" y="5905500"/>
            <a:ext cx="14859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20" b="1">
                <a:solidFill>
                  <a:srgbClr val="234F83"/>
                </a:solidFill>
                <a:latin typeface="Calibri"/>
                <a:ea typeface="Calibri"/>
                <a:cs typeface="Calibri"/>
              </a:defRPr>
            </a:pPr>
            <a:r>
              <a:rPr sz="1620" b="1">
                <a:solidFill>
                  <a:srgbClr val="234F83"/>
                </a:solidFill>
                <a:latin typeface="Calibri"/>
                <a:ea typeface="Calibri"/>
                <a:cs typeface="Calibri"/>
              </a:rPr>
              <a:t>Tech stack</a:t>
            </a:r>
          </a:p>
        </p:txBody>
      </p:sp>
      <p:sp>
        <p:nvSpPr>
          <p:cNvPr id="32" name="Python, TensorFlow, NumPy, Pandas, scikit-learn, MongoD">
            <a:extLst xmlns:a="http://schemas.openxmlformats.org/drawingml/2006/main">
              <a:ext uri="{FF2B5EF4-FFF2-40B4-BE49-F238E27FC236}">
                <a16:creationId xmlns:a16="http://schemas.microsoft.com/office/drawing/2014/main" id="{0F6DD869-56EB-4D9A-AB2A-1D38C5DC5209}"/>
              </a:ext>
            </a:extLst>
          </p:cNvPr>
          <p:cNvSpPr>
            <a:spLocks xmlns:a="http://schemas.openxmlformats.org/drawingml/2006/main" noGrp="1"/>
          </p:cNvSpPr>
          <p:nvPr/>
        </p:nvSpPr>
        <p:spPr>
          <a:xfrm xmlns:a="http://schemas.openxmlformats.org/drawingml/2006/main">
            <a:off x="2164080" y="5905500"/>
            <a:ext cx="9448800" cy="312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20" b="0">
                <a:solidFill>
                  <a:srgbClr val="162B3B"/>
                </a:solidFill>
                <a:latin typeface="Calibri"/>
                <a:ea typeface="Calibri"/>
                <a:cs typeface="Calibri"/>
              </a:defRPr>
            </a:pPr>
            <a:r>
              <a:rPr sz="1620" b="0">
                <a:solidFill>
                  <a:srgbClr val="162B3B"/>
                </a:solidFill>
                <a:latin typeface="Calibri"/>
                <a:ea typeface="Calibri"/>
                <a:cs typeface="Calibri"/>
              </a:rPr>
              <a:t>Python, TensorFlow, NumPy, Pandas, scikit-learn, MongoDB, FastAPI and React.js</a:t>
            </a:r>
          </a:p>
        </p:txBody>
      </p:sp>
      <p:sp>
        <p:nvSpPr>
          <p:cNvPr id="33" name="*Use labeled cases for Random Forest. Explicit complian">
            <a:extLst xmlns:a="http://schemas.openxmlformats.org/drawingml/2006/main">
              <a:ext uri="{FF2B5EF4-FFF2-40B4-BE49-F238E27FC236}">
                <a16:creationId xmlns:a16="http://schemas.microsoft.com/office/drawing/2014/main" id="{B5561FE6-035D-406C-92D9-34D708D49F28}"/>
              </a:ext>
            </a:extLst>
          </p:cNvPr>
          <p:cNvSpPr>
            <a:spLocks xmlns:a="http://schemas.openxmlformats.org/drawingml/2006/main" noGrp="1"/>
          </p:cNvSpPr>
          <p:nvPr/>
        </p:nvSpPr>
        <p:spPr>
          <a:xfrm xmlns:a="http://schemas.openxmlformats.org/drawingml/2006/main">
            <a:off x="609600" y="6263640"/>
            <a:ext cx="1104900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60" b="0">
                <a:solidFill>
                  <a:srgbClr val="4C606B"/>
                </a:solidFill>
                <a:latin typeface="Calibri"/>
                <a:ea typeface="Calibri"/>
                <a:cs typeface="Calibri"/>
              </a:defRPr>
            </a:pPr>
            <a:r>
              <a:rPr sz="1260" b="0">
                <a:solidFill>
                  <a:srgbClr val="4C606B"/>
                </a:solidFill>
                <a:latin typeface="Calibri"/>
                <a:ea typeface="Calibri"/>
                <a:cs typeface="Calibri"/>
              </a:rPr>
              <a:t>*Use labeled cases for Random Forest. Explicit compliance checks remain in the rule engine.</a:t>
            </a:r>
          </a:p>
        </p:txBody>
      </p:sp>
    </p:spTree>
    <p:extLst>
      <p:ext uri="{BB962C8B-B14F-4D97-AF65-F5344CB8AC3E}">
        <p14:creationId xmlns:p14="http://schemas.microsoft.com/office/powerpoint/2010/main" val="7963992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EASIBILITY AND VIABILITY">
            <a:extLst xmlns:a="http://schemas.openxmlformats.org/drawingml/2006/main">
              <a:ext uri="{FF2B5EF4-FFF2-40B4-BE49-F238E27FC236}">
                <a16:creationId xmlns:a16="http://schemas.microsoft.com/office/drawing/2014/main" id="{BBCE6C28-4C6D-402F-B429-ECF63BEC6C42}"/>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FEASIBILITY AND VIABILITY</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f5b386db3fa4c14"/>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2B175BE-81B2-4696-A4FA-092E1EDE9A1F}"/>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4" name="Quantum Coders">
            <a:extLst xmlns:a="http://schemas.openxmlformats.org/drawingml/2006/main">
              <a:ext uri="{FF2B5EF4-FFF2-40B4-BE49-F238E27FC236}">
                <a16:creationId xmlns:a16="http://schemas.microsoft.com/office/drawing/2014/main" id="{1076E1A2-E926-4776-A8A2-D707EEA6D47B}"/>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5" name="Smart India Hackathon 2026">
            <a:extLst xmlns:a="http://schemas.openxmlformats.org/drawingml/2006/main">
              <a:ext uri="{FF2B5EF4-FFF2-40B4-BE49-F238E27FC236}">
                <a16:creationId xmlns:a16="http://schemas.microsoft.com/office/drawing/2014/main" id="{2F7CE162-303B-4CA1-A773-A398610B926A}"/>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6" name="4 / 6">
            <a:extLst xmlns:a="http://schemas.openxmlformats.org/drawingml/2006/main">
              <a:ext uri="{FF2B5EF4-FFF2-40B4-BE49-F238E27FC236}">
                <a16:creationId xmlns:a16="http://schemas.microsoft.com/office/drawing/2014/main" id="{19CF4DA8-2F05-4992-AD7E-ADED2A30C66A}"/>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4 / 6</a:t>
            </a:r>
          </a:p>
        </p:txBody>
      </p:sp>
      <p:sp>
        <p:nvSpPr>
          <p:cNvPr id="7" name="Risk assessment and mitigation">
            <a:extLst xmlns:a="http://schemas.openxmlformats.org/drawingml/2006/main">
              <a:ext uri="{FF2B5EF4-FFF2-40B4-BE49-F238E27FC236}">
                <a16:creationId xmlns:a16="http://schemas.microsoft.com/office/drawing/2014/main" id="{DEE1F21C-ABAF-4298-8C7C-C9ABBF13AB64}"/>
              </a:ext>
            </a:extLst>
          </p:cNvPr>
          <p:cNvSpPr>
            <a:spLocks xmlns:a="http://schemas.openxmlformats.org/drawingml/2006/main" noGrp="1"/>
          </p:cNvSpPr>
          <p:nvPr/>
        </p:nvSpPr>
        <p:spPr>
          <a:xfrm xmlns:a="http://schemas.openxmlformats.org/drawingml/2006/main">
            <a:off x="594360" y="1333500"/>
            <a:ext cx="110490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Risk assessment and mitigation</a:t>
            </a:r>
          </a:p>
        </p:txBody>
      </p:sp>
      <p:graphicFrame>
        <p:nvGraphicFramePr>
          <p:cNvPr id="22" name=""/>
          <p:cNvGraphicFramePr/>
          <p:nvPr/>
        </p:nvGraphicFramePr>
        <p:xfrm>
          <a:off xmlns:a="http://schemas.openxmlformats.org/drawingml/2006/main" x="594360" y="1798320"/>
          <a:ext xmlns:a="http://schemas.openxmlformats.org/drawingml/2006/main" cx="11003280" cy="2491740"/>
        </p:xfrm>
        <a:graphic xmlns:a="http://schemas.openxmlformats.org/drawingml/2006/main">
          <a:graphicData uri="http://schemas.openxmlformats.org/drawingml/2006/table">
            <a:tbl>
              <a:tblPr firstRow="0" bandRow="0"/>
              <a:tblGrid>
                <a:gridCol w="3230880"/>
                <a:gridCol w="7772400"/>
              </a:tblGrid>
              <a:tr h="411480">
                <a:tc>
                  <a:txBody>
                    <a:bodyPr lIns="121920" tIns="45720" rIns="106680" bIns="45720">
                      <a:noAutofit/>
                    </a:bodyPr>
                    <a:lstStyle/>
                    <a:p>
                      <a:r>
                        <a:rPr sz="1560" b="1">
                          <a:solidFill>
                            <a:srgbClr val="FFFFFF"/>
                          </a:solidFill>
                          <a:latin typeface="Calibri"/>
                          <a:ea typeface="Calibri"/>
                          <a:cs typeface="Calibri"/>
                        </a:rPr>
                        <a:t>Risk</a:t>
                      </a:r>
                    </a:p>
                  </a:txBody>
                  <a:tcPr marL="121920" marR="106680" marT="45720" marB="45720" anchor="ctr">
                    <a:solidFill>
                      <a:srgbClr val="234F83"/>
                    </a:solidFill>
                  </a:tcPr>
                </a:tc>
                <a:tc>
                  <a:txBody>
                    <a:bodyPr lIns="121920" tIns="45720" rIns="106680" bIns="45720">
                      <a:noAutofit/>
                    </a:bodyPr>
                    <a:lstStyle/>
                    <a:p>
                      <a:r>
                        <a:rPr sz="1560" b="1">
                          <a:solidFill>
                            <a:srgbClr val="FFFFFF"/>
                          </a:solidFill>
                          <a:latin typeface="Calibri"/>
                          <a:ea typeface="Calibri"/>
                          <a:cs typeface="Calibri"/>
                        </a:rPr>
                        <a:t>Proposed mitigation</a:t>
                      </a:r>
                    </a:p>
                  </a:txBody>
                  <a:tcPr marL="121920" marR="106680" marT="45720" marB="45720" anchor="ctr">
                    <a:solidFill>
                      <a:srgbClr val="234F83"/>
                    </a:solidFill>
                  </a:tcPr>
                </a:tc>
              </a:tr>
              <a:tr h="693420">
                <a:tc>
                  <a:txBody>
                    <a:bodyPr lIns="121920" tIns="45720" rIns="106680" bIns="45720">
                      <a:noAutofit/>
                    </a:bodyPr>
                    <a:lstStyle/>
                    <a:p>
                      <a:r>
                        <a:rPr sz="1620" b="1">
                          <a:solidFill>
                            <a:srgbClr val="162B3B"/>
                          </a:solidFill>
                          <a:latin typeface="Calibri"/>
                          <a:ea typeface="Calibri"/>
                          <a:cs typeface="Calibri"/>
                        </a:rPr>
                        <a:t>Data transparency</a:t>
                      </a:r>
                    </a:p>
                  </a:txBody>
                  <a:tcPr marL="121920" marR="106680" marT="45720" marB="45720" anchor="ctr">
                    <a:solidFill>
                      <a:srgbClr val="FFFFFF"/>
                    </a:solidFill>
                  </a:tcPr>
                </a:tc>
                <a:tc>
                  <a:txBody>
                    <a:bodyPr lIns="121920" tIns="45720" rIns="106680" bIns="45720">
                      <a:noAutofit/>
                    </a:bodyPr>
                    <a:lstStyle/>
                    <a:p>
                      <a:r>
                        <a:rPr sz="1620" b="0">
                          <a:solidFill>
                            <a:srgbClr val="162B3B"/>
                          </a:solidFill>
                          <a:latin typeface="Calibri"/>
                          <a:ea typeface="Calibri"/>
                          <a:cs typeface="Calibri"/>
                        </a:rPr>
                        <a:t>Vague or delayed district reports: automate authorized invoice and tender ingestion through FastAPI.</a:t>
                      </a:r>
                    </a:p>
                  </a:txBody>
                  <a:tcPr marL="121920" marR="106680" marT="45720" marB="45720" anchor="ctr">
                    <a:solidFill>
                      <a:srgbClr val="FFFFFF"/>
                    </a:solidFill>
                  </a:tcPr>
                </a:tc>
              </a:tr>
              <a:tr h="693420">
                <a:tc>
                  <a:txBody>
                    <a:bodyPr lIns="121920" tIns="45720" rIns="106680" bIns="45720">
                      <a:noAutofit/>
                    </a:bodyPr>
                    <a:lstStyle/>
                    <a:p>
                      <a:r>
                        <a:rPr sz="1620" b="1">
                          <a:solidFill>
                            <a:srgbClr val="162B3B"/>
                          </a:solidFill>
                          <a:latin typeface="Calibri"/>
                          <a:ea typeface="Calibri"/>
                          <a:cs typeface="Calibri"/>
                        </a:rPr>
                        <a:t>Auditing bottlenecks</a:t>
                      </a:r>
                    </a:p>
                  </a:txBody>
                  <a:tcPr marL="121920" marR="106680" marT="45720" marB="45720" anchor="ctr">
                    <a:solidFill>
                      <a:srgbClr val="EDF4FA"/>
                    </a:solidFill>
                  </a:tcPr>
                </a:tc>
                <a:tc>
                  <a:txBody>
                    <a:bodyPr lIns="121920" tIns="45720" rIns="106680" bIns="45720">
                      <a:noAutofit/>
                    </a:bodyPr>
                    <a:lstStyle/>
                    <a:p>
                      <a:r>
                        <a:rPr sz="1620" b="0">
                          <a:solidFill>
                            <a:srgbClr val="162B3B"/>
                          </a:solidFill>
                          <a:latin typeface="Calibri"/>
                          <a:ea typeface="Calibri"/>
                          <a:cs typeface="Calibri"/>
                        </a:rPr>
                        <a:t>High manual cost and oversight lags: use Isolation Forest to prioritize financial anomalies and outliers.</a:t>
                      </a:r>
                    </a:p>
                  </a:txBody>
                  <a:tcPr marL="121920" marR="106680" marT="45720" marB="45720" anchor="ctr">
                    <a:solidFill>
                      <a:srgbClr val="EDF4FA"/>
                    </a:solidFill>
                  </a:tcPr>
                </a:tc>
              </a:tr>
              <a:tr h="693420">
                <a:tc>
                  <a:txBody>
                    <a:bodyPr lIns="121920" tIns="45720" rIns="106680" bIns="45720">
                      <a:noAutofit/>
                    </a:bodyPr>
                    <a:lstStyle/>
                    <a:p>
                      <a:r>
                        <a:rPr sz="1620" b="1">
                          <a:solidFill>
                            <a:srgbClr val="162B3B"/>
                          </a:solidFill>
                          <a:latin typeface="Calibri"/>
                          <a:ea typeface="Calibri"/>
                          <a:cs typeface="Calibri"/>
                        </a:rPr>
                        <a:t>False positives and credibility</a:t>
                      </a:r>
                    </a:p>
                  </a:txBody>
                  <a:tcPr marL="121920" marR="106680" marT="45720" marB="45720" anchor="ctr">
                    <a:solidFill>
                      <a:srgbClr val="FFFFFF"/>
                    </a:solidFill>
                  </a:tcPr>
                </a:tc>
                <a:tc>
                  <a:txBody>
                    <a:bodyPr lIns="121920" tIns="45720" rIns="106680" bIns="45720">
                      <a:noAutofit/>
                    </a:bodyPr>
                    <a:lstStyle/>
                    <a:p>
                      <a:r>
                        <a:rPr sz="1620" b="0">
                          <a:solidFill>
                            <a:srgbClr val="162B3B"/>
                          </a:solidFill>
                          <a:latin typeface="Calibri"/>
                          <a:ea typeface="Calibri"/>
                          <a:cs typeface="Calibri"/>
                        </a:rPr>
                        <a:t>Support officials with multi-tier risk scores and verifiable district evidence before investigation.</a:t>
                      </a:r>
                    </a:p>
                  </a:txBody>
                  <a:tcPr marL="121920" marR="106680" marT="45720" marB="45720" anchor="ctr">
                    <a:solidFill>
                      <a:srgbClr val="FFFFFF"/>
                    </a:solidFill>
                  </a:tcPr>
                </a:tc>
              </a:tr>
            </a:tbl>
          </a:graphicData>
        </a:graphic>
      </p:graphicFrame>
      <p:sp>
        <p:nvSpPr>
          <p:cNvPr id="9" name="Technical feasibility">
            <a:extLst xmlns:a="http://schemas.openxmlformats.org/drawingml/2006/main">
              <a:ext uri="{FF2B5EF4-FFF2-40B4-BE49-F238E27FC236}">
                <a16:creationId xmlns:a16="http://schemas.microsoft.com/office/drawing/2014/main" id="{EC06AB2E-6312-412F-A18B-9F3E8C619341}"/>
              </a:ext>
            </a:extLst>
          </p:cNvPr>
          <p:cNvSpPr>
            <a:spLocks xmlns:a="http://schemas.openxmlformats.org/drawingml/2006/main" noGrp="1"/>
          </p:cNvSpPr>
          <p:nvPr/>
        </p:nvSpPr>
        <p:spPr>
          <a:xfrm xmlns:a="http://schemas.openxmlformats.org/drawingml/2006/main">
            <a:off x="609600" y="4594860"/>
            <a:ext cx="34366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Technical feasibility</a:t>
            </a:r>
          </a:p>
        </p:txBody>
      </p:sp>
      <p:sp>
        <p:nvSpPr>
          <p:cNvPr id="10" name="React.js UI, FastAPI APIs and MongoDB storage. Python s">
            <a:extLst xmlns:a="http://schemas.openxmlformats.org/drawingml/2006/main">
              <a:ext uri="{FF2B5EF4-FFF2-40B4-BE49-F238E27FC236}">
                <a16:creationId xmlns:a16="http://schemas.microsoft.com/office/drawing/2014/main" id="{287B38CF-832F-4DAE-B41B-49620FB29DB4}"/>
              </a:ext>
            </a:extLst>
          </p:cNvPr>
          <p:cNvSpPr>
            <a:spLocks xmlns:a="http://schemas.openxmlformats.org/drawingml/2006/main" noGrp="1"/>
          </p:cNvSpPr>
          <p:nvPr/>
        </p:nvSpPr>
        <p:spPr>
          <a:xfrm xmlns:a="http://schemas.openxmlformats.org/drawingml/2006/main">
            <a:off x="609600" y="4953000"/>
            <a:ext cx="3436620" cy="1348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0">
                <a:solidFill>
                  <a:srgbClr val="162B3B"/>
                </a:solidFill>
                <a:latin typeface="Calibri"/>
                <a:ea typeface="Calibri"/>
                <a:cs typeface="Calibri"/>
              </a:defRPr>
            </a:pPr>
            <a:r>
              <a:rPr sz="1560" b="0">
                <a:solidFill>
                  <a:srgbClr val="162B3B"/>
                </a:solidFill>
                <a:latin typeface="Calibri"/>
                <a:ea typeface="Calibri"/>
                <a:cs typeface="Calibri"/>
              </a:rPr>
              <a:t>React.js UI, FastAPI APIs and MongoDB storage. Python services use Pandas and scikit-learn for cleansing and financial modeling. Secure cloud architecture targets nationwide district data.</a:t>
            </a:r>
          </a:p>
        </p:txBody>
      </p:sp>
      <p:sp>
        <p:nvSpPr>
          <p:cNvPr id="11" name="Economic approach">
            <a:extLst xmlns:a="http://schemas.openxmlformats.org/drawingml/2006/main">
              <a:ext uri="{FF2B5EF4-FFF2-40B4-BE49-F238E27FC236}">
                <a16:creationId xmlns:a16="http://schemas.microsoft.com/office/drawing/2014/main" id="{548CC314-EE19-4248-90D8-3A0A32972F6D}"/>
              </a:ext>
            </a:extLst>
          </p:cNvPr>
          <p:cNvSpPr>
            <a:spLocks xmlns:a="http://schemas.openxmlformats.org/drawingml/2006/main" noGrp="1"/>
          </p:cNvSpPr>
          <p:nvPr/>
        </p:nvSpPr>
        <p:spPr>
          <a:xfrm xmlns:a="http://schemas.openxmlformats.org/drawingml/2006/main">
            <a:off x="4373880" y="4594860"/>
            <a:ext cx="34366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Economic approach</a:t>
            </a:r>
          </a:p>
        </p:txBody>
      </p:sp>
      <p:sp>
        <p:nvSpPr>
          <p:cNvPr id="12" name="Reduce paperwork, physical audit delays and administrat">
            <a:extLst xmlns:a="http://schemas.openxmlformats.org/drawingml/2006/main">
              <a:ext uri="{FF2B5EF4-FFF2-40B4-BE49-F238E27FC236}">
                <a16:creationId xmlns:a16="http://schemas.microsoft.com/office/drawing/2014/main" id="{1B5C63B6-FF9C-429D-9BB0-0EFA7DD6C922}"/>
              </a:ext>
            </a:extLst>
          </p:cNvPr>
          <p:cNvSpPr>
            <a:spLocks xmlns:a="http://schemas.openxmlformats.org/drawingml/2006/main" noGrp="1"/>
          </p:cNvSpPr>
          <p:nvPr/>
        </p:nvSpPr>
        <p:spPr>
          <a:xfrm xmlns:a="http://schemas.openxmlformats.org/drawingml/2006/main">
            <a:off x="4373880" y="4953000"/>
            <a:ext cx="3436620" cy="1348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0">
                <a:solidFill>
                  <a:srgbClr val="162B3B"/>
                </a:solidFill>
                <a:latin typeface="Calibri"/>
                <a:ea typeface="Calibri"/>
                <a:cs typeface="Calibri"/>
              </a:defRPr>
            </a:pPr>
            <a:r>
              <a:rPr sz="1560" b="0">
                <a:solidFill>
                  <a:srgbClr val="162B3B"/>
                </a:solidFill>
                <a:latin typeface="Calibri"/>
                <a:ea typeface="Calibri"/>
                <a:cs typeface="Calibri"/>
              </a:rPr>
              <a:t>Reduce paperwork, physical audit delays and administrative cost. Detect March Rush and ghost works to limit financial leakage. Extend across ministries and states, with governance SaaS potential.</a:t>
            </a:r>
          </a:p>
        </p:txBody>
      </p:sp>
      <p:sp>
        <p:nvSpPr>
          <p:cNvPr id="13" name="Resource requirements">
            <a:extLst xmlns:a="http://schemas.openxmlformats.org/drawingml/2006/main">
              <a:ext uri="{FF2B5EF4-FFF2-40B4-BE49-F238E27FC236}">
                <a16:creationId xmlns:a16="http://schemas.microsoft.com/office/drawing/2014/main" id="{791D03D4-BD4A-4504-B360-822D80DFAD7B}"/>
              </a:ext>
            </a:extLst>
          </p:cNvPr>
          <p:cNvSpPr>
            <a:spLocks xmlns:a="http://schemas.openxmlformats.org/drawingml/2006/main" noGrp="1"/>
          </p:cNvSpPr>
          <p:nvPr/>
        </p:nvSpPr>
        <p:spPr>
          <a:xfrm xmlns:a="http://schemas.openxmlformats.org/drawingml/2006/main">
            <a:off x="8138160" y="4594860"/>
            <a:ext cx="345948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Resource requirements</a:t>
            </a:r>
          </a:p>
        </p:txBody>
      </p:sp>
      <p:sp>
        <p:nvSpPr>
          <p:cNvPr id="14" name="Python libraries and the application stack. AWS / Rende">
            <a:extLst xmlns:a="http://schemas.openxmlformats.org/drawingml/2006/main">
              <a:ext uri="{FF2B5EF4-FFF2-40B4-BE49-F238E27FC236}">
                <a16:creationId xmlns:a16="http://schemas.microsoft.com/office/drawing/2014/main" id="{381F4185-9C51-484B-A053-F748F52C26E5}"/>
              </a:ext>
            </a:extLst>
          </p:cNvPr>
          <p:cNvSpPr>
            <a:spLocks xmlns:a="http://schemas.openxmlformats.org/drawingml/2006/main" noGrp="1"/>
          </p:cNvSpPr>
          <p:nvPr/>
        </p:nvSpPr>
        <p:spPr>
          <a:xfrm xmlns:a="http://schemas.openxmlformats.org/drawingml/2006/main">
            <a:off x="8138160" y="4953000"/>
            <a:ext cx="3459480" cy="1348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0">
                <a:solidFill>
                  <a:srgbClr val="162B3B"/>
                </a:solidFill>
                <a:latin typeface="Calibri"/>
                <a:ea typeface="Calibri"/>
                <a:cs typeface="Calibri"/>
              </a:defRPr>
            </a:pPr>
            <a:r>
              <a:rPr sz="1560" b="0">
                <a:solidFill>
                  <a:srgbClr val="162B3B"/>
                </a:solidFill>
                <a:latin typeface="Calibri"/>
                <a:ea typeface="Calibri"/>
                <a:cs typeface="Calibri"/>
              </a:rPr>
              <a:t>Python libraries and the application stack. AWS / Render hosting for APIs and data services, with Vercel for the UI. Responsive dashboard components, charting libraries and live risk heatmaps.</a:t>
            </a:r>
          </a:p>
        </p:txBody>
      </p:sp>
    </p:spTree>
    <p:extLst>
      <p:ext uri="{BB962C8B-B14F-4D97-AF65-F5344CB8AC3E}">
        <p14:creationId xmlns:p14="http://schemas.microsoft.com/office/powerpoint/2010/main" val="7523790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IMPACT AND BENEFITS">
            <a:extLst xmlns:a="http://schemas.openxmlformats.org/drawingml/2006/main">
              <a:ext uri="{FF2B5EF4-FFF2-40B4-BE49-F238E27FC236}">
                <a16:creationId xmlns:a16="http://schemas.microsoft.com/office/drawing/2014/main" id="{DAB076FB-6C17-411A-8B83-6FB7CB4EBE6C}"/>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IMPACT AND BENEFITS</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5c91463b6ee479a"/>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Financial transparency and public welfare">
            <a:extLst xmlns:a="http://schemas.openxmlformats.org/drawingml/2006/main">
              <a:ext uri="{FF2B5EF4-FFF2-40B4-BE49-F238E27FC236}">
                <a16:creationId xmlns:a16="http://schemas.microsoft.com/office/drawing/2014/main" id="{50109E93-EAFD-4DA3-A5F7-C481AD586D33}"/>
              </a:ext>
            </a:extLst>
          </p:cNvPr>
          <p:cNvSpPr>
            <a:spLocks xmlns:a="http://schemas.openxmlformats.org/drawingml/2006/main" noGrp="1"/>
          </p:cNvSpPr>
          <p:nvPr/>
        </p:nvSpPr>
        <p:spPr>
          <a:xfrm xmlns:a="http://schemas.openxmlformats.org/drawingml/2006/main">
            <a:off x="579120" y="1059180"/>
            <a:ext cx="110490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0">
                <a:solidFill>
                  <a:srgbClr val="4C606B"/>
                </a:solidFill>
                <a:latin typeface="Calibri"/>
                <a:ea typeface="Calibri"/>
                <a:cs typeface="Calibri"/>
              </a:defRPr>
            </a:pPr>
            <a:r>
              <a:rPr sz="1740" b="0">
                <a:solidFill>
                  <a:srgbClr val="4C606B"/>
                </a:solidFill>
                <a:latin typeface="Calibri"/>
                <a:ea typeface="Calibri"/>
                <a:cs typeface="Calibri"/>
              </a:rPr>
              <a:t>Financial transparency and public welfare</a:t>
            </a:r>
          </a:p>
        </p:txBody>
      </p:sp>
      <p:sp>
        <p:nvSpPr>
          <p:cNvPr id="4" name="">
            <a:extLst xmlns:a="http://schemas.openxmlformats.org/drawingml/2006/main">
              <a:ext uri="{FF2B5EF4-FFF2-40B4-BE49-F238E27FC236}">
                <a16:creationId xmlns:a16="http://schemas.microsoft.com/office/drawing/2014/main" id="{7AB22278-36D4-4C6E-A7DB-07D74FC9FEFB}"/>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5" name="Quantum Coders">
            <a:extLst xmlns:a="http://schemas.openxmlformats.org/drawingml/2006/main">
              <a:ext uri="{FF2B5EF4-FFF2-40B4-BE49-F238E27FC236}">
                <a16:creationId xmlns:a16="http://schemas.microsoft.com/office/drawing/2014/main" id="{52DE31E2-994A-4B4A-AF8F-320BDEB2BED3}"/>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6" name="Smart India Hackathon 2026">
            <a:extLst xmlns:a="http://schemas.openxmlformats.org/drawingml/2006/main">
              <a:ext uri="{FF2B5EF4-FFF2-40B4-BE49-F238E27FC236}">
                <a16:creationId xmlns:a16="http://schemas.microsoft.com/office/drawing/2014/main" id="{548C102D-BF42-492C-92DD-DB00FD520733}"/>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7" name="5 / 6">
            <a:extLst xmlns:a="http://schemas.openxmlformats.org/drawingml/2006/main">
              <a:ext uri="{FF2B5EF4-FFF2-40B4-BE49-F238E27FC236}">
                <a16:creationId xmlns:a16="http://schemas.microsoft.com/office/drawing/2014/main" id="{E9C48238-FA4E-40BB-803B-703389A046A8}"/>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5 / 6</a:t>
            </a:r>
          </a:p>
        </p:txBody>
      </p:sp>
      <p:sp>
        <p:nvSpPr>
          <p:cNvPr id="8" name="Potential impact">
            <a:extLst xmlns:a="http://schemas.openxmlformats.org/drawingml/2006/main">
              <a:ext uri="{FF2B5EF4-FFF2-40B4-BE49-F238E27FC236}">
                <a16:creationId xmlns:a16="http://schemas.microsoft.com/office/drawing/2014/main" id="{240C9AB0-744D-4326-8461-91EBF8712889}"/>
              </a:ext>
            </a:extLst>
          </p:cNvPr>
          <p:cNvSpPr>
            <a:spLocks xmlns:a="http://schemas.openxmlformats.org/drawingml/2006/main" noGrp="1"/>
          </p:cNvSpPr>
          <p:nvPr/>
        </p:nvSpPr>
        <p:spPr>
          <a:xfrm xmlns:a="http://schemas.openxmlformats.org/drawingml/2006/main">
            <a:off x="594360" y="1508760"/>
            <a:ext cx="528828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Potential impact</a:t>
            </a:r>
          </a:p>
        </p:txBody>
      </p:sp>
      <p:graphicFrame>
        <p:nvGraphicFramePr>
          <p:cNvPr id="31" name=""/>
          <p:cNvGraphicFramePr/>
          <p:nvPr/>
        </p:nvGraphicFramePr>
        <p:xfrm>
          <a:off xmlns:a="http://schemas.openxmlformats.org/drawingml/2006/main" x="594360" y="1897380"/>
          <a:ext xmlns:a="http://schemas.openxmlformats.org/drawingml/2006/main" cx="5311140" cy="2255520"/>
        </p:xfrm>
        <a:graphic xmlns:a="http://schemas.openxmlformats.org/drawingml/2006/main">
          <a:graphicData uri="http://schemas.openxmlformats.org/drawingml/2006/table">
            <a:tbl>
              <a:tblPr firstRow="0" bandRow="0"/>
              <a:tblGrid>
                <a:gridCol w="1455420"/>
                <a:gridCol w="3855720"/>
              </a:tblGrid>
              <a:tr h="335280">
                <a:tc>
                  <a:txBody>
                    <a:bodyPr lIns="121920" tIns="45720" rIns="106680" bIns="45720">
                      <a:noAutofit/>
                    </a:bodyPr>
                    <a:lstStyle/>
                    <a:p>
                      <a:r>
                        <a:rPr sz="1380" b="1">
                          <a:solidFill>
                            <a:srgbClr val="FFFFFF"/>
                          </a:solidFill>
                          <a:latin typeface="Calibri"/>
                          <a:ea typeface="Calibri"/>
                          <a:cs typeface="Calibri"/>
                        </a:rPr>
                        <a:t>Area</a:t>
                      </a:r>
                    </a:p>
                  </a:txBody>
                  <a:tcPr marL="121920" marR="106680" marT="45720" marB="45720" anchor="ctr">
                    <a:solidFill>
                      <a:srgbClr val="234F83"/>
                    </a:solidFill>
                  </a:tcPr>
                </a:tc>
                <a:tc>
                  <a:txBody>
                    <a:bodyPr lIns="121920" tIns="45720" rIns="106680" bIns="45720">
                      <a:noAutofit/>
                    </a:bodyPr>
                    <a:lstStyle/>
                    <a:p>
                      <a:r>
                        <a:rPr sz="1380" b="1">
                          <a:solidFill>
                            <a:srgbClr val="FFFFFF"/>
                          </a:solidFill>
                          <a:latin typeface="Calibri"/>
                          <a:ea typeface="Calibri"/>
                          <a:cs typeface="Calibri"/>
                        </a:rPr>
                        <a:t>Expected benefit</a:t>
                      </a:r>
                    </a:p>
                  </a:txBody>
                  <a:tcPr marL="121920" marR="106680" marT="45720" marB="45720" anchor="ctr">
                    <a:solidFill>
                      <a:srgbClr val="234F83"/>
                    </a:solidFill>
                  </a:tcPr>
                </a:tc>
              </a:tr>
              <a:tr h="480060">
                <a:tc>
                  <a:txBody>
                    <a:bodyPr lIns="121920" tIns="45720" rIns="106680" bIns="45720">
                      <a:noAutofit/>
                    </a:bodyPr>
                    <a:lstStyle/>
                    <a:p>
                      <a:r>
                        <a:rPr sz="1440" b="1">
                          <a:solidFill>
                            <a:srgbClr val="162B3B"/>
                          </a:solidFill>
                          <a:latin typeface="Calibri"/>
                          <a:ea typeface="Calibri"/>
                          <a:cs typeface="Calibri"/>
                        </a:rPr>
                        <a:t>Governance</a:t>
                      </a:r>
                    </a:p>
                  </a:txBody>
                  <a:tcPr marL="121920" marR="106680" marT="45720" marB="45720" anchor="ctr">
                    <a:solidFill>
                      <a:srgbClr val="FFFFFF"/>
                    </a:solidFill>
                  </a:tcPr>
                </a:tc>
                <a:tc>
                  <a:txBody>
                    <a:bodyPr lIns="121920" tIns="45720" rIns="106680" bIns="45720">
                      <a:noAutofit/>
                    </a:bodyPr>
                    <a:lstStyle/>
                    <a:p>
                      <a:r>
                        <a:rPr sz="1440" b="0">
                          <a:solidFill>
                            <a:srgbClr val="162B3B"/>
                          </a:solidFill>
                          <a:latin typeface="Calibri"/>
                          <a:ea typeface="Calibri"/>
                          <a:cs typeface="Calibri"/>
                        </a:rPr>
                        <a:t>A shared view of funds for central authorities, districts and citizens.</a:t>
                      </a:r>
                    </a:p>
                  </a:txBody>
                  <a:tcPr marL="121920" marR="106680" marT="45720" marB="45720" anchor="ctr">
                    <a:solidFill>
                      <a:srgbClr val="FFFFFF"/>
                    </a:solidFill>
                  </a:tcPr>
                </a:tc>
              </a:tr>
              <a:tr h="480060">
                <a:tc>
                  <a:txBody>
                    <a:bodyPr lIns="121920" tIns="45720" rIns="106680" bIns="45720">
                      <a:noAutofit/>
                    </a:bodyPr>
                    <a:lstStyle/>
                    <a:p>
                      <a:r>
                        <a:rPr sz="1440" b="1">
                          <a:solidFill>
                            <a:srgbClr val="162B3B"/>
                          </a:solidFill>
                          <a:latin typeface="Calibri"/>
                          <a:ea typeface="Calibri"/>
                          <a:cs typeface="Calibri"/>
                        </a:rPr>
                        <a:t>Economic</a:t>
                      </a:r>
                    </a:p>
                  </a:txBody>
                  <a:tcPr marL="121920" marR="106680" marT="45720" marB="45720" anchor="ctr">
                    <a:solidFill>
                      <a:srgbClr val="EDF4FA"/>
                    </a:solidFill>
                  </a:tcPr>
                </a:tc>
                <a:tc>
                  <a:txBody>
                    <a:bodyPr lIns="121920" tIns="45720" rIns="106680" bIns="45720">
                      <a:noAutofit/>
                    </a:bodyPr>
                    <a:lstStyle/>
                    <a:p>
                      <a:r>
                        <a:rPr sz="1440" b="0">
                          <a:solidFill>
                            <a:srgbClr val="162B3B"/>
                          </a:solidFill>
                          <a:latin typeface="Calibri"/>
                          <a:ea typeface="Calibri"/>
                          <a:cs typeface="Calibri"/>
                        </a:rPr>
                        <a:t>Reduce March Rush waste, ghost funding and misallocation.</a:t>
                      </a:r>
                    </a:p>
                  </a:txBody>
                  <a:tcPr marL="121920" marR="106680" marT="45720" marB="45720" anchor="ctr">
                    <a:solidFill>
                      <a:srgbClr val="EDF4FA"/>
                    </a:solidFill>
                  </a:tcPr>
                </a:tc>
              </a:tr>
              <a:tr h="480060">
                <a:tc>
                  <a:txBody>
                    <a:bodyPr lIns="121920" tIns="45720" rIns="106680" bIns="45720">
                      <a:noAutofit/>
                    </a:bodyPr>
                    <a:lstStyle/>
                    <a:p>
                      <a:r>
                        <a:rPr sz="1440" b="1">
                          <a:solidFill>
                            <a:srgbClr val="162B3B"/>
                          </a:solidFill>
                          <a:latin typeface="Calibri"/>
                          <a:ea typeface="Calibri"/>
                          <a:cs typeface="Calibri"/>
                        </a:rPr>
                        <a:t>Operational</a:t>
                      </a:r>
                    </a:p>
                  </a:txBody>
                  <a:tcPr marL="121920" marR="106680" marT="45720" marB="45720" anchor="ctr">
                    <a:solidFill>
                      <a:srgbClr val="FFFFFF"/>
                    </a:solidFill>
                  </a:tcPr>
                </a:tc>
                <a:tc>
                  <a:txBody>
                    <a:bodyPr lIns="121920" tIns="45720" rIns="106680" bIns="45720">
                      <a:noAutofit/>
                    </a:bodyPr>
                    <a:lstStyle/>
                    <a:p>
                      <a:r>
                        <a:rPr sz="1440" b="0">
                          <a:solidFill>
                            <a:srgbClr val="162B3B"/>
                          </a:solidFill>
                          <a:latin typeface="Calibri"/>
                          <a:ea typeface="Calibri"/>
                          <a:cs typeface="Calibri"/>
                        </a:rPr>
                        <a:t>Target 100% screening of ingested records, with timely alerts.</a:t>
                      </a:r>
                    </a:p>
                  </a:txBody>
                  <a:tcPr marL="121920" marR="106680" marT="45720" marB="45720" anchor="ctr">
                    <a:solidFill>
                      <a:srgbClr val="FFFFFF"/>
                    </a:solidFill>
                  </a:tcPr>
                </a:tc>
              </a:tr>
              <a:tr h="480060">
                <a:tc>
                  <a:txBody>
                    <a:bodyPr lIns="121920" tIns="45720" rIns="106680" bIns="45720">
                      <a:noAutofit/>
                    </a:bodyPr>
                    <a:lstStyle/>
                    <a:p>
                      <a:r>
                        <a:rPr sz="1440" b="1">
                          <a:solidFill>
                            <a:srgbClr val="162B3B"/>
                          </a:solidFill>
                          <a:latin typeface="Calibri"/>
                          <a:ea typeface="Calibri"/>
                          <a:cs typeface="Calibri"/>
                        </a:rPr>
                        <a:t>National</a:t>
                      </a:r>
                    </a:p>
                  </a:txBody>
                  <a:tcPr marL="121920" marR="106680" marT="45720" marB="45720" anchor="ctr">
                    <a:solidFill>
                      <a:srgbClr val="EDF4FA"/>
                    </a:solidFill>
                  </a:tcPr>
                </a:tc>
                <a:tc>
                  <a:txBody>
                    <a:bodyPr lIns="121920" tIns="45720" rIns="106680" bIns="45720">
                      <a:noAutofit/>
                    </a:bodyPr>
                    <a:lstStyle/>
                    <a:p>
                      <a:r>
                        <a:rPr sz="1440" b="0">
                          <a:solidFill>
                            <a:srgbClr val="162B3B"/>
                          </a:solidFill>
                          <a:latin typeface="Calibri"/>
                          <a:ea typeface="Calibri"/>
                          <a:cs typeface="Calibri"/>
                        </a:rPr>
                        <a:t>Stronger local assets and better outcomes for target communities.</a:t>
                      </a:r>
                    </a:p>
                  </a:txBody>
                  <a:tcPr marL="121920" marR="106680" marT="45720" marB="45720" anchor="ctr">
                    <a:solidFill>
                      <a:srgbClr val="EDF4FA"/>
                    </a:solidFill>
                  </a:tcPr>
                </a:tc>
              </a:tr>
            </a:tbl>
          </a:graphicData>
        </a:graphic>
      </p:graphicFrame>
      <p:sp>
        <p:nvSpPr>
          <p:cNvPr id="10" name="Future prospects">
            <a:extLst xmlns:a="http://schemas.openxmlformats.org/drawingml/2006/main">
              <a:ext uri="{FF2B5EF4-FFF2-40B4-BE49-F238E27FC236}">
                <a16:creationId xmlns:a16="http://schemas.microsoft.com/office/drawing/2014/main" id="{B67EA68B-0586-43E6-86A0-DABBF83A1290}"/>
              </a:ext>
            </a:extLst>
          </p:cNvPr>
          <p:cNvSpPr>
            <a:spLocks xmlns:a="http://schemas.openxmlformats.org/drawingml/2006/main" noGrp="1"/>
          </p:cNvSpPr>
          <p:nvPr/>
        </p:nvSpPr>
        <p:spPr>
          <a:xfrm xmlns:a="http://schemas.openxmlformats.org/drawingml/2006/main">
            <a:off x="6362700" y="1508760"/>
            <a:ext cx="52578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Future prospects</a:t>
            </a:r>
          </a:p>
        </p:txBody>
      </p:sp>
      <p:sp>
        <p:nvSpPr>
          <p:cNvPr id="11" name="Cross-scheme scalability">
            <a:extLst xmlns:a="http://schemas.openxmlformats.org/drawingml/2006/main">
              <a:ext uri="{FF2B5EF4-FFF2-40B4-BE49-F238E27FC236}">
                <a16:creationId xmlns:a16="http://schemas.microsoft.com/office/drawing/2014/main" id="{F00486FA-EFCB-4C8B-B591-53180C644C77}"/>
              </a:ext>
            </a:extLst>
          </p:cNvPr>
          <p:cNvSpPr>
            <a:spLocks xmlns:a="http://schemas.openxmlformats.org/drawingml/2006/main" noGrp="1"/>
          </p:cNvSpPr>
          <p:nvPr/>
        </p:nvSpPr>
        <p:spPr>
          <a:xfrm xmlns:a="http://schemas.openxmlformats.org/drawingml/2006/main">
            <a:off x="6385560" y="191262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2B3B"/>
                </a:solidFill>
                <a:latin typeface="Calibri"/>
                <a:ea typeface="Calibri"/>
                <a:cs typeface="Calibri"/>
              </a:defRPr>
            </a:pPr>
            <a:r>
              <a:rPr sz="1500" b="1">
                <a:solidFill>
                  <a:srgbClr val="162B3B"/>
                </a:solidFill>
                <a:latin typeface="Calibri"/>
                <a:ea typeface="Calibri"/>
                <a:cs typeface="Calibri"/>
              </a:rPr>
              <a:t>Cross-scheme scalability</a:t>
            </a:r>
          </a:p>
        </p:txBody>
      </p:sp>
      <p:sp>
        <p:nvSpPr>
          <p:cNvPr id="12" name="Expand to MGNREGA, PMGSY and other schemes.">
            <a:extLst xmlns:a="http://schemas.openxmlformats.org/drawingml/2006/main">
              <a:ext uri="{FF2B5EF4-FFF2-40B4-BE49-F238E27FC236}">
                <a16:creationId xmlns:a16="http://schemas.microsoft.com/office/drawing/2014/main" id="{A6C45595-6F92-474D-B475-C61EF7074DC3}"/>
              </a:ext>
            </a:extLst>
          </p:cNvPr>
          <p:cNvSpPr>
            <a:spLocks xmlns:a="http://schemas.openxmlformats.org/drawingml/2006/main" noGrp="1"/>
          </p:cNvSpPr>
          <p:nvPr/>
        </p:nvSpPr>
        <p:spPr>
          <a:xfrm xmlns:a="http://schemas.openxmlformats.org/drawingml/2006/main">
            <a:off x="6385560" y="215646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40" b="0">
                <a:solidFill>
                  <a:srgbClr val="162B3B"/>
                </a:solidFill>
                <a:latin typeface="Calibri"/>
                <a:ea typeface="Calibri"/>
                <a:cs typeface="Calibri"/>
              </a:defRPr>
            </a:pPr>
            <a:r>
              <a:rPr sz="1440" b="0">
                <a:solidFill>
                  <a:srgbClr val="162B3B"/>
                </a:solidFill>
                <a:latin typeface="Calibri"/>
                <a:ea typeface="Calibri"/>
                <a:cs typeface="Calibri"/>
              </a:rPr>
              <a:t>Expand to MGNREGA, PMGSY and other schemes.</a:t>
            </a:r>
          </a:p>
        </p:txBody>
      </p:sp>
      <p:sp>
        <p:nvSpPr>
          <p:cNvPr id="13" name="Predictive AI modeling">
            <a:extLst xmlns:a="http://schemas.openxmlformats.org/drawingml/2006/main">
              <a:ext uri="{FF2B5EF4-FFF2-40B4-BE49-F238E27FC236}">
                <a16:creationId xmlns:a16="http://schemas.microsoft.com/office/drawing/2014/main" id="{62569B2A-6113-4BD6-A343-CB2E03F41A5C}"/>
              </a:ext>
            </a:extLst>
          </p:cNvPr>
          <p:cNvSpPr>
            <a:spLocks xmlns:a="http://schemas.openxmlformats.org/drawingml/2006/main" noGrp="1"/>
          </p:cNvSpPr>
          <p:nvPr/>
        </p:nvSpPr>
        <p:spPr>
          <a:xfrm xmlns:a="http://schemas.openxmlformats.org/drawingml/2006/main">
            <a:off x="6385560" y="238506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2B3B"/>
                </a:solidFill>
                <a:latin typeface="Calibri"/>
                <a:ea typeface="Calibri"/>
                <a:cs typeface="Calibri"/>
              </a:defRPr>
            </a:pPr>
            <a:r>
              <a:rPr sz="1500" b="1">
                <a:solidFill>
                  <a:srgbClr val="162B3B"/>
                </a:solidFill>
                <a:latin typeface="Calibri"/>
                <a:ea typeface="Calibri"/>
                <a:cs typeface="Calibri"/>
              </a:rPr>
              <a:t>Predictive AI modeling</a:t>
            </a:r>
          </a:p>
        </p:txBody>
      </p:sp>
      <p:sp>
        <p:nvSpPr>
          <p:cNvPr id="14" name="Forecast budget deficits and fund overruns.">
            <a:extLst xmlns:a="http://schemas.openxmlformats.org/drawingml/2006/main">
              <a:ext uri="{FF2B5EF4-FFF2-40B4-BE49-F238E27FC236}">
                <a16:creationId xmlns:a16="http://schemas.microsoft.com/office/drawing/2014/main" id="{CB6D5DF8-4F6D-45F3-B167-E69F1467ED84}"/>
              </a:ext>
            </a:extLst>
          </p:cNvPr>
          <p:cNvSpPr>
            <a:spLocks xmlns:a="http://schemas.openxmlformats.org/drawingml/2006/main" noGrp="1"/>
          </p:cNvSpPr>
          <p:nvPr/>
        </p:nvSpPr>
        <p:spPr>
          <a:xfrm xmlns:a="http://schemas.openxmlformats.org/drawingml/2006/main">
            <a:off x="6385560" y="262890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40" b="0">
                <a:solidFill>
                  <a:srgbClr val="162B3B"/>
                </a:solidFill>
                <a:latin typeface="Calibri"/>
                <a:ea typeface="Calibri"/>
                <a:cs typeface="Calibri"/>
              </a:defRPr>
            </a:pPr>
            <a:r>
              <a:rPr sz="1440" b="0">
                <a:solidFill>
                  <a:srgbClr val="162B3B"/>
                </a:solidFill>
                <a:latin typeface="Calibri"/>
                <a:ea typeface="Calibri"/>
                <a:cs typeface="Calibri"/>
              </a:rPr>
              <a:t>Forecast budget deficits and fund overruns.</a:t>
            </a:r>
          </a:p>
        </p:txBody>
      </p:sp>
      <p:sp>
        <p:nvSpPr>
          <p:cNvPr id="15" name="Blockchain integration">
            <a:extLst xmlns:a="http://schemas.openxmlformats.org/drawingml/2006/main">
              <a:ext uri="{FF2B5EF4-FFF2-40B4-BE49-F238E27FC236}">
                <a16:creationId xmlns:a16="http://schemas.microsoft.com/office/drawing/2014/main" id="{A2302106-A1BD-4CFE-995B-7D076B6F7B87}"/>
              </a:ext>
            </a:extLst>
          </p:cNvPr>
          <p:cNvSpPr>
            <a:spLocks xmlns:a="http://schemas.openxmlformats.org/drawingml/2006/main" noGrp="1"/>
          </p:cNvSpPr>
          <p:nvPr/>
        </p:nvSpPr>
        <p:spPr>
          <a:xfrm xmlns:a="http://schemas.openxmlformats.org/drawingml/2006/main">
            <a:off x="6385560" y="285750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2B3B"/>
                </a:solidFill>
                <a:latin typeface="Calibri"/>
                <a:ea typeface="Calibri"/>
                <a:cs typeface="Calibri"/>
              </a:defRPr>
            </a:pPr>
            <a:r>
              <a:rPr sz="1500" b="1">
                <a:solidFill>
                  <a:srgbClr val="162B3B"/>
                </a:solidFill>
                <a:latin typeface="Calibri"/>
                <a:ea typeface="Calibri"/>
                <a:cs typeface="Calibri"/>
              </a:rPr>
              <a:t>Blockchain integration</a:t>
            </a:r>
          </a:p>
        </p:txBody>
      </p:sp>
      <p:sp>
        <p:nvSpPr>
          <p:cNvPr id="16" name="Immutable logs to deter duplicate billing and tampering">
            <a:extLst xmlns:a="http://schemas.openxmlformats.org/drawingml/2006/main">
              <a:ext uri="{FF2B5EF4-FFF2-40B4-BE49-F238E27FC236}">
                <a16:creationId xmlns:a16="http://schemas.microsoft.com/office/drawing/2014/main" id="{82FCD98D-4EF1-40CE-90BC-CFA7BB6ED3C1}"/>
              </a:ext>
            </a:extLst>
          </p:cNvPr>
          <p:cNvSpPr>
            <a:spLocks xmlns:a="http://schemas.openxmlformats.org/drawingml/2006/main" noGrp="1"/>
          </p:cNvSpPr>
          <p:nvPr/>
        </p:nvSpPr>
        <p:spPr>
          <a:xfrm xmlns:a="http://schemas.openxmlformats.org/drawingml/2006/main">
            <a:off x="6385560" y="310134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40" b="0">
                <a:solidFill>
                  <a:srgbClr val="162B3B"/>
                </a:solidFill>
                <a:latin typeface="Calibri"/>
                <a:ea typeface="Calibri"/>
                <a:cs typeface="Calibri"/>
              </a:defRPr>
            </a:pPr>
            <a:r>
              <a:rPr sz="1440" b="0">
                <a:solidFill>
                  <a:srgbClr val="162B3B"/>
                </a:solidFill>
                <a:latin typeface="Calibri"/>
                <a:ea typeface="Calibri"/>
                <a:cs typeface="Calibri"/>
              </a:rPr>
              <a:t>Immutable logs to deter duplicate billing and tampering.</a:t>
            </a:r>
          </a:p>
        </p:txBody>
      </p:sp>
      <p:sp>
        <p:nvSpPr>
          <p:cNvPr id="17" name="Citizen mobile app">
            <a:extLst xmlns:a="http://schemas.openxmlformats.org/drawingml/2006/main">
              <a:ext uri="{FF2B5EF4-FFF2-40B4-BE49-F238E27FC236}">
                <a16:creationId xmlns:a16="http://schemas.microsoft.com/office/drawing/2014/main" id="{679541B0-466E-4953-98DA-C44CDC959C4F}"/>
              </a:ext>
            </a:extLst>
          </p:cNvPr>
          <p:cNvSpPr>
            <a:spLocks xmlns:a="http://schemas.openxmlformats.org/drawingml/2006/main" noGrp="1"/>
          </p:cNvSpPr>
          <p:nvPr/>
        </p:nvSpPr>
        <p:spPr>
          <a:xfrm xmlns:a="http://schemas.openxmlformats.org/drawingml/2006/main">
            <a:off x="6385560" y="332994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2B3B"/>
                </a:solidFill>
                <a:latin typeface="Calibri"/>
                <a:ea typeface="Calibri"/>
                <a:cs typeface="Calibri"/>
              </a:defRPr>
            </a:pPr>
            <a:r>
              <a:rPr sz="1500" b="1">
                <a:solidFill>
                  <a:srgbClr val="162B3B"/>
                </a:solidFill>
                <a:latin typeface="Calibri"/>
                <a:ea typeface="Calibri"/>
                <a:cs typeface="Calibri"/>
              </a:rPr>
              <a:t>Citizen mobile app</a:t>
            </a:r>
          </a:p>
        </p:txBody>
      </p:sp>
      <p:sp>
        <p:nvSpPr>
          <p:cNvPr id="18" name="Crowdsource geotagged inspection of local assets.">
            <a:extLst xmlns:a="http://schemas.openxmlformats.org/drawingml/2006/main">
              <a:ext uri="{FF2B5EF4-FFF2-40B4-BE49-F238E27FC236}">
                <a16:creationId xmlns:a16="http://schemas.microsoft.com/office/drawing/2014/main" id="{F844A1DD-CFF0-4C0F-B215-EAD7F6BE7658}"/>
              </a:ext>
            </a:extLst>
          </p:cNvPr>
          <p:cNvSpPr>
            <a:spLocks xmlns:a="http://schemas.openxmlformats.org/drawingml/2006/main" noGrp="1"/>
          </p:cNvSpPr>
          <p:nvPr/>
        </p:nvSpPr>
        <p:spPr>
          <a:xfrm xmlns:a="http://schemas.openxmlformats.org/drawingml/2006/main">
            <a:off x="6385560" y="357378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40" b="0">
                <a:solidFill>
                  <a:srgbClr val="162B3B"/>
                </a:solidFill>
                <a:latin typeface="Calibri"/>
                <a:ea typeface="Calibri"/>
                <a:cs typeface="Calibri"/>
              </a:defRPr>
            </a:pPr>
            <a:r>
              <a:rPr sz="1440" b="0">
                <a:solidFill>
                  <a:srgbClr val="162B3B"/>
                </a:solidFill>
                <a:latin typeface="Calibri"/>
                <a:ea typeface="Calibri"/>
                <a:cs typeface="Calibri"/>
              </a:rPr>
              <a:t>Crowdsource geotagged inspection of local assets.</a:t>
            </a:r>
          </a:p>
        </p:txBody>
      </p:sp>
      <p:sp>
        <p:nvSpPr>
          <p:cNvPr id="19" name="Policy recommendations">
            <a:extLst xmlns:a="http://schemas.openxmlformats.org/drawingml/2006/main">
              <a:ext uri="{FF2B5EF4-FFF2-40B4-BE49-F238E27FC236}">
                <a16:creationId xmlns:a16="http://schemas.microsoft.com/office/drawing/2014/main" id="{BA607610-703F-4F9A-8B34-DA2BEA2E7209}"/>
              </a:ext>
            </a:extLst>
          </p:cNvPr>
          <p:cNvSpPr>
            <a:spLocks xmlns:a="http://schemas.openxmlformats.org/drawingml/2006/main" noGrp="1"/>
          </p:cNvSpPr>
          <p:nvPr/>
        </p:nvSpPr>
        <p:spPr>
          <a:xfrm xmlns:a="http://schemas.openxmlformats.org/drawingml/2006/main">
            <a:off x="6385560" y="380238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2B3B"/>
                </a:solidFill>
                <a:latin typeface="Calibri"/>
                <a:ea typeface="Calibri"/>
                <a:cs typeface="Calibri"/>
              </a:defRPr>
            </a:pPr>
            <a:r>
              <a:rPr sz="1500" b="1">
                <a:solidFill>
                  <a:srgbClr val="162B3B"/>
                </a:solidFill>
                <a:latin typeface="Calibri"/>
                <a:ea typeface="Calibri"/>
                <a:cs typeface="Calibri"/>
              </a:rPr>
              <a:t>Policy recommendations</a:t>
            </a:r>
          </a:p>
        </p:txBody>
      </p:sp>
      <p:sp>
        <p:nvSpPr>
          <p:cNvPr id="20" name="Use historical anomalies to suggest compliance improvem">
            <a:extLst xmlns:a="http://schemas.openxmlformats.org/drawingml/2006/main">
              <a:ext uri="{FF2B5EF4-FFF2-40B4-BE49-F238E27FC236}">
                <a16:creationId xmlns:a16="http://schemas.microsoft.com/office/drawing/2014/main" id="{D7F189E2-6F7D-4B57-A875-0EF34182B84A}"/>
              </a:ext>
            </a:extLst>
          </p:cNvPr>
          <p:cNvSpPr>
            <a:spLocks xmlns:a="http://schemas.openxmlformats.org/drawingml/2006/main" noGrp="1"/>
          </p:cNvSpPr>
          <p:nvPr/>
        </p:nvSpPr>
        <p:spPr>
          <a:xfrm xmlns:a="http://schemas.openxmlformats.org/drawingml/2006/main">
            <a:off x="6385560" y="404622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40" b="0">
                <a:solidFill>
                  <a:srgbClr val="162B3B"/>
                </a:solidFill>
                <a:latin typeface="Calibri"/>
                <a:ea typeface="Calibri"/>
                <a:cs typeface="Calibri"/>
              </a:defRPr>
            </a:pPr>
            <a:r>
              <a:rPr sz="1440" b="0">
                <a:solidFill>
                  <a:srgbClr val="162B3B"/>
                </a:solidFill>
                <a:latin typeface="Calibri"/>
                <a:ea typeface="Calibri"/>
                <a:cs typeface="Calibri"/>
              </a:rPr>
              <a:t>Use historical anomalies to suggest compliance improvements.</a:t>
            </a:r>
          </a:p>
        </p:txBody>
      </p:sp>
      <p:sp>
        <p:nvSpPr>
          <p:cNvPr id="21" name="Research and references">
            <a:extLst xmlns:a="http://schemas.openxmlformats.org/drawingml/2006/main">
              <a:ext uri="{FF2B5EF4-FFF2-40B4-BE49-F238E27FC236}">
                <a16:creationId xmlns:a16="http://schemas.microsoft.com/office/drawing/2014/main" id="{4783A227-7E7A-4287-816C-2D79FC7DD3D9}"/>
              </a:ext>
            </a:extLst>
          </p:cNvPr>
          <p:cNvSpPr>
            <a:spLocks xmlns:a="http://schemas.openxmlformats.org/drawingml/2006/main" noGrp="1"/>
          </p:cNvSpPr>
          <p:nvPr/>
        </p:nvSpPr>
        <p:spPr>
          <a:xfrm xmlns:a="http://schemas.openxmlformats.org/drawingml/2006/main">
            <a:off x="594360" y="4488180"/>
            <a:ext cx="110490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Research and references</a:t>
            </a:r>
          </a:p>
        </p:txBody>
      </p:sp>
      <p:graphicFrame>
        <p:nvGraphicFramePr>
          <p:cNvPr id="44" name=""/>
          <p:cNvGraphicFramePr/>
          <p:nvPr/>
        </p:nvGraphicFramePr>
        <p:xfrm>
          <a:off xmlns:a="http://schemas.openxmlformats.org/drawingml/2006/main" x="594360" y="4869180"/>
          <a:ext xmlns:a="http://schemas.openxmlformats.org/drawingml/2006/main" cx="11003280" cy="1546860"/>
        </p:xfrm>
        <a:graphic xmlns:a="http://schemas.openxmlformats.org/drawingml/2006/main">
          <a:graphicData uri="http://schemas.openxmlformats.org/drawingml/2006/table">
            <a:tbl>
              <a:tblPr firstRow="0" bandRow="0"/>
              <a:tblGrid>
                <a:gridCol w="2750820"/>
                <a:gridCol w="2750820"/>
                <a:gridCol w="2750820"/>
                <a:gridCol w="2750820"/>
              </a:tblGrid>
              <a:tr h="342900">
                <a:tc>
                  <a:txBody>
                    <a:bodyPr lIns="121920" tIns="45720" rIns="106680" bIns="45720">
                      <a:noAutofit/>
                    </a:bodyPr>
                    <a:lstStyle/>
                    <a:p>
                      <a:r>
                        <a:rPr sz="1320" b="1">
                          <a:solidFill>
                            <a:srgbClr val="FFFFFF"/>
                          </a:solidFill>
                          <a:latin typeface="Calibri"/>
                          <a:ea typeface="Calibri"/>
                          <a:cs typeface="Calibri"/>
                          <a:hlinkClick xmlns:r="http://schemas.openxmlformats.org/officeDocument/2006/relationships" r:id="R851125cec80a421d"/>
                        </a:rPr>
                        <a:t>Supporting research</a:t>
                      </a:r>
                    </a:p>
                  </a:txBody>
                  <a:tcPr marL="121920" marR="106680" marT="45720" marB="45720" anchor="ctr">
                    <a:solidFill>
                      <a:srgbClr val="234F83"/>
                    </a:solidFill>
                  </a:tcPr>
                </a:tc>
                <a:tc>
                  <a:txBody>
                    <a:bodyPr lIns="121920" tIns="45720" rIns="106680" bIns="45720">
                      <a:noAutofit/>
                    </a:bodyPr>
                    <a:lstStyle/>
                    <a:p>
                      <a:r>
                        <a:rPr sz="1320" b="1">
                          <a:solidFill>
                            <a:srgbClr val="FFFFFF"/>
                          </a:solidFill>
                          <a:latin typeface="Calibri"/>
                          <a:ea typeface="Calibri"/>
                          <a:cs typeface="Calibri"/>
                          <a:hlinkClick xmlns:r="http://schemas.openxmlformats.org/officeDocument/2006/relationships" r:id="R9079a913c3004e15"/>
                        </a:rPr>
                        <a:t>Data sources</a:t>
                      </a:r>
                    </a:p>
                  </a:txBody>
                  <a:tcPr marL="121920" marR="106680" marT="45720" marB="45720" anchor="ctr">
                    <a:solidFill>
                      <a:srgbClr val="234F83"/>
                    </a:solidFill>
                  </a:tcPr>
                </a:tc>
                <a:tc>
                  <a:txBody>
                    <a:bodyPr lIns="121920" tIns="45720" rIns="106680" bIns="45720">
                      <a:noAutofit/>
                    </a:bodyPr>
                    <a:lstStyle/>
                    <a:p>
                      <a:r>
                        <a:rPr sz="1320" b="1">
                          <a:solidFill>
                            <a:srgbClr val="FFFFFF"/>
                          </a:solidFill>
                          <a:latin typeface="Calibri"/>
                          <a:ea typeface="Calibri"/>
                          <a:cs typeface="Calibri"/>
                        </a:rPr>
                        <a:t>Market research</a:t>
                      </a:r>
                    </a:p>
                  </a:txBody>
                  <a:tcPr marL="121920" marR="106680" marT="45720" marB="45720" anchor="ctr">
                    <a:solidFill>
                      <a:srgbClr val="234F83"/>
                    </a:solidFill>
                  </a:tcPr>
                </a:tc>
                <a:tc>
                  <a:txBody>
                    <a:bodyPr lIns="121920" tIns="45720" rIns="106680" bIns="45720">
                      <a:noAutofit/>
                    </a:bodyPr>
                    <a:lstStyle/>
                    <a:p>
                      <a:r>
                        <a:rPr sz="1320" b="1">
                          <a:solidFill>
                            <a:srgbClr val="FFFFFF"/>
                          </a:solidFill>
                          <a:latin typeface="Calibri"/>
                          <a:ea typeface="Calibri"/>
                          <a:cs typeface="Calibri"/>
                          <a:hlinkClick xmlns:r="http://schemas.openxmlformats.org/officeDocument/2006/relationships" r:id="R928696254b664e19"/>
                        </a:rPr>
                        <a:t>Technical documentation</a:t>
                      </a:r>
                    </a:p>
                  </a:txBody>
                  <a:tcPr marL="121920" marR="106680" marT="45720" marB="45720" anchor="ctr">
                    <a:solidFill>
                      <a:srgbClr val="234F83"/>
                    </a:solidFill>
                  </a:tcPr>
                </a:tc>
              </a:tr>
              <a:tr h="1203960">
                <a:tc>
                  <a:txBody>
                    <a:bodyPr lIns="121920" tIns="45720" rIns="106680" bIns="45720">
                      <a:noAutofit/>
                    </a:bodyPr>
                    <a:lstStyle/>
                    <a:p>
                      <a:r>
                        <a:rPr sz="1380" b="0">
                          <a:solidFill>
                            <a:srgbClr val="162B3B"/>
                          </a:solidFill>
                          <a:latin typeface="Calibri"/>
                          <a:ea typeface="Calibri"/>
                          <a:cs typeface="Calibri"/>
                        </a:rPr>
                        <a:t>CAG reports: slippages, delays, unused funds. GovTech: fraud detection, PFMS and unsupervised learning.</a:t>
                      </a:r>
                    </a:p>
                  </a:txBody>
                  <a:tcPr marL="121920" marR="106680" marT="45720" marB="45720" anchor="ctr">
                    <a:solidFill>
                      <a:srgbClr val="FFFFFF"/>
                    </a:solidFill>
                  </a:tcPr>
                </a:tc>
                <a:tc>
                  <a:txBody>
                    <a:bodyPr lIns="121920" tIns="45720" rIns="106680" bIns="45720">
                      <a:noAutofit/>
                    </a:bodyPr>
                    <a:lstStyle/>
                    <a:p>
                      <a:r>
                        <a:rPr sz="1380" b="0">
                          <a:solidFill>
                            <a:srgbClr val="162B3B"/>
                          </a:solidFill>
                          <a:latin typeface="Calibri"/>
                          <a:ea typeface="Calibri"/>
                          <a:cs typeface="Calibri"/>
                        </a:rPr>
                        <a:t>MPLADS: allocations, recommendations, expenditure. PFMS: payments and vendors. Geospatial maps and asset logs.</a:t>
                      </a:r>
                    </a:p>
                  </a:txBody>
                  <a:tcPr marL="121920" marR="106680" marT="45720" marB="45720" anchor="ctr">
                    <a:solidFill>
                      <a:srgbClr val="FFFFFF"/>
                    </a:solidFill>
                  </a:tcPr>
                </a:tc>
                <a:tc>
                  <a:txBody>
                    <a:bodyPr lIns="121920" tIns="45720" rIns="106680" bIns="45720">
                      <a:noAutofit/>
                    </a:bodyPr>
                    <a:lstStyle/>
                    <a:p>
                      <a:r>
                        <a:rPr sz="1380" b="0">
                          <a:solidFill>
                            <a:srgbClr val="162B3B"/>
                          </a:solidFill>
                          <a:latin typeface="Calibri"/>
                          <a:ea typeface="Calibri"/>
                          <a:cs typeface="Calibri"/>
                        </a:rPr>
                        <a:t>Transparency tools for state and central ministries. Digital screening of all records. Expansion to other schemes.</a:t>
                      </a:r>
                    </a:p>
                  </a:txBody>
                  <a:tcPr marL="121920" marR="106680" marT="45720" marB="45720" anchor="ctr">
                    <a:solidFill>
                      <a:srgbClr val="FFFFFF"/>
                    </a:solidFill>
                  </a:tcPr>
                </a:tc>
                <a:tc>
                  <a:txBody>
                    <a:bodyPr lIns="121920" tIns="45720" rIns="106680" bIns="45720">
                      <a:noAutofit/>
                    </a:bodyPr>
                    <a:lstStyle/>
                    <a:p>
                      <a:r>
                        <a:rPr sz="1380" b="0">
                          <a:solidFill>
                            <a:srgbClr val="162B3B"/>
                          </a:solidFill>
                          <a:latin typeface="Calibri"/>
                          <a:ea typeface="Calibri"/>
                          <a:cs typeface="Calibri"/>
                        </a:rPr>
                        <a:t>React.js, FastAPI, MongoDB and Python. Isolation Forest and risk scores. Secure REST microservices.</a:t>
                      </a:r>
                    </a:p>
                  </a:txBody>
                  <a:tcPr marL="121920" marR="106680" marT="45720" marB="45720" anchor="ctr">
                    <a:solidFill>
                      <a:srgbClr val="FFFFFF"/>
                    </a:solidFill>
                  </a:tcPr>
                </a:tc>
              </a:tr>
            </a:tbl>
          </a:graphicData>
        </a:graphic>
      </p:graphicFrame>
    </p:spTree>
    <p:extLst>
      <p:ext uri="{BB962C8B-B14F-4D97-AF65-F5344CB8AC3E}">
        <p14:creationId xmlns:p14="http://schemas.microsoft.com/office/powerpoint/2010/main" val="2550180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ROJECT TEAM &amp; CONTRIBUTORS">
            <a:extLst xmlns:a="http://schemas.openxmlformats.org/drawingml/2006/main">
              <a:ext uri="{FF2B5EF4-FFF2-40B4-BE49-F238E27FC236}">
                <a16:creationId xmlns:a16="http://schemas.microsoft.com/office/drawing/2014/main" id="{ADC95473-F7C2-4F93-9BF0-C666E36D1D0F}"/>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PROJECT TEAM &amp; CONTRIBUTORS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128ddd5c0504eef"/>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10B6864-6797-4714-8DB1-5ABD5CEB3E0E}"/>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4" name="Quantum Coders">
            <a:extLst xmlns:a="http://schemas.openxmlformats.org/drawingml/2006/main">
              <a:ext uri="{FF2B5EF4-FFF2-40B4-BE49-F238E27FC236}">
                <a16:creationId xmlns:a16="http://schemas.microsoft.com/office/drawing/2014/main" id="{0A4CA1AE-2AE5-4E5C-90F4-6F8312169513}"/>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5" name="Smart India Hackathon 2026">
            <a:extLst xmlns:a="http://schemas.openxmlformats.org/drawingml/2006/main">
              <a:ext uri="{FF2B5EF4-FFF2-40B4-BE49-F238E27FC236}">
                <a16:creationId xmlns:a16="http://schemas.microsoft.com/office/drawing/2014/main" id="{9FF134B1-D93D-4DB0-8D2B-719252BBD61E}"/>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6" name="6 / 6">
            <a:extLst xmlns:a="http://schemas.openxmlformats.org/drawingml/2006/main">
              <a:ext uri="{FF2B5EF4-FFF2-40B4-BE49-F238E27FC236}">
                <a16:creationId xmlns:a16="http://schemas.microsoft.com/office/drawing/2014/main" id="{6C83D349-052A-45F1-ACE9-1ACF5DFF2052}"/>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6 / 6</a:t>
            </a:r>
          </a:p>
        </p:txBody>
      </p:sp>
      <p:sp>
        <p:nvSpPr>
          <p:cNvPr id="7" name="College Name: F.E.T Agra College Agra">
            <a:extLst xmlns:a="http://schemas.openxmlformats.org/drawingml/2006/main">
              <a:ext uri="{FF2B5EF4-FFF2-40B4-BE49-F238E27FC236}">
                <a16:creationId xmlns:a16="http://schemas.microsoft.com/office/drawing/2014/main" id="{D0B8AF5E-4556-40A6-B1DF-E335B24569DA}"/>
              </a:ext>
            </a:extLst>
          </p:cNvPr>
          <p:cNvSpPr>
            <a:spLocks xmlns:a="http://schemas.openxmlformats.org/drawingml/2006/main" noGrp="1"/>
          </p:cNvSpPr>
          <p:nvPr/>
        </p:nvSpPr>
        <p:spPr>
          <a:xfrm xmlns:a="http://schemas.openxmlformats.org/drawingml/2006/main">
            <a:off x="609600" y="1325880"/>
            <a:ext cx="10744200" cy="4343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62B3B"/>
                </a:solidFill>
                <a:latin typeface="Calibri"/>
                <a:ea typeface="Calibri"/>
                <a:cs typeface="Calibri"/>
              </a:defRPr>
            </a:pPr>
            <a:r>
              <a:rPr sz="2100" b="0">
                <a:solidFill>
                  <a:srgbClr val="162B3B"/>
                </a:solidFill>
                <a:latin typeface="Calibri"/>
                <a:ea typeface="Calibri"/>
                <a:cs typeface="Calibri"/>
              </a:rPr>
              <a:t>College Name: F.E.T Agra College Agra</a:t>
            </a:r>
          </a:p>
        </p:txBody>
      </p:sp>
      <p:sp>
        <p:nvSpPr>
          <p:cNvPr id="8" name="Team Name: Quantum Coders">
            <a:extLst xmlns:a="http://schemas.openxmlformats.org/drawingml/2006/main">
              <a:ext uri="{FF2B5EF4-FFF2-40B4-BE49-F238E27FC236}">
                <a16:creationId xmlns:a16="http://schemas.microsoft.com/office/drawing/2014/main" id="{EC454186-DD3D-4F57-B487-018C0494008D}"/>
              </a:ext>
            </a:extLst>
          </p:cNvPr>
          <p:cNvSpPr>
            <a:spLocks xmlns:a="http://schemas.openxmlformats.org/drawingml/2006/main" noGrp="1"/>
          </p:cNvSpPr>
          <p:nvPr/>
        </p:nvSpPr>
        <p:spPr>
          <a:xfrm xmlns:a="http://schemas.openxmlformats.org/drawingml/2006/main">
            <a:off x="609600" y="1866900"/>
            <a:ext cx="107442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1">
                <a:solidFill>
                  <a:srgbClr val="234F83"/>
                </a:solidFill>
                <a:latin typeface="Calibri"/>
                <a:ea typeface="Calibri"/>
                <a:cs typeface="Calibri"/>
              </a:defRPr>
            </a:pPr>
            <a:r>
              <a:rPr sz="1740" b="1">
                <a:solidFill>
                  <a:srgbClr val="234F83"/>
                </a:solidFill>
                <a:latin typeface="Calibri"/>
                <a:ea typeface="Calibri"/>
                <a:cs typeface="Calibri"/>
              </a:rPr>
              <a:t>Team Name: Quantum Coders</a:t>
            </a:r>
          </a:p>
        </p:txBody>
      </p:sp>
      <p:sp>
        <p:nvSpPr>
          <p:cNvPr id="9" name="Team Leader: Krish Sehgal">
            <a:extLst xmlns:a="http://schemas.openxmlformats.org/drawingml/2006/main">
              <a:ext uri="{FF2B5EF4-FFF2-40B4-BE49-F238E27FC236}">
                <a16:creationId xmlns:a16="http://schemas.microsoft.com/office/drawing/2014/main" id="{CEA6EAEB-4C39-4C34-A371-8A4E016A860A}"/>
              </a:ext>
            </a:extLst>
          </p:cNvPr>
          <p:cNvSpPr>
            <a:spLocks xmlns:a="http://schemas.openxmlformats.org/drawingml/2006/main" noGrp="1"/>
          </p:cNvSpPr>
          <p:nvPr/>
        </p:nvSpPr>
        <p:spPr>
          <a:xfrm xmlns:a="http://schemas.openxmlformats.org/drawingml/2006/main">
            <a:off x="609600" y="2293620"/>
            <a:ext cx="107442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1">
                <a:solidFill>
                  <a:srgbClr val="234F83"/>
                </a:solidFill>
                <a:latin typeface="Calibri"/>
                <a:ea typeface="Calibri"/>
                <a:cs typeface="Calibri"/>
              </a:defRPr>
            </a:pPr>
            <a:r>
              <a:rPr sz="1740" b="1">
                <a:solidFill>
                  <a:srgbClr val="234F83"/>
                </a:solidFill>
                <a:latin typeface="Calibri"/>
                <a:ea typeface="Calibri"/>
                <a:cs typeface="Calibri"/>
              </a:rPr>
              <a:t>Team Leader: Krish Sehgal</a:t>
            </a:r>
          </a:p>
        </p:txBody>
      </p:sp>
      <p:graphicFrame>
        <p:nvGraphicFramePr>
          <p:cNvPr id="20" name=""/>
          <p:cNvGraphicFramePr/>
          <p:nvPr/>
        </p:nvGraphicFramePr>
        <p:xfrm>
          <a:off xmlns:a="http://schemas.openxmlformats.org/drawingml/2006/main" x="594360" y="2895600"/>
          <a:ext xmlns:a="http://schemas.openxmlformats.org/drawingml/2006/main" cx="11003280" cy="3429000"/>
        </p:xfrm>
        <a:graphic xmlns:a="http://schemas.openxmlformats.org/drawingml/2006/main">
          <a:graphicData uri="http://schemas.openxmlformats.org/drawingml/2006/table">
            <a:tbl>
              <a:tblPr firstRow="0" bandRow="0"/>
              <a:tblGrid>
                <a:gridCol w="3208020"/>
                <a:gridCol w="1905000"/>
                <a:gridCol w="3901440"/>
                <a:gridCol w="1988820"/>
              </a:tblGrid>
              <a:tr h="411480">
                <a:tc>
                  <a:txBody>
                    <a:bodyPr lIns="121920" tIns="45720" rIns="106680" bIns="45720">
                      <a:noAutofit/>
                    </a:bodyPr>
                    <a:lstStyle/>
                    <a:p>
                      <a:r>
                        <a:rPr sz="1500" b="1">
                          <a:solidFill>
                            <a:srgbClr val="FFFFFF"/>
                          </a:solidFill>
                          <a:latin typeface="Calibri"/>
                          <a:ea typeface="Calibri"/>
                          <a:cs typeface="Calibri"/>
                        </a:rPr>
                        <a:t>Name</a:t>
                      </a:r>
                    </a:p>
                  </a:txBody>
                  <a:tcPr marL="121920" marR="106680" marT="45720" marB="45720" anchor="ctr">
                    <a:solidFill>
                      <a:srgbClr val="234F83"/>
                    </a:solidFill>
                  </a:tcPr>
                </a:tc>
                <a:tc>
                  <a:txBody>
                    <a:bodyPr lIns="121920" tIns="45720" rIns="106680" bIns="45720">
                      <a:noAutofit/>
                    </a:bodyPr>
                    <a:lstStyle/>
                    <a:p>
                      <a:r>
                        <a:rPr sz="1500" b="1">
                          <a:solidFill>
                            <a:srgbClr val="FFFFFF"/>
                          </a:solidFill>
                          <a:latin typeface="Calibri"/>
                          <a:ea typeface="Calibri"/>
                          <a:cs typeface="Calibri"/>
                        </a:rPr>
                        <a:t>Roll number</a:t>
                      </a:r>
                    </a:p>
                  </a:txBody>
                  <a:tcPr marL="121920" marR="106680" marT="45720" marB="45720" anchor="ctr">
                    <a:solidFill>
                      <a:srgbClr val="234F83"/>
                    </a:solidFill>
                  </a:tcPr>
                </a:tc>
                <a:tc>
                  <a:txBody>
                    <a:bodyPr lIns="121920" tIns="45720" rIns="106680" bIns="45720">
                      <a:noAutofit/>
                    </a:bodyPr>
                    <a:lstStyle/>
                    <a:p>
                      <a:r>
                        <a:rPr sz="1500" b="1">
                          <a:solidFill>
                            <a:srgbClr val="FFFFFF"/>
                          </a:solidFill>
                          <a:latin typeface="Calibri"/>
                          <a:ea typeface="Calibri"/>
                          <a:cs typeface="Calibri"/>
                        </a:rPr>
                        <a:t>Email ID</a:t>
                      </a:r>
                    </a:p>
                  </a:txBody>
                  <a:tcPr marL="121920" marR="106680" marT="45720" marB="45720" anchor="ctr">
                    <a:solidFill>
                      <a:srgbClr val="234F83"/>
                    </a:solidFill>
                  </a:tcPr>
                </a:tc>
                <a:tc>
                  <a:txBody>
                    <a:bodyPr lIns="121920" tIns="45720" rIns="106680" bIns="45720">
                      <a:noAutofit/>
                    </a:bodyPr>
                    <a:lstStyle/>
                    <a:p>
                      <a:r>
                        <a:rPr sz="1500" b="1">
                          <a:solidFill>
                            <a:srgbClr val="FFFFFF"/>
                          </a:solidFill>
                          <a:latin typeface="Calibri"/>
                          <a:ea typeface="Calibri"/>
                          <a:cs typeface="Calibri"/>
                        </a:rPr>
                        <a:t>Branch / year</a:t>
                      </a:r>
                    </a:p>
                  </a:txBody>
                  <a:tcPr marL="121920" marR="106680" marT="45720" marB="45720" anchor="ctr">
                    <a:solidFill>
                      <a:srgbClr val="234F83"/>
                    </a:solidFill>
                  </a:tcPr>
                </a:tc>
              </a:tr>
              <a:tr h="502920">
                <a:tc>
                  <a:txBody>
                    <a:bodyPr lIns="121920" tIns="45720" rIns="106680" bIns="45720">
                      <a:noAutofit/>
                    </a:bodyPr>
                    <a:lstStyle/>
                    <a:p>
                      <a:r>
                        <a:rPr sz="1560" b="1">
                          <a:solidFill>
                            <a:srgbClr val="162B3B"/>
                          </a:solidFill>
                          <a:latin typeface="Calibri"/>
                          <a:ea typeface="Calibri"/>
                          <a:cs typeface="Calibri"/>
                        </a:rPr>
                        <a:t>Surya Pratap Singh Bais</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2500020100118</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suryasinghbais@gmail.com</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CSE / 2nd year</a:t>
                      </a:r>
                    </a:p>
                  </a:txBody>
                  <a:tcPr marL="121920" marR="106680" marT="45720" marB="45720" anchor="ctr">
                    <a:solidFill>
                      <a:srgbClr val="FFFFFF"/>
                    </a:solidFill>
                  </a:tcPr>
                </a:tc>
              </a:tr>
              <a:tr h="502920">
                <a:tc>
                  <a:txBody>
                    <a:bodyPr lIns="121920" tIns="45720" rIns="106680" bIns="45720">
                      <a:noAutofit/>
                    </a:bodyPr>
                    <a:lstStyle/>
                    <a:p>
                      <a:r>
                        <a:rPr sz="1560" b="1">
                          <a:solidFill>
                            <a:srgbClr val="162B3B"/>
                          </a:solidFill>
                          <a:latin typeface="Calibri"/>
                          <a:ea typeface="Calibri"/>
                          <a:cs typeface="Calibri"/>
                        </a:rPr>
                        <a:t>Aqsa Mushir</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2400020100016</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aqsamushir@gmail.com</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CSE / 3rd year</a:t>
                      </a:r>
                    </a:p>
                  </a:txBody>
                  <a:tcPr marL="121920" marR="106680" marT="45720" marB="45720" anchor="ctr">
                    <a:solidFill>
                      <a:srgbClr val="EDF4FA"/>
                    </a:solidFill>
                  </a:tcPr>
                </a:tc>
              </a:tr>
              <a:tr h="502920">
                <a:tc>
                  <a:txBody>
                    <a:bodyPr lIns="121920" tIns="45720" rIns="106680" bIns="45720">
                      <a:noAutofit/>
                    </a:bodyPr>
                    <a:lstStyle/>
                    <a:p>
                      <a:r>
                        <a:rPr sz="1560" b="1">
                          <a:solidFill>
                            <a:srgbClr val="162B3B"/>
                          </a:solidFill>
                          <a:latin typeface="Calibri"/>
                          <a:ea typeface="Calibri"/>
                          <a:cs typeface="Calibri"/>
                        </a:rPr>
                        <a:t>Shahin Khan</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2400020100092</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shahin01cse@gmail.com</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CSE / 3rd year</a:t>
                      </a:r>
                    </a:p>
                  </a:txBody>
                  <a:tcPr marL="121920" marR="106680" marT="45720" marB="45720" anchor="ctr">
                    <a:solidFill>
                      <a:srgbClr val="FFFFFF"/>
                    </a:solidFill>
                  </a:tcPr>
                </a:tc>
              </a:tr>
              <a:tr h="502920">
                <a:tc>
                  <a:txBody>
                    <a:bodyPr lIns="121920" tIns="45720" rIns="106680" bIns="45720">
                      <a:noAutofit/>
                    </a:bodyPr>
                    <a:lstStyle/>
                    <a:p>
                      <a:r>
                        <a:rPr sz="1560" b="1">
                          <a:solidFill>
                            <a:srgbClr val="162B3B"/>
                          </a:solidFill>
                          <a:latin typeface="Calibri"/>
                          <a:ea typeface="Calibri"/>
                          <a:cs typeface="Calibri"/>
                        </a:rPr>
                        <a:t>Raj Prajapati</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2300020100061</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rajt65800@gmail.com</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CSE / 4th year</a:t>
                      </a:r>
                    </a:p>
                  </a:txBody>
                  <a:tcPr marL="121920" marR="106680" marT="45720" marB="45720" anchor="ctr">
                    <a:solidFill>
                      <a:srgbClr val="EDF4FA"/>
                    </a:solidFill>
                  </a:tcPr>
                </a:tc>
              </a:tr>
              <a:tr h="502920">
                <a:tc>
                  <a:txBody>
                    <a:bodyPr lIns="121920" tIns="45720" rIns="106680" bIns="45720">
                      <a:noAutofit/>
                    </a:bodyPr>
                    <a:lstStyle/>
                    <a:p>
                      <a:r>
                        <a:rPr sz="1560" b="1">
                          <a:solidFill>
                            <a:srgbClr val="162B3B"/>
                          </a:solidFill>
                          <a:latin typeface="Calibri"/>
                          <a:ea typeface="Calibri"/>
                          <a:cs typeface="Calibri"/>
                        </a:rPr>
                        <a:t>Krish Sehgal</a:t>
                      </a:r>
                    </a:p>
                  </a:txBody>
                  <a:tcPr marL="121920" marR="106680" marT="45720" marB="45720" anchor="ctr">
                    <a:solidFill>
                      <a:srgbClr val="DFEEE7"/>
                    </a:solidFill>
                  </a:tcPr>
                </a:tc>
                <a:tc>
                  <a:txBody>
                    <a:bodyPr lIns="121920" tIns="45720" rIns="106680" bIns="45720">
                      <a:noAutofit/>
                    </a:bodyPr>
                    <a:lstStyle/>
                    <a:p>
                      <a:r>
                        <a:rPr sz="1560" b="0">
                          <a:solidFill>
                            <a:srgbClr val="162B3B"/>
                          </a:solidFill>
                          <a:latin typeface="Calibri"/>
                          <a:ea typeface="Calibri"/>
                          <a:cs typeface="Calibri"/>
                        </a:rPr>
                        <a:t>2300020100043</a:t>
                      </a:r>
                    </a:p>
                  </a:txBody>
                  <a:tcPr marL="121920" marR="106680" marT="45720" marB="45720" anchor="ctr">
                    <a:solidFill>
                      <a:srgbClr val="DFEEE7"/>
                    </a:solidFill>
                  </a:tcPr>
                </a:tc>
                <a:tc>
                  <a:txBody>
                    <a:bodyPr lIns="121920" tIns="45720" rIns="106680" bIns="45720">
                      <a:noAutofit/>
                    </a:bodyPr>
                    <a:lstStyle/>
                    <a:p>
                      <a:r>
                        <a:rPr sz="1560" b="0">
                          <a:solidFill>
                            <a:srgbClr val="162B3B"/>
                          </a:solidFill>
                          <a:latin typeface="Calibri"/>
                          <a:ea typeface="Calibri"/>
                          <a:cs typeface="Calibri"/>
                        </a:rPr>
                        <a:t>krishsehgal08@gmail.com</a:t>
                      </a:r>
                    </a:p>
                  </a:txBody>
                  <a:tcPr marL="121920" marR="106680" marT="45720" marB="45720" anchor="ctr">
                    <a:solidFill>
                      <a:srgbClr val="DFEEE7"/>
                    </a:solidFill>
                  </a:tcPr>
                </a:tc>
                <a:tc>
                  <a:txBody>
                    <a:bodyPr lIns="121920" tIns="45720" rIns="106680" bIns="45720">
                      <a:noAutofit/>
                    </a:bodyPr>
                    <a:lstStyle/>
                    <a:p>
                      <a:r>
                        <a:rPr sz="1560" b="0">
                          <a:solidFill>
                            <a:srgbClr val="162B3B"/>
                          </a:solidFill>
                          <a:latin typeface="Calibri"/>
                          <a:ea typeface="Calibri"/>
                          <a:cs typeface="Calibri"/>
                        </a:rPr>
                        <a:t>CSE / 4th year</a:t>
                      </a:r>
                    </a:p>
                  </a:txBody>
                  <a:tcPr marL="121920" marR="106680" marT="45720" marB="45720" anchor="ctr">
                    <a:solidFill>
                      <a:srgbClr val="DFEEE7"/>
                    </a:solidFill>
                  </a:tcPr>
                </a:tc>
              </a:tr>
              <a:tr h="502920">
                <a:tc>
                  <a:txBody>
                    <a:bodyPr lIns="121920" tIns="45720" rIns="106680" bIns="45720">
                      <a:noAutofit/>
                    </a:bodyPr>
                    <a:lstStyle/>
                    <a:p>
                      <a:r>
                        <a:rPr sz="1560" b="1">
                          <a:solidFill>
                            <a:srgbClr val="162B3B"/>
                          </a:solidFill>
                          <a:latin typeface="Calibri"/>
                          <a:ea typeface="Calibri"/>
                          <a:cs typeface="Calibri"/>
                        </a:rPr>
                        <a:t>Vishal Sharma</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2300020100079</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vishal.sept05@gmail.com</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CSE / 4th year</a:t>
                      </a:r>
                    </a:p>
                  </a:txBody>
                  <a:tcPr marL="121920" marR="106680" marT="45720" marB="45720" anchor="ctr">
                    <a:solidFill>
                      <a:srgbClr val="EDF4FA"/>
                    </a:solidFill>
                  </a:tcPr>
                </a:tc>
              </a:tr>
            </a:tbl>
          </a:graphicData>
        </a:graphic>
      </p:graphicFrame>
    </p:spTree>
    <p:extLst>
      <p:ext uri="{BB962C8B-B14F-4D97-AF65-F5344CB8AC3E}">
        <p14:creationId xmlns:p14="http://schemas.microsoft.com/office/powerpoint/2010/main" val="15687016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2026-09-11T04:56:50.1990000Z</dcterms:created>
  <dcterms:modified xsi:type="dcterms:W3CDTF">2026-09-11T04:56:50.1990000Z</dcterms:modified>
</coreProperties>
</file>