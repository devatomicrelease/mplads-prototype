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e2656fa3e94e08" /><Relationship Type="http://schemas.openxmlformats.org/officeDocument/2006/relationships/extended-properties" Target="/docProps/app.xml" Id="Rdb13fef9bed74e5a" /><Relationship Type="http://schemas.openxmlformats.org/officeDocument/2006/relationships/officeDocument" Target="/ppt/presentation.xml" Id="Ra8e77eb9906d4a17" /></Relationships>
</file>

<file path=ppt/presentation.xml><?xml version="1.0" encoding="utf-8"?>
<p:presentation xmlns:p="http://schemas.openxmlformats.org/presentationml/2006/main">
  <p:sldMasterIdLst>
    <p:sldMasterId xmlns:r="http://schemas.openxmlformats.org/officeDocument/2006/relationships" id="2147483648" r:id="R0f9f93c1a09f456f"/>
  </p:sldMasterIdLst>
  <p:notesMasterIdLst>
    <p:notesMasterId xmlns:r="http://schemas.openxmlformats.org/officeDocument/2006/relationships" r:id="Rc7a6756875504502"/>
  </p:notesMasterIdLst>
  <p:sldIdLst>
    <p:sldId xmlns:r="http://schemas.openxmlformats.org/officeDocument/2006/relationships" id="256" r:id="Rc48aed73cfd84f37"/>
    <p:sldId xmlns:r="http://schemas.openxmlformats.org/officeDocument/2006/relationships" id="257" r:id="R73368850df80429c"/>
    <p:sldId xmlns:r="http://schemas.openxmlformats.org/officeDocument/2006/relationships" id="258" r:id="Rf3ebe7cffc5f47f0"/>
    <p:sldId xmlns:r="http://schemas.openxmlformats.org/officeDocument/2006/relationships" id="259" r:id="R18482e545b7a4ca4"/>
    <p:sldId xmlns:r="http://schemas.openxmlformats.org/officeDocument/2006/relationships" id="260" r:id="Rff420c86c12246b4"/>
    <p:sldId xmlns:r="http://schemas.openxmlformats.org/officeDocument/2006/relationships" id="261" r:id="Rb58bb2ebed0f4f88"/>
    <p:sldId xmlns:r="http://schemas.openxmlformats.org/officeDocument/2006/relationships" id="262" r:id="R1db805548ea745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665e46e6d94774" /><Relationship Type="http://schemas.openxmlformats.org/officeDocument/2006/relationships/slideMaster" Target="/ppt/slideMasters/slideMaster1.xml" Id="R0f9f93c1a09f456f" /><Relationship Type="http://schemas.openxmlformats.org/officeDocument/2006/relationships/notesMaster" Target="/ppt/notesMasters/notesMaster1.xml" Id="Rc7a6756875504502" /><Relationship Type="http://schemas.openxmlformats.org/officeDocument/2006/relationships/presProps" Target="/ppt/presProps.xml" Id="R6b83f4351bb24a08" /><Relationship Type="http://schemas.openxmlformats.org/officeDocument/2006/relationships/tableStyles" Target="/ppt/tableStyles.xml" Id="R609d816e7e064279" /><Relationship Type="http://schemas.openxmlformats.org/officeDocument/2006/relationships/slide" Target="/ppt/slides/slide1.xml" Id="Rc48aed73cfd84f37" /><Relationship Type="http://schemas.openxmlformats.org/officeDocument/2006/relationships/slide" Target="/ppt/slides/slide2.xml" Id="R73368850df80429c" /><Relationship Type="http://schemas.openxmlformats.org/officeDocument/2006/relationships/slide" Target="/ppt/slides/slide3.xml" Id="Rf3ebe7cffc5f47f0" /><Relationship Type="http://schemas.openxmlformats.org/officeDocument/2006/relationships/slide" Target="/ppt/slides/slide4.xml" Id="R18482e545b7a4ca4" /><Relationship Type="http://schemas.openxmlformats.org/officeDocument/2006/relationships/slide" Target="/ppt/slides/slide5.xml" Id="Rff420c86c12246b4" /><Relationship Type="http://schemas.openxmlformats.org/officeDocument/2006/relationships/slide" Target="/ppt/slides/slide6.xml" Id="Rb58bb2ebed0f4f88" /><Relationship Type="http://schemas.openxmlformats.org/officeDocument/2006/relationships/slide" Target="/ppt/slides/slide7.xml" Id="R1db805548ea745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5114d957ef42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9fafdb861a432f" /><Relationship Type="http://schemas.openxmlformats.org/officeDocument/2006/relationships/notesMaster" Target="/ppt/notesMasters/notesMaster1.xml" Id="Rcd99b4d3b3ba49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ed4bf755764b6a" /><Relationship Type="http://schemas.openxmlformats.org/officeDocument/2006/relationships/notesMaster" Target="/ppt/notesMasters/notesMaster1.xml" Id="Rb9264a2c32ba4b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bd9d09d36a49c4" /><Relationship Type="http://schemas.openxmlformats.org/officeDocument/2006/relationships/notesMaster" Target="/ppt/notesMasters/notesMaster1.xml" Id="Rcbd05845d3994c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3fb88424074935" /><Relationship Type="http://schemas.openxmlformats.org/officeDocument/2006/relationships/notesMaster" Target="/ppt/notesMasters/notesMaster1.xml" Id="R6b3900a4d7e240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8d43d5cd1a41a8" /><Relationship Type="http://schemas.openxmlformats.org/officeDocument/2006/relationships/notesMaster" Target="/ppt/notesMasters/notesMaster1.xml" Id="R6ce463c78ade4e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f9f5bfca8a4cfe" /><Relationship Type="http://schemas.openxmlformats.org/officeDocument/2006/relationships/notesMaster" Target="/ppt/notesMasters/notesMaster1.xml" Id="R6b20232858d84b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d3da2286be4017" /><Relationship Type="http://schemas.openxmlformats.org/officeDocument/2006/relationships/notesMaster" Target="/ppt/notesMasters/notesMaster1.xml" Id="R24f014820b1b42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Source: rough PDF, page 5. Roadmap items are proposed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a:p xmlns:a="http://schemas.openxmlformats.org/drawingml/2006/main">
            <a:r>
              <a:t>PFMS integration requires authorized access. Market demand is a hypothesis from the proposal rather than an independently measured market study. The rough PDF names research themes without individual academic paper titles. Its decorative Mobile/Desktop/Tablet chart has no project evidence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955c117c9a43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53cad4cd184290" /><Relationship Type="http://schemas.openxmlformats.org/officeDocument/2006/relationships/slideLayout" Target="/ppt/slideLayouts/slideLayout1.xml" Id="R00fd11dc261e4e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fd11dc261e4e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c08fde0de2545a1"/><Relationship Type="http://schemas.openxmlformats.org/officeDocument/2006/relationships/image" Target="/ppt/media/image.png" Id="R8cb05ad7efbe4a2d"/><Relationship Type="http://schemas.openxmlformats.org/officeDocument/2006/relationships/notesSlide" Target="/ppt/notesSlides/notesSlide1.xml" Id="Rcaa42bc96c89490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ce6d25c4f435480b"/><Relationship Type="http://schemas.openxmlformats.org/officeDocument/2006/relationships/image" Target="/ppt/media/image.png" Id="Rd345207c422b41ec"/><Relationship Type="http://schemas.openxmlformats.org/officeDocument/2006/relationships/notesSlide" Target="/ppt/notesSlides/notesSlide2.xml" Id="Rdd8235df69b344e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05b267da35a41bc"/><Relationship Type="http://schemas.openxmlformats.org/officeDocument/2006/relationships/image" Target="/ppt/media/image.png" Id="Rcdbaabe76bf84cf3"/><Relationship Type="http://schemas.openxmlformats.org/officeDocument/2006/relationships/notesSlide" Target="/ppt/notesSlides/notesSlide3.xml" Id="R555651fffd2a407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f8fe6981d4ce4956"/><Relationship Type="http://schemas.openxmlformats.org/officeDocument/2006/relationships/image" Target="/ppt/media/image.png" Id="R35358b90a93b4a72"/><Relationship Type="http://schemas.openxmlformats.org/officeDocument/2006/relationships/notesSlide" Target="/ppt/notesSlides/notesSlide4.xml" Id="R9d16048425724f5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603eff98b3a46d1"/><Relationship Type="http://schemas.openxmlformats.org/officeDocument/2006/relationships/image" Target="/ppt/media/image.png" Id="R10a3d597e5714a95"/><Relationship Type="http://schemas.openxmlformats.org/officeDocument/2006/relationships/notesSlide" Target="/ppt/notesSlides/notesSlide5.xml" Id="R78e89c8416d94e3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95d18fac05f4393"/><Relationship Type="http://schemas.openxmlformats.org/officeDocument/2006/relationships/image" Target="/ppt/media/image.png" Id="Rd372f159dd0f46de"/><Relationship Type="http://schemas.openxmlformats.org/officeDocument/2006/relationships/hyperlink" Target="https://cag.gov.in/en/audit-report/details/2341" TargetMode="External" Id="R053a30afbc9645a6"/><Relationship Type="http://schemas.openxmlformats.org/officeDocument/2006/relationships/hyperlink" Target="https://mplads.gov.in/" TargetMode="External" Id="R21d342a29bfe4980"/><Relationship Type="http://schemas.openxmlformats.org/officeDocument/2006/relationships/hyperlink" Target="https://pfms.nic.in/" TargetMode="External" Id="R7247fe560c1f4636"/><Relationship Type="http://schemas.openxmlformats.org/officeDocument/2006/relationships/hyperlink" Target="https://fastapi.tiangolo.com/features/" TargetMode="External" Id="R3a38ba13a90242cb"/><Relationship Type="http://schemas.openxmlformats.org/officeDocument/2006/relationships/hyperlink" Target="https://scikit-learn.org/stable/modules/generated/sklearn.ensemble.IsolationForest.html" TargetMode="External" Id="R7273f28fe3ea4f35"/><Relationship Type="http://schemas.openxmlformats.org/officeDocument/2006/relationships/notesSlide" Target="/ppt/notesSlides/notesSlide6.xml" Id="Rdf9fe8f220214fa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9adb93ff972410d"/><Relationship Type="http://schemas.openxmlformats.org/officeDocument/2006/relationships/image" Target="/ppt/media/image.png" Id="Rf8051e614be94fc9"/><Relationship Type="http://schemas.openxmlformats.org/officeDocument/2006/relationships/notesSlide" Target="/ppt/notesSlides/notesSlide7.xml" Id="R7104f7ef7fe348a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4B20D0BB-05A3-4158-90ED-137BEDD1DB6E}"/>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cb05ad7efbe4a2d"/>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C8E559-52D6-4CB2-8DBA-677474102BFF}"/>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7EADC31E-0AB8-4B25-80F1-55DD25CB0F83}"/>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139954D5-E1E4-476D-98F4-837B8A47E8BC}"/>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7">
            <a:extLst xmlns:a="http://schemas.openxmlformats.org/drawingml/2006/main">
              <a:ext uri="{FF2B5EF4-FFF2-40B4-BE49-F238E27FC236}">
                <a16:creationId xmlns:a16="http://schemas.microsoft.com/office/drawing/2014/main" id="{0DD5608E-07AA-44F5-990B-6FFC04AA859D}"/>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7</a:t>
            </a:r>
          </a:p>
        </p:txBody>
      </p:sp>
      <p:sp>
        <p:nvSpPr>
          <p:cNvPr id="7" name="MPLADS-GUARD">
            <a:extLst xmlns:a="http://schemas.openxmlformats.org/drawingml/2006/main">
              <a:ext uri="{FF2B5EF4-FFF2-40B4-BE49-F238E27FC236}">
                <a16:creationId xmlns:a16="http://schemas.microsoft.com/office/drawing/2014/main" id="{66C5D6C4-566D-4FB6-9A3F-C7B3F005BB4C}"/>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FAFE6107-3B9F-4CCA-A1A9-B81559AB0317}"/>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F5349785-3079-45AA-AEE1-59FCA9C8C64E}"/>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25CCE45F-4E70-4AFF-B62A-6E4287AF72BB}"/>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BFA93F2F-6FE6-4701-B352-E81CCF453BE1}"/>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3DF6DFEB-81D6-474A-9268-9231A8BF0A39}"/>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4C5863EB-9464-471F-AF5F-1FB716F9F975}"/>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78FF7B06-8797-48A4-A96E-DD6CA94D2D96}"/>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9F8FB03C-3D29-44A9-82E9-385107DAFAA5}"/>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39BA9AB7-DB10-4085-AF33-C5476D553482}"/>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9F47437F-4B35-425C-9B33-80066D357094}"/>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F0510CF7-0794-47DB-A83F-B90AC72D112A}"/>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19033550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MPLADS-GUARD">
            <a:extLst xmlns:a="http://schemas.openxmlformats.org/drawingml/2006/main">
              <a:ext uri="{FF2B5EF4-FFF2-40B4-BE49-F238E27FC236}">
                <a16:creationId xmlns:a16="http://schemas.microsoft.com/office/drawing/2014/main" id="{3CF7DB55-D5C1-453E-BBDD-A7721801123F}"/>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345207c422b41ec"/>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I-driven monitoring of MPLADS funds">
            <a:extLst xmlns:a="http://schemas.openxmlformats.org/drawingml/2006/main">
              <a:ext uri="{FF2B5EF4-FFF2-40B4-BE49-F238E27FC236}">
                <a16:creationId xmlns:a16="http://schemas.microsoft.com/office/drawing/2014/main" id="{5F14AD2F-C118-4ED4-B4DC-2116C3B660F4}"/>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AI-driven monitoring of MPLADS funds and project execution</a:t>
            </a:r>
          </a:p>
        </p:txBody>
      </p:sp>
      <p:sp>
        <p:nvSpPr>
          <p:cNvPr id="4" name="">
            <a:extLst xmlns:a="http://schemas.openxmlformats.org/drawingml/2006/main">
              <a:ext uri="{FF2B5EF4-FFF2-40B4-BE49-F238E27FC236}">
                <a16:creationId xmlns:a16="http://schemas.microsoft.com/office/drawing/2014/main" id="{C7D92742-AF51-4955-9645-DFAFAE4F96A0}"/>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0C1B7ABF-30FA-4AD1-B71F-E8F8BB532149}"/>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0A567CF4-7500-44A6-A47C-92A28279707F}"/>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7">
            <a:extLst xmlns:a="http://schemas.openxmlformats.org/drawingml/2006/main">
              <a:ext uri="{FF2B5EF4-FFF2-40B4-BE49-F238E27FC236}">
                <a16:creationId xmlns:a16="http://schemas.microsoft.com/office/drawing/2014/main" id="{159E08E5-C265-4E8D-AD8A-3A78E0D75165}"/>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7</a:t>
            </a:r>
          </a:p>
        </p:txBody>
      </p:sp>
      <p:sp>
        <p:nvSpPr>
          <p:cNvPr id="8" name="Government data">
            <a:extLst xmlns:a="http://schemas.openxmlformats.org/drawingml/2006/main">
              <a:ext uri="{FF2B5EF4-FFF2-40B4-BE49-F238E27FC236}">
                <a16:creationId xmlns:a16="http://schemas.microsoft.com/office/drawing/2014/main" id="{9E6AEFCE-37D5-4B8D-902D-5551222C4637}"/>
              </a:ext>
            </a:extLst>
          </p:cNvPr>
          <p:cNvSpPr>
            <a:spLocks xmlns:a="http://schemas.openxmlformats.org/drawingml/2006/main" noGrp="1"/>
          </p:cNvSpPr>
          <p:nvPr/>
        </p:nvSpPr>
        <p:spPr>
          <a:xfrm xmlns:a="http://schemas.openxmlformats.org/drawingml/2006/main">
            <a:off x="59436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Government data</a:t>
            </a:r>
          </a:p>
        </p:txBody>
      </p:sp>
      <p:sp>
        <p:nvSpPr>
          <p:cNvPr id="9" name="Rule engine">
            <a:extLst xmlns:a="http://schemas.openxmlformats.org/drawingml/2006/main">
              <a:ext uri="{FF2B5EF4-FFF2-40B4-BE49-F238E27FC236}">
                <a16:creationId xmlns:a16="http://schemas.microsoft.com/office/drawing/2014/main" id="{40D07F5B-ECFD-43D9-9469-5A99E39ECAA0}"/>
              </a:ext>
            </a:extLst>
          </p:cNvPr>
          <p:cNvSpPr>
            <a:spLocks xmlns:a="http://schemas.openxmlformats.org/drawingml/2006/main" noGrp="1"/>
          </p:cNvSpPr>
          <p:nvPr/>
        </p:nvSpPr>
        <p:spPr>
          <a:xfrm xmlns:a="http://schemas.openxmlformats.org/drawingml/2006/main">
            <a:off x="286512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24F36461-73CB-4B35-9369-5C07D753FE73}"/>
              </a:ext>
            </a:extLst>
          </p:cNvPr>
          <p:cNvSpPr>
            <a:spLocks xmlns:a="http://schemas.openxmlformats.org/drawingml/2006/main" noGrp="1"/>
          </p:cNvSpPr>
          <p:nvPr/>
        </p:nvSpPr>
        <p:spPr>
          <a:xfrm xmlns:a="http://schemas.openxmlformats.org/drawingml/2006/main">
            <a:off x="513588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AI / ML analysis</a:t>
            </a:r>
          </a:p>
        </p:txBody>
      </p:sp>
      <p:sp>
        <p:nvSpPr>
          <p:cNvPr id="11" name="Anomaly flags">
            <a:extLst xmlns:a="http://schemas.openxmlformats.org/drawingml/2006/main">
              <a:ext uri="{FF2B5EF4-FFF2-40B4-BE49-F238E27FC236}">
                <a16:creationId xmlns:a16="http://schemas.microsoft.com/office/drawing/2014/main" id="{291AE23F-2D34-4A24-AE12-A02581DD2BF5}"/>
              </a:ext>
            </a:extLst>
          </p:cNvPr>
          <p:cNvSpPr>
            <a:spLocks xmlns:a="http://schemas.openxmlformats.org/drawingml/2006/main" noGrp="1"/>
          </p:cNvSpPr>
          <p:nvPr/>
        </p:nvSpPr>
        <p:spPr>
          <a:xfrm xmlns:a="http://schemas.openxmlformats.org/drawingml/2006/main">
            <a:off x="740664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0C7FBF0E-11A7-480F-B977-EF1FB72982FF}"/>
              </a:ext>
            </a:extLst>
          </p:cNvPr>
          <p:cNvSpPr>
            <a:spLocks xmlns:a="http://schemas.openxmlformats.org/drawingml/2006/main" noGrp="1"/>
          </p:cNvSpPr>
          <p:nvPr/>
        </p:nvSpPr>
        <p:spPr>
          <a:xfrm xmlns:a="http://schemas.openxmlformats.org/drawingml/2006/main">
            <a:off x="9677400" y="1584960"/>
            <a:ext cx="1927860" cy="53340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Dashboard</a:t>
            </a:r>
          </a:p>
        </p:txBody>
      </p: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252222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479298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7" name=""/>
          <p:cNvCxnSpPr>
            <a:stCxn xmlns:a="http://schemas.openxmlformats.org/drawingml/2006/main" id="10" idx="3"/>
            <a:endCxn xmlns:a="http://schemas.openxmlformats.org/drawingml/2006/main" id="11" idx="1"/>
          </p:cNvCxnSpPr>
          <p:nvPr/>
        </p:nvCxnSpPr>
        <p:spPr>
          <a:xfrm xmlns:a="http://schemas.openxmlformats.org/drawingml/2006/main">
            <a:off x="706374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933450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How the solution addresses the problem">
            <a:extLst xmlns:a="http://schemas.openxmlformats.org/drawingml/2006/main">
              <a:ext uri="{FF2B5EF4-FFF2-40B4-BE49-F238E27FC236}">
                <a16:creationId xmlns:a16="http://schemas.microsoft.com/office/drawing/2014/main" id="{7913368D-1987-4E4B-B2F7-7091AC72DDF7}"/>
              </a:ext>
            </a:extLst>
          </p:cNvPr>
          <p:cNvSpPr>
            <a:spLocks xmlns:a="http://schemas.openxmlformats.org/drawingml/2006/main" noGrp="1"/>
          </p:cNvSpPr>
          <p:nvPr/>
        </p:nvSpPr>
        <p:spPr>
          <a:xfrm xmlns:a="http://schemas.openxmlformats.org/drawingml/2006/main">
            <a:off x="594360" y="227838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How the solution addresses the problem</a:t>
            </a:r>
          </a:p>
        </p:txBody>
      </p:sp>
      <p:graphicFrame>
        <p:nvGraphicFramePr>
          <p:cNvPr id="40" name=""/>
          <p:cNvGraphicFramePr/>
          <p:nvPr/>
        </p:nvGraphicFramePr>
        <p:xfrm>
          <a:off xmlns:a="http://schemas.openxmlformats.org/drawingml/2006/main" x="594360" y="2689860"/>
          <a:ext xmlns:a="http://schemas.openxmlformats.org/drawingml/2006/main" cx="11003280" cy="2689860"/>
        </p:xfrm>
        <a:graphic xmlns:a="http://schemas.openxmlformats.org/drawingml/2006/main">
          <a:graphicData uri="http://schemas.openxmlformats.org/drawingml/2006/table">
            <a:tbl>
              <a:tblPr firstRow="0" bandRow="0"/>
              <a:tblGrid>
                <a:gridCol w="3314700"/>
                <a:gridCol w="7688580"/>
              </a:tblGrid>
              <a:tr h="350520">
                <a:tc>
                  <a:txBody>
                    <a:bodyPr lIns="121920" tIns="45720" rIns="106680" bIns="45720">
                      <a:noAutofit/>
                    </a:bodyPr>
                    <a:lstStyle/>
                    <a:p>
                      <a:r>
                        <a:rPr sz="1380" b="1">
                          <a:solidFill>
                            <a:srgbClr val="FFFFFF"/>
                          </a:solidFill>
                          <a:latin typeface="Calibri"/>
                          <a:ea typeface="Calibri"/>
                          <a:cs typeface="Calibri"/>
                        </a:rPr>
                        <a:t>Monitoring gap</a:t>
                      </a:r>
                    </a:p>
                  </a:txBody>
                  <a:tcPr marL="121920" marR="106680" marT="45720" marB="45720" anchor="ctr">
                    <a:solidFill>
                      <a:srgbClr val="234F83"/>
                    </a:solidFill>
                  </a:tcPr>
                </a:tc>
                <a:tc>
                  <a:txBody>
                    <a:bodyPr lIns="121920" tIns="45720" rIns="106680" bIns="45720">
                      <a:noAutofit/>
                    </a:bodyPr>
                    <a:lstStyle/>
                    <a:p>
                      <a:r>
                        <a:rPr sz="1380" b="1">
                          <a:solidFill>
                            <a:srgbClr val="FFFFFF"/>
                          </a:solidFill>
                          <a:latin typeface="Calibri"/>
                          <a:ea typeface="Calibri"/>
                          <a:cs typeface="Calibri"/>
                        </a:rPr>
                        <a:t>Proposed response</a:t>
                      </a:r>
                    </a:p>
                  </a:txBody>
                  <a:tcPr marL="121920" marR="106680" marT="45720" marB="45720" anchor="ctr">
                    <a:solidFill>
                      <a:srgbClr val="234F83"/>
                    </a:solidFill>
                  </a:tcPr>
                </a:tc>
              </a:tr>
              <a:tr h="426720">
                <a:tc>
                  <a:txBody>
                    <a:bodyPr lIns="121920" tIns="45720" rIns="106680" bIns="45720">
                      <a:noAutofit/>
                    </a:bodyPr>
                    <a:lstStyle/>
                    <a:p>
                      <a:r>
                        <a:rPr sz="1440" b="1">
                          <a:solidFill>
                            <a:srgbClr val="162B3B"/>
                          </a:solidFill>
                          <a:latin typeface="Calibri"/>
                          <a:ea typeface="Calibri"/>
                          <a:cs typeface="Calibri"/>
                        </a:rPr>
                        <a:t>Manual oversight</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Translate broad fraud and inefficiency concerns into computable signals.</a:t>
                      </a:r>
                    </a:p>
                  </a:txBody>
                  <a:tcPr marL="121920" marR="106680" marT="45720" marB="45720" anchor="ctr">
                    <a:solidFill>
                      <a:srgbClr val="FFFFFF"/>
                    </a:solidFill>
                  </a:tcPr>
                </a:tc>
              </a:tr>
              <a:tr h="495300">
                <a:tc>
                  <a:txBody>
                    <a:bodyPr lIns="121920" tIns="45720" rIns="106680" bIns="45720">
                      <a:noAutofit/>
                    </a:bodyPr>
                    <a:lstStyle/>
                    <a:p>
                      <a:r>
                        <a:rPr sz="1440" b="1">
                          <a:solidFill>
                            <a:srgbClr val="162B3B"/>
                          </a:solidFill>
                          <a:latin typeface="Calibri"/>
                          <a:ea typeface="Calibri"/>
                          <a:cs typeface="Calibri"/>
                        </a:rPr>
                        <a:t>March Rush and favoritism</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Analyze historical spending for year-end spikes, vendor concentration and inflated costs.</a:t>
                      </a:r>
                    </a:p>
                  </a:txBody>
                  <a:tcPr marL="121920" marR="106680" marT="45720" marB="45720" anchor="ctr">
                    <a:solidFill>
                      <a:srgbClr val="EDF4FA"/>
                    </a:solidFill>
                  </a:tcPr>
                </a:tc>
              </a:tr>
              <a:tr h="495300">
                <a:tc>
                  <a:txBody>
                    <a:bodyPr lIns="121920" tIns="45720" rIns="106680" bIns="45720">
                      <a:noAutofit/>
                    </a:bodyPr>
                    <a:lstStyle/>
                    <a:p>
                      <a:r>
                        <a:rPr sz="1440" b="1">
                          <a:solidFill>
                            <a:srgbClr val="162B3B"/>
                          </a:solidFill>
                          <a:latin typeface="Calibri"/>
                          <a:ea typeface="Calibri"/>
                          <a:cs typeface="Calibri"/>
                        </a:rPr>
                        <a:t>Ghost and duplicate assets</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Cross-check geotagged proof and invoices for works reported as completed.</a:t>
                      </a:r>
                    </a:p>
                  </a:txBody>
                  <a:tcPr marL="121920" marR="106680" marT="45720" marB="45720" anchor="ctr">
                    <a:solidFill>
                      <a:srgbClr val="FFFFFF"/>
                    </a:solidFill>
                  </a:tcPr>
                </a:tc>
              </a:tr>
              <a:tr h="495300">
                <a:tc>
                  <a:txBody>
                    <a:bodyPr lIns="121920" tIns="45720" rIns="106680" bIns="45720">
                      <a:noAutofit/>
                    </a:bodyPr>
                    <a:lstStyle/>
                    <a:p>
                      <a:r>
                        <a:rPr sz="1440" b="1">
                          <a:solidFill>
                            <a:srgbClr val="162B3B"/>
                          </a:solidFill>
                          <a:latin typeface="Calibri"/>
                          <a:ea typeface="Calibri"/>
                          <a:cs typeface="Calibri"/>
                        </a:rPr>
                        <a:t>Allocation and utility gaps</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Alert on SC/ST allocation shortfalls and assess concentration in one asset type.</a:t>
                      </a:r>
                    </a:p>
                  </a:txBody>
                  <a:tcPr marL="121920" marR="106680" marT="45720" marB="45720" anchor="ctr">
                    <a:solidFill>
                      <a:srgbClr val="EDF4FA"/>
                    </a:solidFill>
                  </a:tcPr>
                </a:tc>
              </a:tr>
              <a:tr h="426720">
                <a:tc>
                  <a:txBody>
                    <a:bodyPr lIns="121920" tIns="45720" rIns="106680" bIns="45720">
                      <a:noAutofit/>
                    </a:bodyPr>
                    <a:lstStyle/>
                    <a:p>
                      <a:r>
                        <a:rPr sz="1440" b="1">
                          <a:solidFill>
                            <a:srgbClr val="162B3B"/>
                          </a:solidFill>
                          <a:latin typeface="Calibri"/>
                          <a:ea typeface="Calibri"/>
                          <a:cs typeface="Calibri"/>
                        </a:rPr>
                        <a:t>Late detection of overruns</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Track project costs during execution and issue timely alerts.</a:t>
                      </a:r>
                    </a:p>
                  </a:txBody>
                  <a:tcPr marL="121920" marR="106680" marT="45720" marB="45720" anchor="ctr">
                    <a:solidFill>
                      <a:srgbClr val="FFFFFF"/>
                    </a:solidFill>
                  </a:tcPr>
                </a:tc>
              </a:tr>
            </a:tbl>
          </a:graphicData>
        </a:graphic>
      </p:graphicFrame>
      <p:sp>
        <p:nvSpPr>
          <p:cNvPr id="19" name="Innovation and uniqueness">
            <a:extLst xmlns:a="http://schemas.openxmlformats.org/drawingml/2006/main">
              <a:ext uri="{FF2B5EF4-FFF2-40B4-BE49-F238E27FC236}">
                <a16:creationId xmlns:a16="http://schemas.microsoft.com/office/drawing/2014/main" id="{F1068E8A-BF72-4D98-9B33-DF8896508A88}"/>
              </a:ext>
            </a:extLst>
          </p:cNvPr>
          <p:cNvSpPr>
            <a:spLocks xmlns:a="http://schemas.openxmlformats.org/drawingml/2006/main" noGrp="1"/>
          </p:cNvSpPr>
          <p:nvPr/>
        </p:nvSpPr>
        <p:spPr>
          <a:xfrm xmlns:a="http://schemas.openxmlformats.org/drawingml/2006/main">
            <a:off x="594360" y="564642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20" name="Measurable rules, proactive tracking and automatic evid">
            <a:extLst xmlns:a="http://schemas.openxmlformats.org/drawingml/2006/main">
              <a:ext uri="{FF2B5EF4-FFF2-40B4-BE49-F238E27FC236}">
                <a16:creationId xmlns:a16="http://schemas.microsoft.com/office/drawing/2014/main" id="{B7CED6EE-E723-48C1-81C6-053D424D88FC}"/>
              </a:ext>
            </a:extLst>
          </p:cNvPr>
          <p:cNvSpPr>
            <a:spLocks xmlns:a="http://schemas.openxmlformats.org/drawingml/2006/main" noGrp="1"/>
          </p:cNvSpPr>
          <p:nvPr/>
        </p:nvSpPr>
        <p:spPr>
          <a:xfrm xmlns:a="http://schemas.openxmlformats.org/drawingml/2006/main">
            <a:off x="594360" y="5996940"/>
            <a:ext cx="52578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Measurable rules, proactive tracking and automatic evidence matching reduce repetitive manual checks.</a:t>
            </a:r>
          </a:p>
        </p:txBody>
      </p:sp>
      <p:sp>
        <p:nvSpPr>
          <p:cNvPr id="21" name="Key value proposition">
            <a:extLst xmlns:a="http://schemas.openxmlformats.org/drawingml/2006/main">
              <a:ext uri="{FF2B5EF4-FFF2-40B4-BE49-F238E27FC236}">
                <a16:creationId xmlns:a16="http://schemas.microsoft.com/office/drawing/2014/main" id="{AF7CC68B-A4C5-4794-8E5D-1C0D5C51F418}"/>
              </a:ext>
            </a:extLst>
          </p:cNvPr>
          <p:cNvSpPr>
            <a:spLocks xmlns:a="http://schemas.openxmlformats.org/drawingml/2006/main" noGrp="1"/>
          </p:cNvSpPr>
          <p:nvPr/>
        </p:nvSpPr>
        <p:spPr>
          <a:xfrm xmlns:a="http://schemas.openxmlformats.org/drawingml/2006/main">
            <a:off x="6377940" y="5646420"/>
            <a:ext cx="52197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Key value proposition</a:t>
            </a:r>
          </a:p>
        </p:txBody>
      </p:sp>
      <p:sp>
        <p:nvSpPr>
          <p:cNvPr id="22" name="Prevent leakage from ghost works and inflation, clarify">
            <a:extLst xmlns:a="http://schemas.openxmlformats.org/drawingml/2006/main">
              <a:ext uri="{FF2B5EF4-FFF2-40B4-BE49-F238E27FC236}">
                <a16:creationId xmlns:a16="http://schemas.microsoft.com/office/drawing/2014/main" id="{D8B71FCA-4C85-40E0-9F32-3F83BDF40CD8}"/>
              </a:ext>
            </a:extLst>
          </p:cNvPr>
          <p:cNvSpPr>
            <a:spLocks xmlns:a="http://schemas.openxmlformats.org/drawingml/2006/main" noGrp="1"/>
          </p:cNvSpPr>
          <p:nvPr/>
        </p:nvSpPr>
        <p:spPr>
          <a:xfrm xmlns:a="http://schemas.openxmlformats.org/drawingml/2006/main">
            <a:off x="6377940" y="5996940"/>
            <a:ext cx="52197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Prevent leakage from ghost works and inflation, clarify portal data and support nationwide scale.</a:t>
            </a:r>
          </a:p>
        </p:txBody>
      </p:sp>
    </p:spTree>
    <p:extLst>
      <p:ext uri="{BB962C8B-B14F-4D97-AF65-F5344CB8AC3E}">
        <p14:creationId xmlns:p14="http://schemas.microsoft.com/office/powerpoint/2010/main" val="15515052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F0EC86F6-BC2E-42A1-8FB0-B4083FC512FD}"/>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dbaabe76bf84cf3"/>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FB21D59F-C425-48A1-BAC8-C03F21806692}"/>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26719E1E-574B-436A-96DE-AD6496C6177A}"/>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8828C56B-EF10-4A31-8ED5-9CA86B23FCC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B7B7440B-4A32-4837-ABAE-B0ACD5CC0193}"/>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7">
            <a:extLst xmlns:a="http://schemas.openxmlformats.org/drawingml/2006/main">
              <a:ext uri="{FF2B5EF4-FFF2-40B4-BE49-F238E27FC236}">
                <a16:creationId xmlns:a16="http://schemas.microsoft.com/office/drawing/2014/main" id="{DC8B86AC-FEC6-4A4A-8725-AC37443641DB}"/>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7</a:t>
            </a:r>
          </a:p>
        </p:txBody>
      </p:sp>
      <p:sp>
        <p:nvSpPr>
          <p:cNvPr id="8" name="System architecture">
            <a:extLst xmlns:a="http://schemas.openxmlformats.org/drawingml/2006/main">
              <a:ext uri="{FF2B5EF4-FFF2-40B4-BE49-F238E27FC236}">
                <a16:creationId xmlns:a16="http://schemas.microsoft.com/office/drawing/2014/main" id="{441F0942-288F-4639-A8C3-396B76DE1FDD}"/>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D6B109D7-2E43-40F7-9AB1-CF3A894D17FA}"/>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0F47681A-D42D-4774-9832-3A657D9DFA63}"/>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9C0A9EC6-B06C-4ADC-AD05-D05F15ADE613}"/>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Requests / JSON">
            <a:extLst xmlns:a="http://schemas.openxmlformats.org/drawingml/2006/main">
              <a:ext uri="{FF2B5EF4-FFF2-40B4-BE49-F238E27FC236}">
                <a16:creationId xmlns:a16="http://schemas.microsoft.com/office/drawing/2014/main" id="{DAEA2AE3-4681-4504-9F01-BAFC8F8AF73C}"/>
              </a:ext>
            </a:extLst>
          </p:cNvPr>
          <p:cNvSpPr>
            <a:spLocks xmlns:a="http://schemas.openxmlformats.org/drawingml/2006/main" noGrp="1"/>
          </p:cNvSpPr>
          <p:nvPr/>
        </p:nvSpPr>
        <p:spPr>
          <a:xfrm xmlns:a="http://schemas.openxmlformats.org/drawingml/2006/main">
            <a:off x="3375660" y="1752600"/>
            <a:ext cx="12801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C606B"/>
                </a:solidFill>
                <a:latin typeface="Calibri"/>
                <a:ea typeface="Calibri"/>
                <a:cs typeface="Calibri"/>
              </a:defRPr>
            </a:pPr>
            <a:r>
              <a:rPr sz="1200" b="0">
                <a:solidFill>
                  <a:srgbClr val="4C606B"/>
                </a:solidFill>
                <a:latin typeface="Calibri"/>
                <a:ea typeface="Calibri"/>
                <a:cs typeface="Calibri"/>
              </a:rPr>
              <a:t>Requests / JSON</a:t>
            </a:r>
          </a:p>
        </p:txBody>
      </p:sp>
      <p:sp>
        <p:nvSpPr>
          <p:cNvPr id="15" name="Fetch / store">
            <a:extLst xmlns:a="http://schemas.openxmlformats.org/drawingml/2006/main">
              <a:ext uri="{FF2B5EF4-FFF2-40B4-BE49-F238E27FC236}">
                <a16:creationId xmlns:a16="http://schemas.microsoft.com/office/drawing/2014/main" id="{08DFE598-4650-4CBE-8D07-479DC879CC7F}"/>
              </a:ext>
            </a:extLst>
          </p:cNvPr>
          <p:cNvSpPr>
            <a:spLocks xmlns:a="http://schemas.openxmlformats.org/drawingml/2006/main" noGrp="1"/>
          </p:cNvSpPr>
          <p:nvPr/>
        </p:nvSpPr>
        <p:spPr>
          <a:xfrm xmlns:a="http://schemas.openxmlformats.org/drawingml/2006/main">
            <a:off x="7520940" y="1752600"/>
            <a:ext cx="11658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C606B"/>
                </a:solidFill>
                <a:latin typeface="Calibri"/>
                <a:ea typeface="Calibri"/>
                <a:cs typeface="Calibri"/>
              </a:defRPr>
            </a:pPr>
            <a:r>
              <a:rPr sz="1200" b="0">
                <a:solidFill>
                  <a:srgbClr val="4C606B"/>
                </a:solidFill>
                <a:latin typeface="Calibri"/>
                <a:ea typeface="Calibri"/>
                <a:cs typeface="Calibri"/>
              </a:rPr>
              <a:t>Fetch / store</a:t>
            </a:r>
          </a:p>
        </p:txBody>
      </p:sp>
      <p:sp>
        <p:nvSpPr>
          <p:cNvPr id="16" name="Python AI/ML service Inference and risk scoring">
            <a:extLst xmlns:a="http://schemas.openxmlformats.org/drawingml/2006/main">
              <a:ext uri="{FF2B5EF4-FFF2-40B4-BE49-F238E27FC236}">
                <a16:creationId xmlns:a16="http://schemas.microsoft.com/office/drawing/2014/main" id="{F0E64117-94D8-4EE8-AB8D-24CDD572AA11}"/>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34B06045-276D-4135-9C9A-B018E4E21F97}"/>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2AA3D8EA-FBB2-4387-8274-B84A8C93411D}"/>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F7054CF8-AC0B-44DC-98F3-898F31DE5B0A}"/>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A40D1F4E-2B63-4C71-9416-432CC02523A9}"/>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888A75D9-CDEE-4CEE-A4EB-64A8F1391738}"/>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B82470D9-1A9B-4569-9C06-8860EEF515D9}"/>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E1C9A880-F8B0-4FB5-AF6D-B9A5A6F884FB}"/>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odel inference Isolation Forest, vector similarity, Random Forest*">
            <a:extLst xmlns:a="http://schemas.openxmlformats.org/drawingml/2006/main">
              <a:ext uri="{FF2B5EF4-FFF2-40B4-BE49-F238E27FC236}">
                <a16:creationId xmlns:a16="http://schemas.microsoft.com/office/drawing/2014/main" id="{433B98C9-17D9-4D14-9D57-9082B0C11305}"/>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vector</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similarity, 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C177B6C7-2DF8-4A85-8780-B68C23AFAD7B}"/>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E661004E-C232-4C6B-ACD7-F9E846553150}"/>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0F69574B-8F03-4481-8092-D839DF01AD35}"/>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4954B162-7DBD-4F72-9597-A03986982474}"/>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9083863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CE06F582-941B-4FE5-BFDA-72D4ABC08AF3}"/>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5358b90a93b4a72"/>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E5529D-9421-4E28-8882-7697D099CCCE}"/>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320563CD-D097-4B38-954A-CF3E238C3585}"/>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14CD9068-D42A-4A8A-B358-BA89218D6F12}"/>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7">
            <a:extLst xmlns:a="http://schemas.openxmlformats.org/drawingml/2006/main">
              <a:ext uri="{FF2B5EF4-FFF2-40B4-BE49-F238E27FC236}">
                <a16:creationId xmlns:a16="http://schemas.microsoft.com/office/drawing/2014/main" id="{A9ABD3FA-450C-4A82-9AA5-CAD554CC486F}"/>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7</a:t>
            </a:r>
          </a:p>
        </p:txBody>
      </p:sp>
      <p:sp>
        <p:nvSpPr>
          <p:cNvPr id="7" name="Risk assessment and mitigation">
            <a:extLst xmlns:a="http://schemas.openxmlformats.org/drawingml/2006/main">
              <a:ext uri="{FF2B5EF4-FFF2-40B4-BE49-F238E27FC236}">
                <a16:creationId xmlns:a16="http://schemas.microsoft.com/office/drawing/2014/main" id="{C2C3635C-D549-4F03-A2BC-063B3F75AE35}"/>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7EF7EAE5-80E7-4C8A-83AA-3F11802B19FB}"/>
              </a:ext>
            </a:extLst>
          </p:cNvPr>
          <p:cNvSpPr>
            <a:spLocks xmlns:a="http://schemas.openxmlformats.org/drawingml/2006/main" noGrp="1"/>
          </p:cNvSpPr>
          <p:nvPr/>
        </p:nvSpPr>
        <p:spPr>
          <a:xfrm xmlns:a="http://schemas.openxmlformats.org/drawingml/2006/main">
            <a:off x="609600" y="44043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10;&#10;Python ">
            <a:extLst xmlns:a="http://schemas.openxmlformats.org/drawingml/2006/main">
              <a:ext uri="{FF2B5EF4-FFF2-40B4-BE49-F238E27FC236}">
                <a16:creationId xmlns:a16="http://schemas.microsoft.com/office/drawing/2014/main" id="{6177357A-63EF-4813-8A2B-A443BC85335F}"/>
              </a:ext>
            </a:extLst>
          </p:cNvPr>
          <p:cNvSpPr>
            <a:spLocks xmlns:a="http://schemas.openxmlformats.org/drawingml/2006/main" noGrp="1"/>
          </p:cNvSpPr>
          <p:nvPr/>
        </p:nvSpPr>
        <p:spPr>
          <a:xfrm xmlns:a="http://schemas.openxmlformats.org/drawingml/2006/main">
            <a:off x="609600" y="4762500"/>
            <a:ext cx="343662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React.js UI, FastAPI APIs and MongoDB storage.</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Python analytics with Pandas and scikit-learn.</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Secure cloud architecture for district data at national scale.</a:t>
            </a:r>
          </a:p>
        </p:txBody>
      </p:sp>
      <p:sp>
        <p:nvSpPr>
          <p:cNvPr id="11" name="Economic approach">
            <a:extLst xmlns:a="http://schemas.openxmlformats.org/drawingml/2006/main">
              <a:ext uri="{FF2B5EF4-FFF2-40B4-BE49-F238E27FC236}">
                <a16:creationId xmlns:a16="http://schemas.microsoft.com/office/drawing/2014/main" id="{3307F1A4-1C15-4A11-9E2E-9D481ABAA12E}"/>
              </a:ext>
            </a:extLst>
          </p:cNvPr>
          <p:cNvSpPr>
            <a:spLocks xmlns:a="http://schemas.openxmlformats.org/drawingml/2006/main" noGrp="1"/>
          </p:cNvSpPr>
          <p:nvPr/>
        </p:nvSpPr>
        <p:spPr>
          <a:xfrm xmlns:a="http://schemas.openxmlformats.org/drawingml/2006/main">
            <a:off x="4373880" y="44043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audit delays and administrative cost.">
            <a:extLst xmlns:a="http://schemas.openxmlformats.org/drawingml/2006/main">
              <a:ext uri="{FF2B5EF4-FFF2-40B4-BE49-F238E27FC236}">
                <a16:creationId xmlns:a16="http://schemas.microsoft.com/office/drawing/2014/main" id="{754B5762-C46D-45B3-9B9F-C9A01F2DB6C6}"/>
              </a:ext>
            </a:extLst>
          </p:cNvPr>
          <p:cNvSpPr>
            <a:spLocks xmlns:a="http://schemas.openxmlformats.org/drawingml/2006/main" noGrp="1"/>
          </p:cNvSpPr>
          <p:nvPr/>
        </p:nvSpPr>
        <p:spPr>
          <a:xfrm xmlns:a="http://schemas.openxmlformats.org/drawingml/2006/main">
            <a:off x="4373880" y="4762500"/>
            <a:ext cx="343662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Reduce paperwork, audit delays and administrative cost.</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Limit March Rush and ghost-project losses.</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Extend to states and ministries, with governance SaaS potential.</a:t>
            </a:r>
          </a:p>
        </p:txBody>
      </p:sp>
      <p:sp>
        <p:nvSpPr>
          <p:cNvPr id="13" name="Resource requirements">
            <a:extLst xmlns:a="http://schemas.openxmlformats.org/drawingml/2006/main">
              <a:ext uri="{FF2B5EF4-FFF2-40B4-BE49-F238E27FC236}">
                <a16:creationId xmlns:a16="http://schemas.microsoft.com/office/drawing/2014/main" id="{3E217EF5-F519-41A8-B69E-02DC6D4C38BE}"/>
              </a:ext>
            </a:extLst>
          </p:cNvPr>
          <p:cNvSpPr>
            <a:spLocks xmlns:a="http://schemas.openxmlformats.org/drawingml/2006/main" noGrp="1"/>
          </p:cNvSpPr>
          <p:nvPr/>
        </p:nvSpPr>
        <p:spPr>
          <a:xfrm xmlns:a="http://schemas.openxmlformats.org/drawingml/2006/main">
            <a:off x="8138160" y="44043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10;&#10;AWS / Rend">
            <a:extLst xmlns:a="http://schemas.openxmlformats.org/drawingml/2006/main">
              <a:ext uri="{FF2B5EF4-FFF2-40B4-BE49-F238E27FC236}">
                <a16:creationId xmlns:a16="http://schemas.microsoft.com/office/drawing/2014/main" id="{6B6093AC-77AB-499E-B228-3271FC86DB52}"/>
              </a:ext>
            </a:extLst>
          </p:cNvPr>
          <p:cNvSpPr>
            <a:spLocks xmlns:a="http://schemas.openxmlformats.org/drawingml/2006/main" noGrp="1"/>
          </p:cNvSpPr>
          <p:nvPr/>
        </p:nvSpPr>
        <p:spPr>
          <a:xfrm xmlns:a="http://schemas.openxmlformats.org/drawingml/2006/main">
            <a:off x="8138160" y="4762500"/>
            <a:ext cx="345948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Python libraries and the application stack.</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AWS / Render for APIs and data, Vercel for the UI.</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Responsive dashboards, charting libraries and live risk heatmaps.</a:t>
            </a:r>
          </a:p>
        </p:txBody>
      </p:sp>
    </p:spTree>
    <p:extLst>
      <p:ext uri="{BB962C8B-B14F-4D97-AF65-F5344CB8AC3E}">
        <p14:creationId xmlns:p14="http://schemas.microsoft.com/office/powerpoint/2010/main" val="14740371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IMPACT AND BENEFITS">
            <a:extLst xmlns:a="http://schemas.openxmlformats.org/drawingml/2006/main">
              <a:ext uri="{FF2B5EF4-FFF2-40B4-BE49-F238E27FC236}">
                <a16:creationId xmlns:a16="http://schemas.microsoft.com/office/drawing/2014/main" id="{3897CCD0-EBFB-496F-818B-EFFF040703E2}"/>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0a3d597e5714a95"/>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Expected benefits for governance, public spending and l">
            <a:extLst xmlns:a="http://schemas.openxmlformats.org/drawingml/2006/main">
              <a:ext uri="{FF2B5EF4-FFF2-40B4-BE49-F238E27FC236}">
                <a16:creationId xmlns:a16="http://schemas.microsoft.com/office/drawing/2014/main" id="{AF32E855-F4D6-4897-AB0F-147524611CF3}"/>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Expected benefits for governance, public spending and local communities</a:t>
            </a:r>
          </a:p>
        </p:txBody>
      </p:sp>
      <p:sp>
        <p:nvSpPr>
          <p:cNvPr id="4" name="">
            <a:extLst xmlns:a="http://schemas.openxmlformats.org/drawingml/2006/main">
              <a:ext uri="{FF2B5EF4-FFF2-40B4-BE49-F238E27FC236}">
                <a16:creationId xmlns:a16="http://schemas.microsoft.com/office/drawing/2014/main" id="{A08FF0CA-0657-4888-9D99-97CD67F22AA6}"/>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2D5DA6C9-15D1-4DD3-BDF1-204FE27B6DBE}"/>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0B32383A-2321-42AE-9846-C86F6E71F803}"/>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7">
            <a:extLst xmlns:a="http://schemas.openxmlformats.org/drawingml/2006/main">
              <a:ext uri="{FF2B5EF4-FFF2-40B4-BE49-F238E27FC236}">
                <a16:creationId xmlns:a16="http://schemas.microsoft.com/office/drawing/2014/main" id="{FF9EEEBE-A0D5-4C19-B799-0C4A8D5137D2}"/>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7</a:t>
            </a:r>
          </a:p>
        </p:txBody>
      </p:sp>
      <p:sp>
        <p:nvSpPr>
          <p:cNvPr id="8" name="Potential impact">
            <a:extLst xmlns:a="http://schemas.openxmlformats.org/drawingml/2006/main">
              <a:ext uri="{FF2B5EF4-FFF2-40B4-BE49-F238E27FC236}">
                <a16:creationId xmlns:a16="http://schemas.microsoft.com/office/drawing/2014/main" id="{A898D983-51BE-4C36-8894-90B108B80C5D}"/>
              </a:ext>
            </a:extLst>
          </p:cNvPr>
          <p:cNvSpPr>
            <a:spLocks xmlns:a="http://schemas.openxmlformats.org/drawingml/2006/main" noGrp="1"/>
          </p:cNvSpPr>
          <p:nvPr/>
        </p:nvSpPr>
        <p:spPr>
          <a:xfrm xmlns:a="http://schemas.openxmlformats.org/drawingml/2006/main">
            <a:off x="594360" y="1630680"/>
            <a:ext cx="53111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0" name=""/>
          <p:cNvGraphicFramePr/>
          <p:nvPr/>
        </p:nvGraphicFramePr>
        <p:xfrm>
          <a:off xmlns:a="http://schemas.openxmlformats.org/drawingml/2006/main" x="594360" y="2080260"/>
          <a:ext xmlns:a="http://schemas.openxmlformats.org/drawingml/2006/main" cx="5311140" cy="3840480"/>
        </p:xfrm>
        <a:graphic xmlns:a="http://schemas.openxmlformats.org/drawingml/2006/main">
          <a:graphicData uri="http://schemas.openxmlformats.org/drawingml/2006/table">
            <a:tbl>
              <a:tblPr firstRow="0" bandRow="0"/>
              <a:tblGrid>
                <a:gridCol w="1661160"/>
                <a:gridCol w="3649980"/>
              </a:tblGrid>
              <a:tr h="426720">
                <a:tc>
                  <a:txBody>
                    <a:bodyPr lIns="121920" tIns="45720" rIns="106680" bIns="45720">
                      <a:noAutofit/>
                    </a:bodyPr>
                    <a:lstStyle/>
                    <a:p>
                      <a:r>
                        <a:rPr sz="144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440" b="1">
                          <a:solidFill>
                            <a:srgbClr val="FFFFFF"/>
                          </a:solidFill>
                          <a:latin typeface="Calibri"/>
                          <a:ea typeface="Calibri"/>
                          <a:cs typeface="Calibri"/>
                        </a:rPr>
                        <a:t>Expected benefit</a:t>
                      </a:r>
                    </a:p>
                  </a:txBody>
                  <a:tcPr marL="121920" marR="106680" marT="45720" marB="45720" anchor="ctr">
                    <a:solidFill>
                      <a:srgbClr val="234F83"/>
                    </a:solidFill>
                  </a:tcPr>
                </a:tc>
              </a:tr>
              <a:tr h="853440">
                <a:tc>
                  <a:txBody>
                    <a:bodyPr lIns="121920" tIns="45720" rIns="106680" bIns="45720">
                      <a:noAutofit/>
                    </a:bodyPr>
                    <a:lstStyle/>
                    <a:p>
                      <a:r>
                        <a:rPr sz="1500" b="1">
                          <a:solidFill>
                            <a:srgbClr val="162B3B"/>
                          </a:solidFill>
                          <a:latin typeface="Calibri"/>
                          <a:ea typeface="Calibri"/>
                          <a:cs typeface="Calibri"/>
                        </a:rPr>
                        <a:t>Governance and transparency</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Give central authorities, districts and citizens a shared, traceable view of fund use.</a:t>
                      </a:r>
                    </a:p>
                  </a:txBody>
                  <a:tcPr marL="121920" marR="106680" marT="45720" marB="45720" anchor="ctr">
                    <a:solidFill>
                      <a:srgbClr val="FFFFFF"/>
                    </a:solidFill>
                  </a:tcPr>
                </a:tc>
              </a:tr>
              <a:tr h="853440">
                <a:tc>
                  <a:txBody>
                    <a:bodyPr lIns="121920" tIns="45720" rIns="106680" bIns="45720">
                      <a:noAutofit/>
                    </a:bodyPr>
                    <a:lstStyle/>
                    <a:p>
                      <a:r>
                        <a:rPr sz="1500" b="1">
                          <a:solidFill>
                            <a:srgbClr val="162B3B"/>
                          </a:solidFill>
                          <a:latin typeface="Calibri"/>
                          <a:ea typeface="Calibri"/>
                          <a:cs typeface="Calibri"/>
                        </a:rPr>
                        <a:t>Economic and financial</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Reduce losses from March Rush, ghost funding and misallocation of public money.</a:t>
                      </a:r>
                    </a:p>
                  </a:txBody>
                  <a:tcPr marL="121920" marR="106680" marT="45720" marB="45720" anchor="ctr">
                    <a:solidFill>
                      <a:srgbClr val="EDF4FA"/>
                    </a:solidFill>
                  </a:tcPr>
                </a:tc>
              </a:tr>
              <a:tr h="853440">
                <a:tc>
                  <a:txBody>
                    <a:bodyPr lIns="121920" tIns="45720" rIns="106680" bIns="45720">
                      <a:noAutofit/>
                    </a:bodyPr>
                    <a:lstStyle/>
                    <a:p>
                      <a:r>
                        <a:rPr sz="1500" b="1">
                          <a:solidFill>
                            <a:srgbClr val="162B3B"/>
                          </a:solidFill>
                          <a:latin typeface="Calibri"/>
                          <a:ea typeface="Calibri"/>
                          <a:cs typeface="Calibri"/>
                        </a:rPr>
                        <a:t>Operational efficiency</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Screen all eligible digital records and issue timely alerts to prioritize audits.</a:t>
                      </a:r>
                    </a:p>
                  </a:txBody>
                  <a:tcPr marL="121920" marR="106680" marT="45720" marB="45720" anchor="ctr">
                    <a:solidFill>
                      <a:srgbClr val="FFFFFF"/>
                    </a:solidFill>
                  </a:tcPr>
                </a:tc>
              </a:tr>
              <a:tr h="853440">
                <a:tc>
                  <a:txBody>
                    <a:bodyPr lIns="121920" tIns="45720" rIns="106680" bIns="45720">
                      <a:noAutofit/>
                    </a:bodyPr>
                    <a:lstStyle/>
                    <a:p>
                      <a:r>
                        <a:rPr sz="1500" b="1">
                          <a:solidFill>
                            <a:srgbClr val="162B3B"/>
                          </a:solidFill>
                          <a:latin typeface="Calibri"/>
                          <a:ea typeface="Calibri"/>
                          <a:cs typeface="Calibri"/>
                        </a:rPr>
                        <a:t>National development</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Strengthen grassroots infrastructure and direct MPLADS funds toward intended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C3007A3C-109D-4371-A02D-AF402D9B9A4A}"/>
              </a:ext>
            </a:extLst>
          </p:cNvPr>
          <p:cNvSpPr>
            <a:spLocks xmlns:a="http://schemas.openxmlformats.org/drawingml/2006/main" noGrp="1"/>
          </p:cNvSpPr>
          <p:nvPr/>
        </p:nvSpPr>
        <p:spPr>
          <a:xfrm xmlns:a="http://schemas.openxmlformats.org/drawingml/2006/main">
            <a:off x="6362700" y="163068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01  Cross-scheme scalability">
            <a:extLst xmlns:a="http://schemas.openxmlformats.org/drawingml/2006/main">
              <a:ext uri="{FF2B5EF4-FFF2-40B4-BE49-F238E27FC236}">
                <a16:creationId xmlns:a16="http://schemas.microsoft.com/office/drawing/2014/main" id="{1D6F0ED9-7993-4E88-8551-318AFDD1BA61}"/>
              </a:ext>
            </a:extLst>
          </p:cNvPr>
          <p:cNvSpPr>
            <a:spLocks xmlns:a="http://schemas.openxmlformats.org/drawingml/2006/main" noGrp="1"/>
          </p:cNvSpPr>
          <p:nvPr/>
        </p:nvSpPr>
        <p:spPr>
          <a:xfrm xmlns:a="http://schemas.openxmlformats.org/drawingml/2006/main">
            <a:off x="6385560" y="207264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01  Cross-scheme scalability</a:t>
            </a:r>
          </a:p>
        </p:txBody>
      </p:sp>
      <p:sp>
        <p:nvSpPr>
          <p:cNvPr id="12" name="Extend to MGNREGA, PMGSY and other central and state we">
            <a:extLst xmlns:a="http://schemas.openxmlformats.org/drawingml/2006/main">
              <a:ext uri="{FF2B5EF4-FFF2-40B4-BE49-F238E27FC236}">
                <a16:creationId xmlns:a16="http://schemas.microsoft.com/office/drawing/2014/main" id="{20225A42-3621-4150-AD42-365B18824655}"/>
              </a:ext>
            </a:extLst>
          </p:cNvPr>
          <p:cNvSpPr>
            <a:spLocks xmlns:a="http://schemas.openxmlformats.org/drawingml/2006/main" noGrp="1"/>
          </p:cNvSpPr>
          <p:nvPr/>
        </p:nvSpPr>
        <p:spPr>
          <a:xfrm xmlns:a="http://schemas.openxmlformats.org/drawingml/2006/main">
            <a:off x="6385560" y="236982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Extend to MGNREGA, PMGSY and other central and state welfare schemes.</a:t>
            </a:r>
          </a:p>
        </p:txBody>
      </p:sp>
      <p:sp>
        <p:nvSpPr>
          <p:cNvPr id="13" name="02  Predictive AI modeling">
            <a:extLst xmlns:a="http://schemas.openxmlformats.org/drawingml/2006/main">
              <a:ext uri="{FF2B5EF4-FFF2-40B4-BE49-F238E27FC236}">
                <a16:creationId xmlns:a16="http://schemas.microsoft.com/office/drawing/2014/main" id="{E590520C-E921-48DA-865F-39015CD45ECA}"/>
              </a:ext>
            </a:extLst>
          </p:cNvPr>
          <p:cNvSpPr>
            <a:spLocks xmlns:a="http://schemas.openxmlformats.org/drawingml/2006/main" noGrp="1"/>
          </p:cNvSpPr>
          <p:nvPr/>
        </p:nvSpPr>
        <p:spPr>
          <a:xfrm xmlns:a="http://schemas.openxmlformats.org/drawingml/2006/main">
            <a:off x="6385560" y="284988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02  Predictive AI modeling</a:t>
            </a:r>
          </a:p>
        </p:txBody>
      </p:sp>
      <p:sp>
        <p:nvSpPr>
          <p:cNvPr id="14" name="Use time-series forecasting to anticipate budget defici">
            <a:extLst xmlns:a="http://schemas.openxmlformats.org/drawingml/2006/main">
              <a:ext uri="{FF2B5EF4-FFF2-40B4-BE49-F238E27FC236}">
                <a16:creationId xmlns:a16="http://schemas.microsoft.com/office/drawing/2014/main" id="{EB5CB95B-09D8-45C3-B379-15CBEA7269C3}"/>
              </a:ext>
            </a:extLst>
          </p:cNvPr>
          <p:cNvSpPr>
            <a:spLocks xmlns:a="http://schemas.openxmlformats.org/drawingml/2006/main" noGrp="1"/>
          </p:cNvSpPr>
          <p:nvPr/>
        </p:nvSpPr>
        <p:spPr>
          <a:xfrm xmlns:a="http://schemas.openxmlformats.org/drawingml/2006/main">
            <a:off x="6385560" y="314706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Use time-series forecasting to anticipate budget deficits and fund overruns.</a:t>
            </a:r>
          </a:p>
        </p:txBody>
      </p:sp>
      <p:sp>
        <p:nvSpPr>
          <p:cNvPr id="15" name="03  Blockchain integration">
            <a:extLst xmlns:a="http://schemas.openxmlformats.org/drawingml/2006/main">
              <a:ext uri="{FF2B5EF4-FFF2-40B4-BE49-F238E27FC236}">
                <a16:creationId xmlns:a16="http://schemas.microsoft.com/office/drawing/2014/main" id="{6327E1B2-EF74-42CF-A18D-85F1BA36A039}"/>
              </a:ext>
            </a:extLst>
          </p:cNvPr>
          <p:cNvSpPr>
            <a:spLocks xmlns:a="http://schemas.openxmlformats.org/drawingml/2006/main" noGrp="1"/>
          </p:cNvSpPr>
          <p:nvPr/>
        </p:nvSpPr>
        <p:spPr>
          <a:xfrm xmlns:a="http://schemas.openxmlformats.org/drawingml/2006/main">
            <a:off x="6385560" y="362712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03  Blockchain integration</a:t>
            </a:r>
          </a:p>
        </p:txBody>
      </p:sp>
      <p:sp>
        <p:nvSpPr>
          <p:cNvPr id="16" name="Explore immutable vendor-invoice logs to deter duplicat">
            <a:extLst xmlns:a="http://schemas.openxmlformats.org/drawingml/2006/main">
              <a:ext uri="{FF2B5EF4-FFF2-40B4-BE49-F238E27FC236}">
                <a16:creationId xmlns:a16="http://schemas.microsoft.com/office/drawing/2014/main" id="{EB88C0A1-DE33-4CC2-8871-7CE3D3B0D90D}"/>
              </a:ext>
            </a:extLst>
          </p:cNvPr>
          <p:cNvSpPr>
            <a:spLocks xmlns:a="http://schemas.openxmlformats.org/drawingml/2006/main" noGrp="1"/>
          </p:cNvSpPr>
          <p:nvPr/>
        </p:nvSpPr>
        <p:spPr>
          <a:xfrm xmlns:a="http://schemas.openxmlformats.org/drawingml/2006/main">
            <a:off x="6385560" y="392430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Explore immutable vendor-invoice logs to deter duplicate billing and tampering.</a:t>
            </a:r>
          </a:p>
        </p:txBody>
      </p:sp>
      <p:sp>
        <p:nvSpPr>
          <p:cNvPr id="17" name="04  Citizen mobile app">
            <a:extLst xmlns:a="http://schemas.openxmlformats.org/drawingml/2006/main">
              <a:ext uri="{FF2B5EF4-FFF2-40B4-BE49-F238E27FC236}">
                <a16:creationId xmlns:a16="http://schemas.microsoft.com/office/drawing/2014/main" id="{F6C6BDD9-EADF-4DDA-A1C8-C0695D27F025}"/>
              </a:ext>
            </a:extLst>
          </p:cNvPr>
          <p:cNvSpPr>
            <a:spLocks xmlns:a="http://schemas.openxmlformats.org/drawingml/2006/main" noGrp="1"/>
          </p:cNvSpPr>
          <p:nvPr/>
        </p:nvSpPr>
        <p:spPr>
          <a:xfrm xmlns:a="http://schemas.openxmlformats.org/drawingml/2006/main">
            <a:off x="6385560" y="440436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04  Citizen mobile app</a:t>
            </a:r>
          </a:p>
        </p:txBody>
      </p:sp>
      <p:sp>
        <p:nvSpPr>
          <p:cNvPr id="18" name="Crowdsource geotagged inspections of local public asset">
            <a:extLst xmlns:a="http://schemas.openxmlformats.org/drawingml/2006/main">
              <a:ext uri="{FF2B5EF4-FFF2-40B4-BE49-F238E27FC236}">
                <a16:creationId xmlns:a16="http://schemas.microsoft.com/office/drawing/2014/main" id="{BD13D0B7-5FFA-48A2-A89D-396743A2E852}"/>
              </a:ext>
            </a:extLst>
          </p:cNvPr>
          <p:cNvSpPr>
            <a:spLocks xmlns:a="http://schemas.openxmlformats.org/drawingml/2006/main" noGrp="1"/>
          </p:cNvSpPr>
          <p:nvPr/>
        </p:nvSpPr>
        <p:spPr>
          <a:xfrm xmlns:a="http://schemas.openxmlformats.org/drawingml/2006/main">
            <a:off x="6385560" y="470154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Crowdsource geotagged inspections of local public assets.</a:t>
            </a:r>
          </a:p>
        </p:txBody>
      </p:sp>
      <p:sp>
        <p:nvSpPr>
          <p:cNvPr id="19" name="05  Policy recommendations">
            <a:extLst xmlns:a="http://schemas.openxmlformats.org/drawingml/2006/main">
              <a:ext uri="{FF2B5EF4-FFF2-40B4-BE49-F238E27FC236}">
                <a16:creationId xmlns:a16="http://schemas.microsoft.com/office/drawing/2014/main" id="{7FE9193B-5B84-4A19-A790-2ED8A0313C3A}"/>
              </a:ext>
            </a:extLst>
          </p:cNvPr>
          <p:cNvSpPr>
            <a:spLocks xmlns:a="http://schemas.openxmlformats.org/drawingml/2006/main" noGrp="1"/>
          </p:cNvSpPr>
          <p:nvPr/>
        </p:nvSpPr>
        <p:spPr>
          <a:xfrm xmlns:a="http://schemas.openxmlformats.org/drawingml/2006/main">
            <a:off x="6385560" y="518160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05  Policy recommendations</a:t>
            </a:r>
          </a:p>
        </p:txBody>
      </p:sp>
      <p:sp>
        <p:nvSpPr>
          <p:cNvPr id="20" name="Use historical anomaly patterns to suggest stronger com">
            <a:extLst xmlns:a="http://schemas.openxmlformats.org/drawingml/2006/main">
              <a:ext uri="{FF2B5EF4-FFF2-40B4-BE49-F238E27FC236}">
                <a16:creationId xmlns:a16="http://schemas.microsoft.com/office/drawing/2014/main" id="{30DD6524-9313-4EA1-A192-04E033B9F6C4}"/>
              </a:ext>
            </a:extLst>
          </p:cNvPr>
          <p:cNvSpPr>
            <a:spLocks xmlns:a="http://schemas.openxmlformats.org/drawingml/2006/main" noGrp="1"/>
          </p:cNvSpPr>
          <p:nvPr/>
        </p:nvSpPr>
        <p:spPr>
          <a:xfrm xmlns:a="http://schemas.openxmlformats.org/drawingml/2006/main">
            <a:off x="6385560" y="547878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Use historical anomaly patterns to suggest stronger compliance guidelines.</a:t>
            </a:r>
          </a:p>
        </p:txBody>
      </p:sp>
      <p:sp>
        <p:nvSpPr>
          <p:cNvPr id="21" name="100% digital screening is a coverage target. Financial ">
            <a:extLst xmlns:a="http://schemas.openxmlformats.org/drawingml/2006/main">
              <a:ext uri="{FF2B5EF4-FFF2-40B4-BE49-F238E27FC236}">
                <a16:creationId xmlns:a16="http://schemas.microsoft.com/office/drawing/2014/main" id="{DF094C49-8A12-4FED-B14D-26C63C8CD348}"/>
              </a:ext>
            </a:extLst>
          </p:cNvPr>
          <p:cNvSpPr>
            <a:spLocks xmlns:a="http://schemas.openxmlformats.org/drawingml/2006/main" noGrp="1"/>
          </p:cNvSpPr>
          <p:nvPr/>
        </p:nvSpPr>
        <p:spPr>
          <a:xfrm xmlns:a="http://schemas.openxmlformats.org/drawingml/2006/main">
            <a:off x="594360" y="6141720"/>
            <a:ext cx="110109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20" b="0">
                <a:solidFill>
                  <a:srgbClr val="4C606B"/>
                </a:solidFill>
                <a:latin typeface="Calibri"/>
                <a:ea typeface="Calibri"/>
                <a:cs typeface="Calibri"/>
              </a:defRPr>
            </a:pPr>
            <a:r>
              <a:rPr sz="1320" b="0">
                <a:solidFill>
                  <a:srgbClr val="4C606B"/>
                </a:solidFill>
                <a:latin typeface="Calibri"/>
                <a:ea typeface="Calibri"/>
                <a:cs typeface="Calibri"/>
              </a:rPr>
              <a:t>100% digital screening is a coverage target. Financial savings and detection quality require pilot evaluation.</a:t>
            </a:r>
          </a:p>
        </p:txBody>
      </p:sp>
    </p:spTree>
    <p:extLst>
      <p:ext uri="{BB962C8B-B14F-4D97-AF65-F5344CB8AC3E}">
        <p14:creationId xmlns:p14="http://schemas.microsoft.com/office/powerpoint/2010/main" val="15092772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SEARCH AND REFERENCES">
            <a:extLst xmlns:a="http://schemas.openxmlformats.org/drawingml/2006/main">
              <a:ext uri="{FF2B5EF4-FFF2-40B4-BE49-F238E27FC236}">
                <a16:creationId xmlns:a16="http://schemas.microsoft.com/office/drawing/2014/main" id="{9ADE62EC-0907-4080-8210-8BD4121B9A7E}"/>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RESEARCH AND REFERENCES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372f159dd0f46de"/>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Evidence, proposed data sources and technical foundatio">
            <a:extLst xmlns:a="http://schemas.openxmlformats.org/drawingml/2006/main">
              <a:ext uri="{FF2B5EF4-FFF2-40B4-BE49-F238E27FC236}">
                <a16:creationId xmlns:a16="http://schemas.microsoft.com/office/drawing/2014/main" id="{86F0D174-F548-4EC3-B80E-9BA2CC8B162A}"/>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Evidence, proposed data sources and technical foundations</a:t>
            </a:r>
          </a:p>
        </p:txBody>
      </p:sp>
      <p:sp>
        <p:nvSpPr>
          <p:cNvPr id="4" name="">
            <a:extLst xmlns:a="http://schemas.openxmlformats.org/drawingml/2006/main">
              <a:ext uri="{FF2B5EF4-FFF2-40B4-BE49-F238E27FC236}">
                <a16:creationId xmlns:a16="http://schemas.microsoft.com/office/drawing/2014/main" id="{C3B9448C-1B21-4FA4-9B55-3D531B10005C}"/>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B86C614B-C19A-4847-A196-43DB01DB925B}"/>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685A6685-0459-4093-8B50-8835AB2D9BCA}"/>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6 / 7">
            <a:extLst xmlns:a="http://schemas.openxmlformats.org/drawingml/2006/main">
              <a:ext uri="{FF2B5EF4-FFF2-40B4-BE49-F238E27FC236}">
                <a16:creationId xmlns:a16="http://schemas.microsoft.com/office/drawing/2014/main" id="{8C88739A-1A98-4C85-B87E-188CCC54DFA3}"/>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7</a:t>
            </a:r>
          </a:p>
        </p:txBody>
      </p:sp>
      <p:sp>
        <p:nvSpPr>
          <p:cNvPr id="8" name="Supporting research">
            <a:extLst xmlns:a="http://schemas.openxmlformats.org/drawingml/2006/main">
              <a:ext uri="{FF2B5EF4-FFF2-40B4-BE49-F238E27FC236}">
                <a16:creationId xmlns:a16="http://schemas.microsoft.com/office/drawing/2014/main" id="{19BFA016-6682-4044-A95A-A57F67B9EEED}"/>
              </a:ext>
            </a:extLst>
          </p:cNvPr>
          <p:cNvSpPr>
            <a:spLocks xmlns:a="http://schemas.openxmlformats.org/drawingml/2006/main" noGrp="1"/>
          </p:cNvSpPr>
          <p:nvPr/>
        </p:nvSpPr>
        <p:spPr>
          <a:xfrm xmlns:a="http://schemas.openxmlformats.org/drawingml/2006/main">
            <a:off x="594360" y="1623060"/>
            <a:ext cx="52959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Supporting research</a:t>
            </a:r>
          </a:p>
        </p:txBody>
      </p:sp>
      <p:sp>
        <p:nvSpPr>
          <p:cNvPr id="9" name="CAG reports">
            <a:extLst xmlns:a="http://schemas.openxmlformats.org/drawingml/2006/main">
              <a:ext uri="{FF2B5EF4-FFF2-40B4-BE49-F238E27FC236}">
                <a16:creationId xmlns:a16="http://schemas.microsoft.com/office/drawing/2014/main" id="{3998FF5B-12C7-4987-B3EA-52C75976126E}"/>
              </a:ext>
            </a:extLst>
          </p:cNvPr>
          <p:cNvSpPr>
            <a:spLocks xmlns:a="http://schemas.openxmlformats.org/drawingml/2006/main" noGrp="1"/>
          </p:cNvSpPr>
          <p:nvPr/>
        </p:nvSpPr>
        <p:spPr>
          <a:xfrm xmlns:a="http://schemas.openxmlformats.org/drawingml/2006/main">
            <a:off x="594360" y="2049780"/>
            <a:ext cx="52578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162B3B"/>
                </a:solidFill>
                <a:latin typeface="Calibri"/>
                <a:ea typeface="Calibri"/>
                <a:cs typeface="Calibri"/>
              </a:defRPr>
            </a:pPr>
            <a:r>
              <a:rPr sz="1680" b="1">
                <a:solidFill>
                  <a:srgbClr val="162B3B"/>
                </a:solidFill>
                <a:latin typeface="Calibri"/>
                <a:ea typeface="Calibri"/>
                <a:cs typeface="Calibri"/>
              </a:rPr>
              <a:t>CAG reports</a:t>
            </a:r>
          </a:p>
        </p:txBody>
      </p:sp>
      <p:sp>
        <p:nvSpPr>
          <p:cNvPr id="10" name="Recurring fund slippages, implementation delays and unu">
            <a:extLst xmlns:a="http://schemas.openxmlformats.org/drawingml/2006/main">
              <a:ext uri="{FF2B5EF4-FFF2-40B4-BE49-F238E27FC236}">
                <a16:creationId xmlns:a16="http://schemas.microsoft.com/office/drawing/2014/main" id="{6CBC9DC4-8A91-489C-A8C9-2DD908E00E27}"/>
              </a:ext>
            </a:extLst>
          </p:cNvPr>
          <p:cNvSpPr>
            <a:spLocks xmlns:a="http://schemas.openxmlformats.org/drawingml/2006/main" noGrp="1"/>
          </p:cNvSpPr>
          <p:nvPr/>
        </p:nvSpPr>
        <p:spPr>
          <a:xfrm xmlns:a="http://schemas.openxmlformats.org/drawingml/2006/main">
            <a:off x="594360" y="2369820"/>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Recurring fund slippages, implementation delays and unutilized district allocations in public schemes.</a:t>
            </a:r>
          </a:p>
        </p:txBody>
      </p:sp>
      <p:sp>
        <p:nvSpPr>
          <p:cNvPr id="11" name="CAG: MPLADS performance audit">
            <a:extLst xmlns:a="http://schemas.openxmlformats.org/drawingml/2006/main">
              <a:ext uri="{FF2B5EF4-FFF2-40B4-BE49-F238E27FC236}">
                <a16:creationId xmlns:a16="http://schemas.microsoft.com/office/drawing/2014/main" id="{5BCA13CF-4979-41BA-9BCC-A83ADB7EE84D}"/>
              </a:ext>
            </a:extLst>
          </p:cNvPr>
          <p:cNvSpPr>
            <a:spLocks xmlns:a="http://schemas.openxmlformats.org/drawingml/2006/main" noGrp="1"/>
          </p:cNvSpPr>
          <p:nvPr/>
        </p:nvSpPr>
        <p:spPr>
          <a:xfrm xmlns:a="http://schemas.openxmlformats.org/drawingml/2006/main">
            <a:off x="594360" y="2948940"/>
            <a:ext cx="52578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234F83"/>
                </a:solidFill>
                <a:latin typeface="Calibri"/>
                <a:ea typeface="Calibri"/>
                <a:cs typeface="Calibri"/>
              </a:defRPr>
            </a:pPr>
            <a:r>
              <a:rPr sz="1380" b="0">
                <a:solidFill>
                  <a:srgbClr val="234F83"/>
                </a:solidFill>
                <a:latin typeface="Calibri"/>
                <a:ea typeface="Calibri"/>
                <a:cs typeface="Calibri"/>
                <a:hlinkClick xmlns:r="http://schemas.openxmlformats.org/officeDocument/2006/relationships" r:id="R053a30afbc9645a6"/>
              </a:rPr>
              <a:t>CAG: MPLADS performance audit</a:t>
            </a:r>
          </a:p>
        </p:txBody>
      </p:sp>
      <p:sp>
        <p:nvSpPr>
          <p:cNvPr id="12" name="GovTech research themes">
            <a:extLst xmlns:a="http://schemas.openxmlformats.org/drawingml/2006/main">
              <a:ext uri="{FF2B5EF4-FFF2-40B4-BE49-F238E27FC236}">
                <a16:creationId xmlns:a16="http://schemas.microsoft.com/office/drawing/2014/main" id="{16E895C7-35A1-4F7C-BCC6-245658571720}"/>
              </a:ext>
            </a:extLst>
          </p:cNvPr>
          <p:cNvSpPr>
            <a:spLocks xmlns:a="http://schemas.openxmlformats.org/drawingml/2006/main" noGrp="1"/>
          </p:cNvSpPr>
          <p:nvPr/>
        </p:nvSpPr>
        <p:spPr>
          <a:xfrm xmlns:a="http://schemas.openxmlformats.org/drawingml/2006/main">
            <a:off x="594360" y="3337560"/>
            <a:ext cx="52578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162B3B"/>
                </a:solidFill>
                <a:latin typeface="Calibri"/>
                <a:ea typeface="Calibri"/>
                <a:cs typeface="Calibri"/>
              </a:defRPr>
            </a:pPr>
            <a:r>
              <a:rPr sz="1680" b="1">
                <a:solidFill>
                  <a:srgbClr val="162B3B"/>
                </a:solidFill>
                <a:latin typeface="Calibri"/>
                <a:ea typeface="Calibri"/>
                <a:cs typeface="Calibri"/>
              </a:rPr>
              <a:t>GovTech research themes</a:t>
            </a:r>
          </a:p>
        </p:txBody>
      </p:sp>
      <p:sp>
        <p:nvSpPr>
          <p:cNvPr id="13" name="Automated fraud detection, public financial management ">
            <a:extLst xmlns:a="http://schemas.openxmlformats.org/drawingml/2006/main">
              <a:ext uri="{FF2B5EF4-FFF2-40B4-BE49-F238E27FC236}">
                <a16:creationId xmlns:a16="http://schemas.microsoft.com/office/drawing/2014/main" id="{B4FB8500-725A-4B05-8E86-66F612EC5286}"/>
              </a:ext>
            </a:extLst>
          </p:cNvPr>
          <p:cNvSpPr>
            <a:spLocks xmlns:a="http://schemas.openxmlformats.org/drawingml/2006/main" noGrp="1"/>
          </p:cNvSpPr>
          <p:nvPr/>
        </p:nvSpPr>
        <p:spPr>
          <a:xfrm xmlns:a="http://schemas.openxmlformats.org/drawingml/2006/main">
            <a:off x="594360" y="3649980"/>
            <a:ext cx="5257800" cy="556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Automated fraud detection, public financial management systems and unsupervised anomaly detection.</a:t>
            </a:r>
          </a:p>
        </p:txBody>
      </p:sp>
      <p:sp>
        <p:nvSpPr>
          <p:cNvPr id="14" name="Proposed data sources">
            <a:extLst xmlns:a="http://schemas.openxmlformats.org/drawingml/2006/main">
              <a:ext uri="{FF2B5EF4-FFF2-40B4-BE49-F238E27FC236}">
                <a16:creationId xmlns:a16="http://schemas.microsoft.com/office/drawing/2014/main" id="{80D12EC5-EF2E-45D1-9C57-574313AF8B47}"/>
              </a:ext>
            </a:extLst>
          </p:cNvPr>
          <p:cNvSpPr>
            <a:spLocks xmlns:a="http://schemas.openxmlformats.org/drawingml/2006/main" noGrp="1"/>
          </p:cNvSpPr>
          <p:nvPr/>
        </p:nvSpPr>
        <p:spPr>
          <a:xfrm xmlns:a="http://schemas.openxmlformats.org/drawingml/2006/main">
            <a:off x="6362700" y="1623060"/>
            <a:ext cx="524256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data sources</a:t>
            </a:r>
          </a:p>
        </p:txBody>
      </p:sp>
      <p:graphicFrame>
        <p:nvGraphicFramePr>
          <p:cNvPr id="37" name=""/>
          <p:cNvGraphicFramePr/>
          <p:nvPr/>
        </p:nvGraphicFramePr>
        <p:xfrm>
          <a:off xmlns:a="http://schemas.openxmlformats.org/drawingml/2006/main" x="6362700" y="2049780"/>
          <a:ext xmlns:a="http://schemas.openxmlformats.org/drawingml/2006/main" cx="5242560" cy="2148840"/>
        </p:xfrm>
        <a:graphic xmlns:a="http://schemas.openxmlformats.org/drawingml/2006/main">
          <a:graphicData uri="http://schemas.openxmlformats.org/drawingml/2006/table">
            <a:tbl>
              <a:tblPr firstRow="0" bandRow="0"/>
              <a:tblGrid>
                <a:gridCol w="1729740"/>
                <a:gridCol w="3512820"/>
              </a:tblGrid>
              <a:tr h="365760">
                <a:tc>
                  <a:txBody>
                    <a:bodyPr lIns="121920" tIns="45720" rIns="106680" bIns="45720">
                      <a:noAutofit/>
                    </a:bodyPr>
                    <a:lstStyle/>
                    <a:p>
                      <a:r>
                        <a:rPr sz="1440" b="1">
                          <a:solidFill>
                            <a:srgbClr val="FFFFFF"/>
                          </a:solidFill>
                          <a:latin typeface="Calibri"/>
                          <a:ea typeface="Calibri"/>
                          <a:cs typeface="Calibri"/>
                        </a:rPr>
                        <a:t>Source</a:t>
                      </a:r>
                    </a:p>
                  </a:txBody>
                  <a:tcPr marL="121920" marR="106680" marT="45720" marB="45720" anchor="ctr">
                    <a:solidFill>
                      <a:srgbClr val="234F83"/>
                    </a:solidFill>
                  </a:tcPr>
                </a:tc>
                <a:tc>
                  <a:txBody>
                    <a:bodyPr lIns="121920" tIns="45720" rIns="106680" bIns="45720">
                      <a:noAutofit/>
                    </a:bodyPr>
                    <a:lstStyle/>
                    <a:p>
                      <a:r>
                        <a:rPr sz="1440" b="1">
                          <a:solidFill>
                            <a:srgbClr val="FFFFFF"/>
                          </a:solidFill>
                          <a:latin typeface="Calibri"/>
                          <a:ea typeface="Calibri"/>
                          <a:cs typeface="Calibri"/>
                        </a:rPr>
                        <a:t>Records</a:t>
                      </a:r>
                    </a:p>
                  </a:txBody>
                  <a:tcPr marL="121920" marR="106680" marT="45720" marB="45720" anchor="ctr">
                    <a:solidFill>
                      <a:srgbClr val="234F83"/>
                    </a:solidFill>
                  </a:tcPr>
                </a:tc>
              </a:tr>
              <a:tr h="594360">
                <a:tc>
                  <a:txBody>
                    <a:bodyPr lIns="121920" tIns="45720" rIns="106680" bIns="45720">
                      <a:noAutofit/>
                    </a:bodyPr>
                    <a:lstStyle/>
                    <a:p>
                      <a:r>
                        <a:rPr sz="1500" b="1">
                          <a:solidFill>
                            <a:srgbClr val="162B3B"/>
                          </a:solidFill>
                          <a:latin typeface="Calibri"/>
                          <a:ea typeface="Calibri"/>
                          <a:cs typeface="Calibri"/>
                          <a:hlinkClick xmlns:r="http://schemas.openxmlformats.org/officeDocument/2006/relationships" r:id="R21d342a29bfe4980"/>
                        </a:rPr>
                        <a:t>MPLADS portal</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Allocations, MP recommendations and expenditure reports</a:t>
                      </a:r>
                    </a:p>
                  </a:txBody>
                  <a:tcPr marL="121920" marR="106680" marT="45720" marB="45720" anchor="ctr">
                    <a:solidFill>
                      <a:srgbClr val="FFFFFF"/>
                    </a:solidFill>
                  </a:tcPr>
                </a:tc>
              </a:tr>
              <a:tr h="594360">
                <a:tc>
                  <a:txBody>
                    <a:bodyPr lIns="121920" tIns="45720" rIns="106680" bIns="45720">
                      <a:noAutofit/>
                    </a:bodyPr>
                    <a:lstStyle/>
                    <a:p>
                      <a:r>
                        <a:rPr sz="1500" b="1">
                          <a:solidFill>
                            <a:srgbClr val="162B3B"/>
                          </a:solidFill>
                          <a:latin typeface="Calibri"/>
                          <a:ea typeface="Calibri"/>
                          <a:cs typeface="Calibri"/>
                          <a:hlinkClick xmlns:r="http://schemas.openxmlformats.org/officeDocument/2006/relationships" r:id="R7247fe560c1f4636"/>
                        </a:rPr>
                        <a:t>PFMS logs</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Transaction trails and vendor payment records</a:t>
                      </a:r>
                    </a:p>
                  </a:txBody>
                  <a:tcPr marL="121920" marR="106680" marT="45720" marB="45720" anchor="ctr">
                    <a:solidFill>
                      <a:srgbClr val="EDF4FA"/>
                    </a:solidFill>
                  </a:tcPr>
                </a:tc>
              </a:tr>
              <a:tr h="594360">
                <a:tc>
                  <a:txBody>
                    <a:bodyPr lIns="121920" tIns="45720" rIns="106680" bIns="45720">
                      <a:noAutofit/>
                    </a:bodyPr>
                    <a:lstStyle/>
                    <a:p>
                      <a:r>
                        <a:rPr sz="1500" b="1">
                          <a:solidFill>
                            <a:srgbClr val="162B3B"/>
                          </a:solidFill>
                          <a:latin typeface="Calibri"/>
                          <a:ea typeface="Calibri"/>
                          <a:cs typeface="Calibri"/>
                        </a:rPr>
                        <a:t>Geospatial data</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District maps, coordinates and geotagged asset logs</a:t>
                      </a:r>
                    </a:p>
                  </a:txBody>
                  <a:tcPr marL="121920" marR="106680" marT="45720" marB="45720" anchor="ctr">
                    <a:solidFill>
                      <a:srgbClr val="FFFFFF"/>
                    </a:solidFill>
                  </a:tcPr>
                </a:tc>
              </a:tr>
            </a:tbl>
          </a:graphicData>
        </a:graphic>
      </p:graphicFrame>
      <p:sp>
        <p:nvSpPr>
          <p:cNvPr id="16" name="Market research">
            <a:extLst xmlns:a="http://schemas.openxmlformats.org/drawingml/2006/main">
              <a:ext uri="{FF2B5EF4-FFF2-40B4-BE49-F238E27FC236}">
                <a16:creationId xmlns:a16="http://schemas.microsoft.com/office/drawing/2014/main" id="{3DDD71A2-1B66-4062-8351-21C4FA3A3D76}"/>
              </a:ext>
            </a:extLst>
          </p:cNvPr>
          <p:cNvSpPr>
            <a:spLocks xmlns:a="http://schemas.openxmlformats.org/drawingml/2006/main" noGrp="1"/>
          </p:cNvSpPr>
          <p:nvPr/>
        </p:nvSpPr>
        <p:spPr>
          <a:xfrm xmlns:a="http://schemas.openxmlformats.org/drawingml/2006/main">
            <a:off x="594360" y="454152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Market research</a:t>
            </a:r>
          </a:p>
        </p:txBody>
      </p:sp>
      <p:sp>
        <p:nvSpPr>
          <p:cNvPr id="17" name="Demand: transparency tools for state and central minist">
            <a:extLst xmlns:a="http://schemas.openxmlformats.org/drawingml/2006/main">
              <a:ext uri="{FF2B5EF4-FFF2-40B4-BE49-F238E27FC236}">
                <a16:creationId xmlns:a16="http://schemas.microsoft.com/office/drawing/2014/main" id="{0BC4A4AA-542B-4335-B2DB-D4107F774E65}"/>
              </a:ext>
            </a:extLst>
          </p:cNvPr>
          <p:cNvSpPr>
            <a:spLocks xmlns:a="http://schemas.openxmlformats.org/drawingml/2006/main" noGrp="1"/>
          </p:cNvSpPr>
          <p:nvPr/>
        </p:nvSpPr>
        <p:spPr>
          <a:xfrm xmlns:a="http://schemas.openxmlformats.org/drawingml/2006/main">
            <a:off x="594360" y="4945380"/>
            <a:ext cx="52654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Demand: transparency tools for state and central ministries.</a:t>
            </a:r>
          </a:p>
          <a:p xmlns:a="http://schemas.openxmlformats.org/drawingml/2006/main">
            <a:r>
              <a:t/>
            </a:r>
          </a:p>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Efficiency target: digital monitoring of all eligible records.</a:t>
            </a:r>
          </a:p>
          <a:p xmlns:a="http://schemas.openxmlformats.org/drawingml/2006/main">
            <a:r>
              <a:t/>
            </a:r>
          </a:p>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Scalability: apply the approach beyond MPLADS, including MGNREGA and PMGSY.</a:t>
            </a:r>
          </a:p>
        </p:txBody>
      </p:sp>
      <p:sp>
        <p:nvSpPr>
          <p:cNvPr id="18" name="Technical documentation">
            <a:extLst xmlns:a="http://schemas.openxmlformats.org/drawingml/2006/main">
              <a:ext uri="{FF2B5EF4-FFF2-40B4-BE49-F238E27FC236}">
                <a16:creationId xmlns:a16="http://schemas.microsoft.com/office/drawing/2014/main" id="{0150C844-846C-4828-ACE2-FD8B8FA6A003}"/>
              </a:ext>
            </a:extLst>
          </p:cNvPr>
          <p:cNvSpPr>
            <a:spLocks xmlns:a="http://schemas.openxmlformats.org/drawingml/2006/main" noGrp="1"/>
          </p:cNvSpPr>
          <p:nvPr/>
        </p:nvSpPr>
        <p:spPr>
          <a:xfrm xmlns:a="http://schemas.openxmlformats.org/drawingml/2006/main">
            <a:off x="6362700" y="4541520"/>
            <a:ext cx="524256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documentation</a:t>
            </a:r>
          </a:p>
        </p:txBody>
      </p:sp>
      <p:sp>
        <p:nvSpPr>
          <p:cNvPr id="19" name="Stack: React.js, FastAPI, MongoDB and Python analytics ">
            <a:extLst xmlns:a="http://schemas.openxmlformats.org/drawingml/2006/main">
              <a:ext uri="{FF2B5EF4-FFF2-40B4-BE49-F238E27FC236}">
                <a16:creationId xmlns:a16="http://schemas.microsoft.com/office/drawing/2014/main" id="{50711245-FEB1-49A2-B3FA-4A2115EF42DC}"/>
              </a:ext>
            </a:extLst>
          </p:cNvPr>
          <p:cNvSpPr>
            <a:spLocks xmlns:a="http://schemas.openxmlformats.org/drawingml/2006/main" noGrp="1"/>
          </p:cNvSpPr>
          <p:nvPr/>
        </p:nvSpPr>
        <p:spPr>
          <a:xfrm xmlns:a="http://schemas.openxmlformats.org/drawingml/2006/main">
            <a:off x="6385560" y="4945380"/>
            <a:ext cx="5181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Stack: React.js, FastAPI, MongoDB and Python analytics with Pandas and scikit-learn.</a:t>
            </a:r>
          </a:p>
        </p:txBody>
      </p:sp>
      <p:sp>
        <p:nvSpPr>
          <p:cNvPr id="20" name="AI: Isolation Forest and a risk-scoring matrix.">
            <a:extLst xmlns:a="http://schemas.openxmlformats.org/drawingml/2006/main">
              <a:ext uri="{FF2B5EF4-FFF2-40B4-BE49-F238E27FC236}">
                <a16:creationId xmlns:a16="http://schemas.microsoft.com/office/drawing/2014/main" id="{7FD4F61A-AD46-45F8-B9FA-6B4ECF60BA91}"/>
              </a:ext>
            </a:extLst>
          </p:cNvPr>
          <p:cNvSpPr>
            <a:spLocks xmlns:a="http://schemas.openxmlformats.org/drawingml/2006/main" noGrp="1"/>
          </p:cNvSpPr>
          <p:nvPr/>
        </p:nvSpPr>
        <p:spPr>
          <a:xfrm xmlns:a="http://schemas.openxmlformats.org/drawingml/2006/main">
            <a:off x="6385560" y="5532120"/>
            <a:ext cx="5181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AI: Isolation Forest and a risk-scoring matrix.</a:t>
            </a:r>
          </a:p>
        </p:txBody>
      </p:sp>
      <p:sp>
        <p:nvSpPr>
          <p:cNvPr id="21" name="Architecture: secure REST API microservices in the clou">
            <a:extLst xmlns:a="http://schemas.openxmlformats.org/drawingml/2006/main">
              <a:ext uri="{FF2B5EF4-FFF2-40B4-BE49-F238E27FC236}">
                <a16:creationId xmlns:a16="http://schemas.microsoft.com/office/drawing/2014/main" id="{8BC5BDEA-65F9-4DFF-BA42-F5AAC9A99BB8}"/>
              </a:ext>
            </a:extLst>
          </p:cNvPr>
          <p:cNvSpPr>
            <a:spLocks xmlns:a="http://schemas.openxmlformats.org/drawingml/2006/main" noGrp="1"/>
          </p:cNvSpPr>
          <p:nvPr/>
        </p:nvSpPr>
        <p:spPr>
          <a:xfrm xmlns:a="http://schemas.openxmlformats.org/drawingml/2006/main">
            <a:off x="6385560" y="5905500"/>
            <a:ext cx="5181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Architecture: secure REST API microservices in the cloud.</a:t>
            </a:r>
          </a:p>
        </p:txBody>
      </p:sp>
      <p:sp>
        <p:nvSpPr>
          <p:cNvPr id="22" name="FastAPI documentation     Isolation Forest documentatio">
            <a:extLst xmlns:a="http://schemas.openxmlformats.org/drawingml/2006/main">
              <a:ext uri="{FF2B5EF4-FFF2-40B4-BE49-F238E27FC236}">
                <a16:creationId xmlns:a16="http://schemas.microsoft.com/office/drawing/2014/main" id="{619855C8-6F0D-4BC2-8F70-4E745521646F}"/>
              </a:ext>
            </a:extLst>
          </p:cNvPr>
          <p:cNvSpPr>
            <a:spLocks xmlns:a="http://schemas.openxmlformats.org/drawingml/2006/main" noGrp="1"/>
          </p:cNvSpPr>
          <p:nvPr/>
        </p:nvSpPr>
        <p:spPr>
          <a:xfrm xmlns:a="http://schemas.openxmlformats.org/drawingml/2006/main">
            <a:off x="6385560" y="6271260"/>
            <a:ext cx="521208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34F83"/>
                </a:solidFill>
                <a:latin typeface="Calibri"/>
                <a:ea typeface="Calibri"/>
                <a:cs typeface="Calibri"/>
              </a:defRPr>
            </a:pPr>
            <a:r>
              <a:rPr sz="1200" b="0">
                <a:solidFill>
                  <a:srgbClr val="234F83"/>
                </a:solidFill>
                <a:latin typeface="Calibri"/>
                <a:ea typeface="Calibri"/>
                <a:cs typeface="Calibri"/>
                <a:hlinkClick xmlns:r="http://schemas.openxmlformats.org/officeDocument/2006/relationships" r:id="R3a38ba13a90242cb"/>
              </a:rPr>
              <a:t>FastAPI documentation</a:t>
            </a:r>
            <a:r>
              <a:rPr sz="1200" b="0">
                <a:solidFill>
                  <a:srgbClr val="234F83"/>
                </a:solidFill>
                <a:latin typeface="Calibri"/>
                <a:ea typeface="Calibri"/>
                <a:cs typeface="Calibri"/>
              </a:rPr>
              <a:t>     </a:t>
            </a:r>
            <a:r>
              <a:rPr sz="1200" b="0">
                <a:solidFill>
                  <a:srgbClr val="234F83"/>
                </a:solidFill>
                <a:latin typeface="Calibri"/>
                <a:ea typeface="Calibri"/>
                <a:cs typeface="Calibri"/>
                <a:hlinkClick xmlns:r="http://schemas.openxmlformats.org/officeDocument/2006/relationships" r:id="R7273f28fe3ea4f35"/>
              </a:rPr>
              <a:t>Isolation Forest documentation</a:t>
            </a:r>
          </a:p>
        </p:txBody>
      </p:sp>
    </p:spTree>
    <p:extLst>
      <p:ext uri="{BB962C8B-B14F-4D97-AF65-F5344CB8AC3E}">
        <p14:creationId xmlns:p14="http://schemas.microsoft.com/office/powerpoint/2010/main" val="10086823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E5AEC6C8-8400-4B4A-A57D-AF04F2127B5E}"/>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8051e614be94fc9"/>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13DE51-B26D-45CE-B339-78FD772808E5}"/>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1262320F-30FA-48D9-8209-9F4ED47C29CD}"/>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BD4F8A2C-40FB-43AD-837F-D43CBDD07E68}"/>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7 / 7">
            <a:extLst xmlns:a="http://schemas.openxmlformats.org/drawingml/2006/main">
              <a:ext uri="{FF2B5EF4-FFF2-40B4-BE49-F238E27FC236}">
                <a16:creationId xmlns:a16="http://schemas.microsoft.com/office/drawing/2014/main" id="{19484212-ECC5-442C-87AF-0BBDC08026B5}"/>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7 / 7</a:t>
            </a:r>
          </a:p>
        </p:txBody>
      </p:sp>
      <p:sp>
        <p:nvSpPr>
          <p:cNvPr id="7" name="College Name: F.E.T Agra College Agra">
            <a:extLst xmlns:a="http://schemas.openxmlformats.org/drawingml/2006/main">
              <a:ext uri="{FF2B5EF4-FFF2-40B4-BE49-F238E27FC236}">
                <a16:creationId xmlns:a16="http://schemas.microsoft.com/office/drawing/2014/main" id="{10CB9D26-9191-4BD2-BB7E-8B471ECEC591}"/>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2421A807-968D-4408-A65E-788662C3BD73}"/>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60892F49-BC46-40D7-B49B-F0517DD5E535}"/>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1520683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2026-09-11T05:14:21.8800000Z</dcterms:created>
  <dcterms:modified xsi:type="dcterms:W3CDTF">2026-09-11T05:14:21.8810000Z</dcterms:modified>
</coreProperties>
</file>