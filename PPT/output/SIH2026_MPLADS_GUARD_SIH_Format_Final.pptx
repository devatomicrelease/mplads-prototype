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91e714c0284c96" /><Relationship Type="http://schemas.openxmlformats.org/officeDocument/2006/relationships/extended-properties" Target="/docProps/app.xml" Id="Rb32d2207b3134bd0" /><Relationship Type="http://schemas.openxmlformats.org/officeDocument/2006/relationships/officeDocument" Target="/ppt/presentation.xml" Id="Rcf3213c37ccb4119" /></Relationships>
</file>

<file path=ppt/presentation.xml><?xml version="1.0" encoding="utf-8"?>
<p:presentation xmlns:p="http://schemas.openxmlformats.org/presentationml/2006/main">
  <p:sldMasterIdLst>
    <p:sldMasterId xmlns:r="http://schemas.openxmlformats.org/officeDocument/2006/relationships" id="2147483648" r:id="Rfa1525c5b4024385"/>
  </p:sldMasterIdLst>
  <p:notesMasterIdLst>
    <p:notesMasterId xmlns:r="http://schemas.openxmlformats.org/officeDocument/2006/relationships" r:id="R9cbc9de5082e4821"/>
  </p:notesMasterIdLst>
  <p:sldIdLst>
    <p:sldId xmlns:r="http://schemas.openxmlformats.org/officeDocument/2006/relationships" id="256" r:id="Ra3c3790d462c45f7"/>
    <p:sldId xmlns:r="http://schemas.openxmlformats.org/officeDocument/2006/relationships" id="257" r:id="R344e62f0a40b4dde"/>
    <p:sldId xmlns:r="http://schemas.openxmlformats.org/officeDocument/2006/relationships" id="258" r:id="Rcdc923310a0c4772"/>
    <p:sldId xmlns:r="http://schemas.openxmlformats.org/officeDocument/2006/relationships" id="259" r:id="Ra16c5ec51a51488c"/>
    <p:sldId xmlns:r="http://schemas.openxmlformats.org/officeDocument/2006/relationships" id="260" r:id="R15406a754f5f4e23"/>
    <p:sldId xmlns:r="http://schemas.openxmlformats.org/officeDocument/2006/relationships" id="261" r:id="R5abf2db8dcf244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65f9cdcd5d9405a" /><Relationship Type="http://schemas.openxmlformats.org/officeDocument/2006/relationships/slideMaster" Target="/ppt/slideMasters/slideMaster1.xml" Id="Rfa1525c5b4024385" /><Relationship Type="http://schemas.openxmlformats.org/officeDocument/2006/relationships/notesMaster" Target="/ppt/notesMasters/notesMaster1.xml" Id="R9cbc9de5082e4821" /><Relationship Type="http://schemas.openxmlformats.org/officeDocument/2006/relationships/presProps" Target="/ppt/presProps.xml" Id="R7d40e85a9e1649ff" /><Relationship Type="http://schemas.openxmlformats.org/officeDocument/2006/relationships/tableStyles" Target="/ppt/tableStyles.xml" Id="R12acec3b99734edd" /><Relationship Type="http://schemas.openxmlformats.org/officeDocument/2006/relationships/slide" Target="/ppt/slides/slide1.xml" Id="Ra3c3790d462c45f7" /><Relationship Type="http://schemas.openxmlformats.org/officeDocument/2006/relationships/slide" Target="/ppt/slides/slide2.xml" Id="R344e62f0a40b4dde" /><Relationship Type="http://schemas.openxmlformats.org/officeDocument/2006/relationships/slide" Target="/ppt/slides/slide3.xml" Id="Rcdc923310a0c4772" /><Relationship Type="http://schemas.openxmlformats.org/officeDocument/2006/relationships/slide" Target="/ppt/slides/slide4.xml" Id="Ra16c5ec51a51488c" /><Relationship Type="http://schemas.openxmlformats.org/officeDocument/2006/relationships/slide" Target="/ppt/slides/slide5.xml" Id="R15406a754f5f4e23" /><Relationship Type="http://schemas.openxmlformats.org/officeDocument/2006/relationships/slide" Target="/ppt/slides/slide6.xml" Id="R5abf2db8dcf244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9f946a28994b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0a58a1bde6465c" /><Relationship Type="http://schemas.openxmlformats.org/officeDocument/2006/relationships/notesMaster" Target="/ppt/notesMasters/notesMaster1.xml" Id="Rbffd8ec5afc047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b7c9b45a304ff4" /><Relationship Type="http://schemas.openxmlformats.org/officeDocument/2006/relationships/notesMaster" Target="/ppt/notesMasters/notesMaster1.xml" Id="Re4b14915843444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b110f6d4be4d5a" /><Relationship Type="http://schemas.openxmlformats.org/officeDocument/2006/relationships/notesMaster" Target="/ppt/notesMasters/notesMaster1.xml" Id="R800d7f1f1a8c45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bfa7ba87444c1c" /><Relationship Type="http://schemas.openxmlformats.org/officeDocument/2006/relationships/notesMaster" Target="/ppt/notesMasters/notesMaster1.xml" Id="R1a619fdc6c5d41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3d0d90a0494a10" /><Relationship Type="http://schemas.openxmlformats.org/officeDocument/2006/relationships/notesMaster" Target="/ppt/notesMasters/notesMaster1.xml" Id="R31c70f605e4b43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b5609222334f42" /><Relationship Type="http://schemas.openxmlformats.org/officeDocument/2006/relationships/notesMaster" Target="/ppt/notesMasters/notesMaster1.xml" Id="Rf759fd403aeb45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The cover artwork is a conceptual illustration generated for the presentation, not evidence of a real project or inspection. 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84f4a2fffd42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94501294d04f87" /><Relationship Type="http://schemas.openxmlformats.org/officeDocument/2006/relationships/slideLayout" Target="/ppt/slideLayouts/slideLayout1.xml" Id="Rcff6940d0611474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f6940d0611474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7020d7d1a384d2b" /><Relationship Type="http://schemas.openxmlformats.org/officeDocument/2006/relationships/image" Target="/ppt/media/image.png" Id="R3dc6c91dcbc24159" /><Relationship Type="http://schemas.openxmlformats.org/officeDocument/2006/relationships/notesSlide" Target="/ppt/notesSlides/notesSlide1.xml" Id="R4a87dba91bfa49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831966d234459f" /><Relationship Type="http://schemas.openxmlformats.org/officeDocument/2006/relationships/image" Target="/ppt/media/image2.png" Id="R81d0938402ec4508" /><Relationship Type="http://schemas.openxmlformats.org/officeDocument/2006/relationships/notesSlide" Target="/ppt/notesSlides/notesSlide2.xml" Id="R2f8fd538e0a74d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2035ed4a6c4d72" /><Relationship Type="http://schemas.openxmlformats.org/officeDocument/2006/relationships/image" Target="/ppt/media/image3.png" Id="R378360adacdc48f3" /><Relationship Type="http://schemas.openxmlformats.org/officeDocument/2006/relationships/notesSlide" Target="/ppt/notesSlides/notesSlide3.xml" Id="Rf6dadf35891746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1dcfe0e76141dd" /><Relationship Type="http://schemas.openxmlformats.org/officeDocument/2006/relationships/image" Target="/ppt/media/image4.png" Id="R9038413681ef49bc" /><Relationship Type="http://schemas.openxmlformats.org/officeDocument/2006/relationships/notesSlide" Target="/ppt/notesSlides/notesSlide4.xml" Id="Radd2057064824b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228e31a11849f6" /><Relationship Type="http://schemas.openxmlformats.org/officeDocument/2006/relationships/image" Target="/ppt/media/image5.png" Id="Racbaaee9d0da402e" /><Relationship Type="http://schemas.openxmlformats.org/officeDocument/2006/relationships/hyperlink" Target="https://cag.gov.in/en/audit-report/details/2341" TargetMode="External" Id="Rb5cc6f20b45d4e79" /><Relationship Type="http://schemas.openxmlformats.org/officeDocument/2006/relationships/hyperlink" Target="https://mplads.gov.in/" TargetMode="External" Id="R7507c8962227494b" /><Relationship Type="http://schemas.openxmlformats.org/officeDocument/2006/relationships/hyperlink" Target="https://fastapi.tiangolo.com/features/" TargetMode="External" Id="R7a2655953d66449d" /><Relationship Type="http://schemas.openxmlformats.org/officeDocument/2006/relationships/notesSlide" Target="/ppt/notesSlides/notesSlide5.xml" Id="R60f5a29175c64e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a861627d7144d2" /><Relationship Type="http://schemas.openxmlformats.org/officeDocument/2006/relationships/image" Target="/ppt/media/image6.png" Id="Rc42e3f7779ea4fe0" /><Relationship Type="http://schemas.openxmlformats.org/officeDocument/2006/relationships/notesSlide" Target="/ppt/notesSlides/notesSlide6.xml" Id="R1224b030a67c46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MART INDIA HACKATHON 2026">
            <a:extLst xmlns:a="http://schemas.openxmlformats.org/drawingml/2006/main">
              <a:ext uri="{FF2B5EF4-FFF2-40B4-BE49-F238E27FC236}">
                <a16:creationId xmlns:a16="http://schemas.microsoft.com/office/drawing/2014/main" id="{7B4673B9-06BB-4FDC-AABE-C33EDFE66411}"/>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SMART INDIA HACKATHON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dc6c91dcbc24159"/>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C29F155-A67F-4D98-B595-95C4F448FEA7}"/>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FE741ED2-BF4E-4DCB-83BB-AAE38AF0EF2D}"/>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7485D9BC-502C-47BB-9C4F-BA2116CEC135}"/>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1 / 6">
            <a:extLst xmlns:a="http://schemas.openxmlformats.org/drawingml/2006/main">
              <a:ext uri="{FF2B5EF4-FFF2-40B4-BE49-F238E27FC236}">
                <a16:creationId xmlns:a16="http://schemas.microsoft.com/office/drawing/2014/main" id="{92295019-8248-4600-8145-D1FAE155DE27}"/>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1 / 6</a:t>
            </a:r>
          </a:p>
        </p:txBody>
      </p:sp>
      <p:sp>
        <p:nvSpPr>
          <p:cNvPr id="7" name="MPLADS-GUARD">
            <a:extLst xmlns:a="http://schemas.openxmlformats.org/drawingml/2006/main">
              <a:ext uri="{FF2B5EF4-FFF2-40B4-BE49-F238E27FC236}">
                <a16:creationId xmlns:a16="http://schemas.microsoft.com/office/drawing/2014/main" id="{64ACE7A1-B3E9-49A7-9CF1-18A547FBCD39}"/>
              </a:ext>
            </a:extLst>
          </p:cNvPr>
          <p:cNvSpPr>
            <a:spLocks xmlns:a="http://schemas.openxmlformats.org/drawingml/2006/main" noGrp="1"/>
          </p:cNvSpPr>
          <p:nvPr/>
        </p:nvSpPr>
        <p:spPr>
          <a:xfrm xmlns:a="http://schemas.openxmlformats.org/drawingml/2006/main">
            <a:off x="586740" y="1463040"/>
            <a:ext cx="10668000" cy="739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80" b="1">
                <a:solidFill>
                  <a:srgbClr val="234F83"/>
                </a:solidFill>
                <a:latin typeface="Calibri"/>
                <a:ea typeface="Calibri"/>
                <a:cs typeface="Calibri"/>
              </a:defRPr>
            </a:pPr>
            <a:r>
              <a:rPr sz="4380" b="1">
                <a:solidFill>
                  <a:srgbClr val="234F83"/>
                </a:solidFill>
                <a:latin typeface="Calibri"/>
                <a:ea typeface="Calibri"/>
                <a:cs typeface="Calibri"/>
              </a:rPr>
              <a:t>MPLADS-GUARD</a:t>
            </a:r>
          </a:p>
        </p:txBody>
      </p:sp>
      <p:sp>
        <p:nvSpPr>
          <p:cNvPr id="8" name="AI-driven anomaly detection for government funds">
            <a:extLst xmlns:a="http://schemas.openxmlformats.org/drawingml/2006/main">
              <a:ext uri="{FF2B5EF4-FFF2-40B4-BE49-F238E27FC236}">
                <a16:creationId xmlns:a16="http://schemas.microsoft.com/office/drawing/2014/main" id="{9D8CBEAB-769D-4D34-81D4-4096D80C3491}"/>
              </a:ext>
            </a:extLst>
          </p:cNvPr>
          <p:cNvSpPr>
            <a:spLocks xmlns:a="http://schemas.openxmlformats.org/drawingml/2006/main" noGrp="1"/>
          </p:cNvSpPr>
          <p:nvPr/>
        </p:nvSpPr>
        <p:spPr>
          <a:xfrm xmlns:a="http://schemas.openxmlformats.org/drawingml/2006/main">
            <a:off x="617220" y="217932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40" b="0">
                <a:solidFill>
                  <a:srgbClr val="162B3B"/>
                </a:solidFill>
                <a:latin typeface="Calibri"/>
                <a:ea typeface="Calibri"/>
                <a:cs typeface="Calibri"/>
              </a:defRPr>
            </a:pPr>
            <a:r>
              <a:rPr sz="2040" b="0">
                <a:solidFill>
                  <a:srgbClr val="162B3B"/>
                </a:solidFill>
                <a:latin typeface="Calibri"/>
                <a:ea typeface="Calibri"/>
                <a:cs typeface="Calibri"/>
              </a:rPr>
              <a:t>AI-driven anomaly detection for government funds</a:t>
            </a:r>
          </a:p>
        </p:txBody>
      </p:sp>
      <p:sp>
        <p:nvSpPr>
          <p:cNvPr id="9" name="Problem Statement ID">
            <a:extLst xmlns:a="http://schemas.openxmlformats.org/drawingml/2006/main">
              <a:ext uri="{FF2B5EF4-FFF2-40B4-BE49-F238E27FC236}">
                <a16:creationId xmlns:a16="http://schemas.microsoft.com/office/drawing/2014/main" id="{D525B09A-4BEF-43C7-BFD8-7ACBF034F28B}"/>
              </a:ext>
            </a:extLst>
          </p:cNvPr>
          <p:cNvSpPr>
            <a:spLocks xmlns:a="http://schemas.openxmlformats.org/drawingml/2006/main" noGrp="1"/>
          </p:cNvSpPr>
          <p:nvPr/>
        </p:nvSpPr>
        <p:spPr>
          <a:xfrm xmlns:a="http://schemas.openxmlformats.org/drawingml/2006/main">
            <a:off x="624840" y="289560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ID</a:t>
            </a:r>
          </a:p>
        </p:txBody>
      </p:sp>
      <p:sp>
        <p:nvSpPr>
          <p:cNvPr id="10" name="SIH26102">
            <a:extLst xmlns:a="http://schemas.openxmlformats.org/drawingml/2006/main">
              <a:ext uri="{FF2B5EF4-FFF2-40B4-BE49-F238E27FC236}">
                <a16:creationId xmlns:a16="http://schemas.microsoft.com/office/drawing/2014/main" id="{571246D5-33E1-405E-9A94-4148EFFE78C0}"/>
              </a:ext>
            </a:extLst>
          </p:cNvPr>
          <p:cNvSpPr>
            <a:spLocks xmlns:a="http://schemas.openxmlformats.org/drawingml/2006/main" noGrp="1"/>
          </p:cNvSpPr>
          <p:nvPr/>
        </p:nvSpPr>
        <p:spPr>
          <a:xfrm xmlns:a="http://schemas.openxmlformats.org/drawingml/2006/main">
            <a:off x="3764280" y="2895600"/>
            <a:ext cx="7543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SIH26102</a:t>
            </a:r>
          </a:p>
        </p:txBody>
      </p:sp>
      <p:sp>
        <p:nvSpPr>
          <p:cNvPr id="11" name="Problem Statement Title">
            <a:extLst xmlns:a="http://schemas.openxmlformats.org/drawingml/2006/main">
              <a:ext uri="{FF2B5EF4-FFF2-40B4-BE49-F238E27FC236}">
                <a16:creationId xmlns:a16="http://schemas.microsoft.com/office/drawing/2014/main" id="{BAD1FA78-1AD6-4DBF-BE0D-3121EF9C8EA6}"/>
              </a:ext>
            </a:extLst>
          </p:cNvPr>
          <p:cNvSpPr>
            <a:spLocks xmlns:a="http://schemas.openxmlformats.org/drawingml/2006/main" noGrp="1"/>
          </p:cNvSpPr>
          <p:nvPr/>
        </p:nvSpPr>
        <p:spPr>
          <a:xfrm xmlns:a="http://schemas.openxmlformats.org/drawingml/2006/main">
            <a:off x="624840" y="3398520"/>
            <a:ext cx="312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Title</a:t>
            </a:r>
          </a:p>
        </p:txBody>
      </p:sp>
      <p:sp>
        <p:nvSpPr>
          <p:cNvPr id="12" name="Development of an AI-powered system to detect anomalies">
            <a:extLst xmlns:a="http://schemas.openxmlformats.org/drawingml/2006/main">
              <a:ext uri="{FF2B5EF4-FFF2-40B4-BE49-F238E27FC236}">
                <a16:creationId xmlns:a16="http://schemas.microsoft.com/office/drawing/2014/main" id="{E81771D2-D999-49F6-8BCD-484B0A8C4BEE}"/>
              </a:ext>
            </a:extLst>
          </p:cNvPr>
          <p:cNvSpPr>
            <a:spLocks xmlns:a="http://schemas.openxmlformats.org/drawingml/2006/main" noGrp="1"/>
          </p:cNvSpPr>
          <p:nvPr/>
        </p:nvSpPr>
        <p:spPr>
          <a:xfrm xmlns:a="http://schemas.openxmlformats.org/drawingml/2006/main">
            <a:off x="3764280" y="3398520"/>
            <a:ext cx="7772400" cy="853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Development of an AI-powered system to detect anomalies, fraud,</a:t>
            </a:r>
          </a:p>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and inefficiencies in MPLAD Scheme implementation regd.</a:t>
            </a:r>
          </a:p>
        </p:txBody>
      </p:sp>
      <p:sp>
        <p:nvSpPr>
          <p:cNvPr id="13" name="Theme">
            <a:extLst xmlns:a="http://schemas.openxmlformats.org/drawingml/2006/main">
              <a:ext uri="{FF2B5EF4-FFF2-40B4-BE49-F238E27FC236}">
                <a16:creationId xmlns:a16="http://schemas.microsoft.com/office/drawing/2014/main" id="{3B3A806F-A4CB-4037-A2DA-7115C425FB1C}"/>
              </a:ext>
            </a:extLst>
          </p:cNvPr>
          <p:cNvSpPr>
            <a:spLocks xmlns:a="http://schemas.openxmlformats.org/drawingml/2006/main" noGrp="1"/>
          </p:cNvSpPr>
          <p:nvPr/>
        </p:nvSpPr>
        <p:spPr>
          <a:xfrm xmlns:a="http://schemas.openxmlformats.org/drawingml/2006/main">
            <a:off x="624840" y="451866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Theme</a:t>
            </a:r>
          </a:p>
        </p:txBody>
      </p:sp>
      <p:sp>
        <p:nvSpPr>
          <p:cNvPr id="14" name="Smart Automation">
            <a:extLst xmlns:a="http://schemas.openxmlformats.org/drawingml/2006/main">
              <a:ext uri="{FF2B5EF4-FFF2-40B4-BE49-F238E27FC236}">
                <a16:creationId xmlns:a16="http://schemas.microsoft.com/office/drawing/2014/main" id="{7B87CF71-DE8F-4B93-B5BD-4BADABE8D191}"/>
              </a:ext>
            </a:extLst>
          </p:cNvPr>
          <p:cNvSpPr>
            <a:spLocks xmlns:a="http://schemas.openxmlformats.org/drawingml/2006/main" noGrp="1"/>
          </p:cNvSpPr>
          <p:nvPr/>
        </p:nvSpPr>
        <p:spPr>
          <a:xfrm xmlns:a="http://schemas.openxmlformats.org/drawingml/2006/main">
            <a:off x="3764280" y="451866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Smart Automation</a:t>
            </a:r>
          </a:p>
        </p:txBody>
      </p:sp>
      <p:sp>
        <p:nvSpPr>
          <p:cNvPr id="15" name="PS Category">
            <a:extLst xmlns:a="http://schemas.openxmlformats.org/drawingml/2006/main">
              <a:ext uri="{FF2B5EF4-FFF2-40B4-BE49-F238E27FC236}">
                <a16:creationId xmlns:a16="http://schemas.microsoft.com/office/drawing/2014/main" id="{010E8ABD-CBC1-42BF-8012-30DED9F99CD7}"/>
              </a:ext>
            </a:extLst>
          </p:cNvPr>
          <p:cNvSpPr>
            <a:spLocks xmlns:a="http://schemas.openxmlformats.org/drawingml/2006/main" noGrp="1"/>
          </p:cNvSpPr>
          <p:nvPr/>
        </p:nvSpPr>
        <p:spPr>
          <a:xfrm xmlns:a="http://schemas.openxmlformats.org/drawingml/2006/main">
            <a:off x="624840" y="50825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PS Category</a:t>
            </a:r>
          </a:p>
        </p:txBody>
      </p:sp>
      <p:sp>
        <p:nvSpPr>
          <p:cNvPr id="16" name="Software">
            <a:extLst xmlns:a="http://schemas.openxmlformats.org/drawingml/2006/main">
              <a:ext uri="{FF2B5EF4-FFF2-40B4-BE49-F238E27FC236}">
                <a16:creationId xmlns:a16="http://schemas.microsoft.com/office/drawing/2014/main" id="{4738A824-CB46-427C-8388-650A3A691F34}"/>
              </a:ext>
            </a:extLst>
          </p:cNvPr>
          <p:cNvSpPr>
            <a:spLocks xmlns:a="http://schemas.openxmlformats.org/drawingml/2006/main" noGrp="1"/>
          </p:cNvSpPr>
          <p:nvPr/>
        </p:nvSpPr>
        <p:spPr>
          <a:xfrm xmlns:a="http://schemas.openxmlformats.org/drawingml/2006/main">
            <a:off x="3764280" y="50825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Software</a:t>
            </a:r>
          </a:p>
        </p:txBody>
      </p:sp>
      <p:sp>
        <p:nvSpPr>
          <p:cNvPr id="17" name="Team Name">
            <a:extLst xmlns:a="http://schemas.openxmlformats.org/drawingml/2006/main">
              <a:ext uri="{FF2B5EF4-FFF2-40B4-BE49-F238E27FC236}">
                <a16:creationId xmlns:a16="http://schemas.microsoft.com/office/drawing/2014/main" id="{2D4036BF-899D-4826-B69A-4F302D507D2D}"/>
              </a:ext>
            </a:extLst>
          </p:cNvPr>
          <p:cNvSpPr>
            <a:spLocks xmlns:a="http://schemas.openxmlformats.org/drawingml/2006/main" noGrp="1"/>
          </p:cNvSpPr>
          <p:nvPr/>
        </p:nvSpPr>
        <p:spPr>
          <a:xfrm xmlns:a="http://schemas.openxmlformats.org/drawingml/2006/main">
            <a:off x="624840" y="56540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Team Name</a:t>
            </a:r>
          </a:p>
        </p:txBody>
      </p:sp>
      <p:sp>
        <p:nvSpPr>
          <p:cNvPr id="18" name="Quantum Coders">
            <a:extLst xmlns:a="http://schemas.openxmlformats.org/drawingml/2006/main">
              <a:ext uri="{FF2B5EF4-FFF2-40B4-BE49-F238E27FC236}">
                <a16:creationId xmlns:a16="http://schemas.microsoft.com/office/drawing/2014/main" id="{441C718C-0411-454E-8926-1A2E002F49CB}"/>
              </a:ext>
            </a:extLst>
          </p:cNvPr>
          <p:cNvSpPr>
            <a:spLocks xmlns:a="http://schemas.openxmlformats.org/drawingml/2006/main" noGrp="1"/>
          </p:cNvSpPr>
          <p:nvPr/>
        </p:nvSpPr>
        <p:spPr>
          <a:xfrm xmlns:a="http://schemas.openxmlformats.org/drawingml/2006/main">
            <a:off x="3764280" y="56540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Quantum Coders</a:t>
            </a:r>
          </a:p>
        </p:txBody>
      </p:sp>
    </p:spTree>
    <p:extLst>
      <p:ext uri="{BB962C8B-B14F-4D97-AF65-F5344CB8AC3E}">
        <p14:creationId xmlns:p14="http://schemas.microsoft.com/office/powerpoint/2010/main" val="9837980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MPLADS-GUARD">
            <a:extLst xmlns:a="http://schemas.openxmlformats.org/drawingml/2006/main">
              <a:ext uri="{FF2B5EF4-FFF2-40B4-BE49-F238E27FC236}">
                <a16:creationId xmlns:a16="http://schemas.microsoft.com/office/drawing/2014/main" id="{278C0B0B-A464-4F37-BB98-2E4B79F83B5D}"/>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MPLADS-GUARD</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1d0938402ec4508"/>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Proposed solution: an AI-driven tracking pipeline for M">
            <a:extLst xmlns:a="http://schemas.openxmlformats.org/drawingml/2006/main">
              <a:ext uri="{FF2B5EF4-FFF2-40B4-BE49-F238E27FC236}">
                <a16:creationId xmlns:a16="http://schemas.microsoft.com/office/drawing/2014/main" id="{09AED7F3-90DB-4C74-97FA-2A74952919B0}"/>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Proposed solution: an AI-driven tracking pipeline for MPLADS funds and project execution</a:t>
            </a:r>
          </a:p>
        </p:txBody>
      </p:sp>
      <p:sp>
        <p:nvSpPr>
          <p:cNvPr id="4" name="">
            <a:extLst xmlns:a="http://schemas.openxmlformats.org/drawingml/2006/main">
              <a:ext uri="{FF2B5EF4-FFF2-40B4-BE49-F238E27FC236}">
                <a16:creationId xmlns:a16="http://schemas.microsoft.com/office/drawing/2014/main" id="{2F5DC288-AB1D-42F4-8973-ED69B7D62EFD}"/>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66A3FAFF-D8C9-4158-B63D-3FFAE438D26C}"/>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64CA5EFB-8DDC-4A66-9B7D-7B3939445EB9}"/>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2 / 6">
            <a:extLst xmlns:a="http://schemas.openxmlformats.org/drawingml/2006/main">
              <a:ext uri="{FF2B5EF4-FFF2-40B4-BE49-F238E27FC236}">
                <a16:creationId xmlns:a16="http://schemas.microsoft.com/office/drawing/2014/main" id="{A68E28AB-0AC1-40FB-93AA-D255E3424722}"/>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2 / 6</a:t>
            </a:r>
          </a:p>
        </p:txBody>
      </p:sp>
      <p:sp>
        <p:nvSpPr>
          <p:cNvPr id="8" name="Raw government data">
            <a:extLst xmlns:a="http://schemas.openxmlformats.org/drawingml/2006/main">
              <a:ext uri="{FF2B5EF4-FFF2-40B4-BE49-F238E27FC236}">
                <a16:creationId xmlns:a16="http://schemas.microsoft.com/office/drawing/2014/main" id="{50E514FD-4410-4607-A256-9D18ADDD61C9}"/>
              </a:ext>
            </a:extLst>
          </p:cNvPr>
          <p:cNvSpPr>
            <a:spLocks xmlns:a="http://schemas.openxmlformats.org/drawingml/2006/main" noGrp="1"/>
          </p:cNvSpPr>
          <p:nvPr/>
        </p:nvSpPr>
        <p:spPr>
          <a:xfrm xmlns:a="http://schemas.openxmlformats.org/drawingml/2006/main">
            <a:off x="59436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Raw government</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data</a:t>
            </a:r>
          </a:p>
        </p:txBody>
      </p:sp>
      <p:sp>
        <p:nvSpPr>
          <p:cNvPr id="9" name="Rule engine">
            <a:extLst xmlns:a="http://schemas.openxmlformats.org/drawingml/2006/main">
              <a:ext uri="{FF2B5EF4-FFF2-40B4-BE49-F238E27FC236}">
                <a16:creationId xmlns:a16="http://schemas.microsoft.com/office/drawing/2014/main" id="{B83BEFE0-C8CA-4AF0-B38B-29AB8E9EEC67}"/>
              </a:ext>
            </a:extLst>
          </p:cNvPr>
          <p:cNvSpPr>
            <a:spLocks xmlns:a="http://schemas.openxmlformats.org/drawingml/2006/main" noGrp="1"/>
          </p:cNvSpPr>
          <p:nvPr/>
        </p:nvSpPr>
        <p:spPr>
          <a:xfrm xmlns:a="http://schemas.openxmlformats.org/drawingml/2006/main">
            <a:off x="286512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Rule engine</a:t>
            </a:r>
          </a:p>
        </p:txBody>
      </p:sp>
      <p:sp>
        <p:nvSpPr>
          <p:cNvPr id="10" name="AI / ML analysis">
            <a:extLst xmlns:a="http://schemas.openxmlformats.org/drawingml/2006/main">
              <a:ext uri="{FF2B5EF4-FFF2-40B4-BE49-F238E27FC236}">
                <a16:creationId xmlns:a16="http://schemas.microsoft.com/office/drawing/2014/main" id="{E872435C-09AF-4508-B63D-60A1D2161DD5}"/>
              </a:ext>
            </a:extLst>
          </p:cNvPr>
          <p:cNvSpPr>
            <a:spLocks xmlns:a="http://schemas.openxmlformats.org/drawingml/2006/main" noGrp="1"/>
          </p:cNvSpPr>
          <p:nvPr/>
        </p:nvSpPr>
        <p:spPr>
          <a:xfrm xmlns:a="http://schemas.openxmlformats.org/drawingml/2006/main">
            <a:off x="513588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AI / ML</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analysis</a:t>
            </a:r>
          </a:p>
        </p:txBody>
      </p:sp>
      <p:sp>
        <p:nvSpPr>
          <p:cNvPr id="11" name="Anomaly flags">
            <a:extLst xmlns:a="http://schemas.openxmlformats.org/drawingml/2006/main">
              <a:ext uri="{FF2B5EF4-FFF2-40B4-BE49-F238E27FC236}">
                <a16:creationId xmlns:a16="http://schemas.microsoft.com/office/drawing/2014/main" id="{F8D74071-D006-4DF6-9D06-94D231C862A0}"/>
              </a:ext>
            </a:extLst>
          </p:cNvPr>
          <p:cNvSpPr>
            <a:spLocks xmlns:a="http://schemas.openxmlformats.org/drawingml/2006/main" noGrp="1"/>
          </p:cNvSpPr>
          <p:nvPr/>
        </p:nvSpPr>
        <p:spPr>
          <a:xfrm xmlns:a="http://schemas.openxmlformats.org/drawingml/2006/main">
            <a:off x="740664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Anomaly flags</a:t>
            </a:r>
          </a:p>
        </p:txBody>
      </p:sp>
      <p:sp>
        <p:nvSpPr>
          <p:cNvPr id="12" name="Dashboard">
            <a:extLst xmlns:a="http://schemas.openxmlformats.org/drawingml/2006/main">
              <a:ext uri="{FF2B5EF4-FFF2-40B4-BE49-F238E27FC236}">
                <a16:creationId xmlns:a16="http://schemas.microsoft.com/office/drawing/2014/main" id="{34F453DD-D157-4AD5-92BB-9F759BA62F19}"/>
              </a:ext>
            </a:extLst>
          </p:cNvPr>
          <p:cNvSpPr>
            <a:spLocks xmlns:a="http://schemas.openxmlformats.org/drawingml/2006/main" noGrp="1"/>
          </p:cNvSpPr>
          <p:nvPr/>
        </p:nvSpPr>
        <p:spPr>
          <a:xfrm xmlns:a="http://schemas.openxmlformats.org/drawingml/2006/main">
            <a:off x="9677400" y="1569720"/>
            <a:ext cx="1927860" cy="57912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Dashboard</a:t>
            </a:r>
          </a:p>
        </p:txBody>
      </p:sp>
      <p:cxnSp>
        <p:nvCxnSpPr>
          <p:cNvPr id="56" name=""/>
          <p:cNvCxnSpPr>
            <a:stCxn xmlns:a="http://schemas.openxmlformats.org/drawingml/2006/main" id="8" idx="3"/>
            <a:endCxn xmlns:a="http://schemas.openxmlformats.org/drawingml/2006/main" id="9" idx="1"/>
          </p:cNvCxnSpPr>
          <p:nvPr/>
        </p:nvCxnSpPr>
        <p:spPr>
          <a:xfrm xmlns:a="http://schemas.openxmlformats.org/drawingml/2006/main">
            <a:off x="252222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7" name=""/>
          <p:cNvCxnSpPr>
            <a:stCxn xmlns:a="http://schemas.openxmlformats.org/drawingml/2006/main" id="9" idx="3"/>
            <a:endCxn xmlns:a="http://schemas.openxmlformats.org/drawingml/2006/main" id="10" idx="1"/>
          </p:cNvCxnSpPr>
          <p:nvPr/>
        </p:nvCxnSpPr>
        <p:spPr>
          <a:xfrm xmlns:a="http://schemas.openxmlformats.org/drawingml/2006/main">
            <a:off x="479298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8" name=""/>
          <p:cNvCxnSpPr>
            <a:stCxn xmlns:a="http://schemas.openxmlformats.org/drawingml/2006/main" id="10" idx="3"/>
            <a:endCxn xmlns:a="http://schemas.openxmlformats.org/drawingml/2006/main" id="11" idx="1"/>
          </p:cNvCxnSpPr>
          <p:nvPr/>
        </p:nvCxnSpPr>
        <p:spPr>
          <a:xfrm xmlns:a="http://schemas.openxmlformats.org/drawingml/2006/main">
            <a:off x="706374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9" name=""/>
          <p:cNvCxnSpPr>
            <a:stCxn xmlns:a="http://schemas.openxmlformats.org/drawingml/2006/main" id="11" idx="3"/>
            <a:endCxn xmlns:a="http://schemas.openxmlformats.org/drawingml/2006/main" id="12" idx="1"/>
          </p:cNvCxnSpPr>
          <p:nvPr/>
        </p:nvCxnSpPr>
        <p:spPr>
          <a:xfrm xmlns:a="http://schemas.openxmlformats.org/drawingml/2006/main">
            <a:off x="933450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17" name="Problem">
            <a:extLst xmlns:a="http://schemas.openxmlformats.org/drawingml/2006/main">
              <a:ext uri="{FF2B5EF4-FFF2-40B4-BE49-F238E27FC236}">
                <a16:creationId xmlns:a16="http://schemas.microsoft.com/office/drawing/2014/main" id="{91416DC0-1EC1-4702-AA98-E4B83A09D015}"/>
              </a:ext>
            </a:extLst>
          </p:cNvPr>
          <p:cNvSpPr>
            <a:spLocks xmlns:a="http://schemas.openxmlformats.org/drawingml/2006/main" noGrp="1"/>
          </p:cNvSpPr>
          <p:nvPr/>
        </p:nvSpPr>
        <p:spPr>
          <a:xfrm xmlns:a="http://schemas.openxmlformats.org/drawingml/2006/main">
            <a:off x="609600" y="2491740"/>
            <a:ext cx="32766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Problem</a:t>
            </a:r>
          </a:p>
        </p:txBody>
      </p:sp>
      <p:sp>
        <p:nvSpPr>
          <p:cNvPr id="18" name="Manual oversight">
            <a:extLst xmlns:a="http://schemas.openxmlformats.org/drawingml/2006/main">
              <a:ext uri="{FF2B5EF4-FFF2-40B4-BE49-F238E27FC236}">
                <a16:creationId xmlns:a16="http://schemas.microsoft.com/office/drawing/2014/main" id="{ACE74F42-4F29-4638-9E1D-984C3AD55F2B}"/>
              </a:ext>
            </a:extLst>
          </p:cNvPr>
          <p:cNvSpPr>
            <a:spLocks xmlns:a="http://schemas.openxmlformats.org/drawingml/2006/main" noGrp="1"/>
          </p:cNvSpPr>
          <p:nvPr/>
        </p:nvSpPr>
        <p:spPr>
          <a:xfrm xmlns:a="http://schemas.openxmlformats.org/drawingml/2006/main">
            <a:off x="609600" y="291084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Manual oversight</a:t>
            </a:r>
          </a:p>
        </p:txBody>
      </p:sp>
      <p:sp>
        <p:nvSpPr>
          <p:cNvPr id="19" name="Fraud and inefficiency are difficult to track manually ">
            <a:extLst xmlns:a="http://schemas.openxmlformats.org/drawingml/2006/main">
              <a:ext uri="{FF2B5EF4-FFF2-40B4-BE49-F238E27FC236}">
                <a16:creationId xmlns:a16="http://schemas.microsoft.com/office/drawing/2014/main" id="{AF98BBC5-29BD-40FF-AFE3-3AFAE01EEBD2}"/>
              </a:ext>
            </a:extLst>
          </p:cNvPr>
          <p:cNvSpPr>
            <a:spLocks xmlns:a="http://schemas.openxmlformats.org/drawingml/2006/main" noGrp="1"/>
          </p:cNvSpPr>
          <p:nvPr/>
        </p:nvSpPr>
        <p:spPr>
          <a:xfrm xmlns:a="http://schemas.openxmlformats.org/drawingml/2006/main">
            <a:off x="609600" y="320040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Fraud and inefficiency are difficult to track manually at scheme scale.</a:t>
            </a:r>
          </a:p>
        </p:txBody>
      </p:sp>
      <p:sp>
        <p:nvSpPr>
          <p:cNvPr id="20" name="March Rush">
            <a:extLst xmlns:a="http://schemas.openxmlformats.org/drawingml/2006/main">
              <a:ext uri="{FF2B5EF4-FFF2-40B4-BE49-F238E27FC236}">
                <a16:creationId xmlns:a16="http://schemas.microsoft.com/office/drawing/2014/main" id="{5F383DA9-6871-4E0F-8608-71CB3249D8B5}"/>
              </a:ext>
            </a:extLst>
          </p:cNvPr>
          <p:cNvSpPr>
            <a:spLocks xmlns:a="http://schemas.openxmlformats.org/drawingml/2006/main" noGrp="1"/>
          </p:cNvSpPr>
          <p:nvPr/>
        </p:nvSpPr>
        <p:spPr>
          <a:xfrm xmlns:a="http://schemas.openxmlformats.org/drawingml/2006/main">
            <a:off x="609600" y="374142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March Rush</a:t>
            </a:r>
          </a:p>
        </p:txBody>
      </p:sp>
      <p:sp>
        <p:nvSpPr>
          <p:cNvPr id="21" name="Sudden, unverified expenditure spikes before financial ">
            <a:extLst xmlns:a="http://schemas.openxmlformats.org/drawingml/2006/main">
              <a:ext uri="{FF2B5EF4-FFF2-40B4-BE49-F238E27FC236}">
                <a16:creationId xmlns:a16="http://schemas.microsoft.com/office/drawing/2014/main" id="{D4B36440-782E-4CB4-A7CF-50324E273CAB}"/>
              </a:ext>
            </a:extLst>
          </p:cNvPr>
          <p:cNvSpPr>
            <a:spLocks xmlns:a="http://schemas.openxmlformats.org/drawingml/2006/main" noGrp="1"/>
          </p:cNvSpPr>
          <p:nvPr/>
        </p:nvSpPr>
        <p:spPr>
          <a:xfrm xmlns:a="http://schemas.openxmlformats.org/drawingml/2006/main">
            <a:off x="609600" y="403098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Sudden, unverified expenditure spikes before financial year-end.</a:t>
            </a:r>
          </a:p>
        </p:txBody>
      </p:sp>
      <p:sp>
        <p:nvSpPr>
          <p:cNvPr id="22" name="Ghost assets">
            <a:extLst xmlns:a="http://schemas.openxmlformats.org/drawingml/2006/main">
              <a:ext uri="{FF2B5EF4-FFF2-40B4-BE49-F238E27FC236}">
                <a16:creationId xmlns:a16="http://schemas.microsoft.com/office/drawing/2014/main" id="{EF15C427-C5BB-47D9-8724-5B15D90F8A86}"/>
              </a:ext>
            </a:extLst>
          </p:cNvPr>
          <p:cNvSpPr>
            <a:spLocks xmlns:a="http://schemas.openxmlformats.org/drawingml/2006/main" noGrp="1"/>
          </p:cNvSpPr>
          <p:nvPr/>
        </p:nvSpPr>
        <p:spPr>
          <a:xfrm xmlns:a="http://schemas.openxmlformats.org/drawingml/2006/main">
            <a:off x="609600" y="457200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Ghost assets</a:t>
            </a:r>
          </a:p>
        </p:txBody>
      </p:sp>
      <p:sp>
        <p:nvSpPr>
          <p:cNvPr id="23" name="Works marked complete without verifiable geotagged proo">
            <a:extLst xmlns:a="http://schemas.openxmlformats.org/drawingml/2006/main">
              <a:ext uri="{FF2B5EF4-FFF2-40B4-BE49-F238E27FC236}">
                <a16:creationId xmlns:a16="http://schemas.microsoft.com/office/drawing/2014/main" id="{9FD69427-C408-4516-A9C1-D2348050D8B4}"/>
              </a:ext>
            </a:extLst>
          </p:cNvPr>
          <p:cNvSpPr>
            <a:spLocks xmlns:a="http://schemas.openxmlformats.org/drawingml/2006/main" noGrp="1"/>
          </p:cNvSpPr>
          <p:nvPr/>
        </p:nvSpPr>
        <p:spPr>
          <a:xfrm xmlns:a="http://schemas.openxmlformats.org/drawingml/2006/main">
            <a:off x="609600" y="486156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Works marked complete without verifiable geotagged proof.</a:t>
            </a:r>
          </a:p>
        </p:txBody>
      </p:sp>
      <p:sp>
        <p:nvSpPr>
          <p:cNvPr id="24" name="Compliance and utility gaps">
            <a:extLst xmlns:a="http://schemas.openxmlformats.org/drawingml/2006/main">
              <a:ext uri="{FF2B5EF4-FFF2-40B4-BE49-F238E27FC236}">
                <a16:creationId xmlns:a16="http://schemas.microsoft.com/office/drawing/2014/main" id="{FC334FAB-DC28-4FC4-946F-FC98018E58DB}"/>
              </a:ext>
            </a:extLst>
          </p:cNvPr>
          <p:cNvSpPr>
            <a:spLocks xmlns:a="http://schemas.openxmlformats.org/drawingml/2006/main" noGrp="1"/>
          </p:cNvSpPr>
          <p:nvPr/>
        </p:nvSpPr>
        <p:spPr>
          <a:xfrm xmlns:a="http://schemas.openxmlformats.org/drawingml/2006/main">
            <a:off x="609600" y="540258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Compliance and utility gaps</a:t>
            </a:r>
          </a:p>
        </p:txBody>
      </p:sp>
      <p:sp>
        <p:nvSpPr>
          <p:cNvPr id="25" name="SC/ST allocation shortfalls and funds concentrated on o">
            <a:extLst xmlns:a="http://schemas.openxmlformats.org/drawingml/2006/main">
              <a:ext uri="{FF2B5EF4-FFF2-40B4-BE49-F238E27FC236}">
                <a16:creationId xmlns:a16="http://schemas.microsoft.com/office/drawing/2014/main" id="{817F935C-5B47-4F3D-A9D7-F239A519BB6E}"/>
              </a:ext>
            </a:extLst>
          </p:cNvPr>
          <p:cNvSpPr>
            <a:spLocks xmlns:a="http://schemas.openxmlformats.org/drawingml/2006/main" noGrp="1"/>
          </p:cNvSpPr>
          <p:nvPr/>
        </p:nvSpPr>
        <p:spPr>
          <a:xfrm xmlns:a="http://schemas.openxmlformats.org/drawingml/2006/main">
            <a:off x="609600" y="569214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SC/ST allocation shortfalls and funds concentrated on one asset type.</a:t>
            </a:r>
          </a:p>
        </p:txBody>
      </p:sp>
      <p:sp>
        <p:nvSpPr>
          <p:cNvPr id="26" name="Proposed solution">
            <a:extLst xmlns:a="http://schemas.openxmlformats.org/drawingml/2006/main">
              <a:ext uri="{FF2B5EF4-FFF2-40B4-BE49-F238E27FC236}">
                <a16:creationId xmlns:a16="http://schemas.microsoft.com/office/drawing/2014/main" id="{EB5A431E-395D-4E18-B016-A3BDDFA6077C}"/>
              </a:ext>
            </a:extLst>
          </p:cNvPr>
          <p:cNvSpPr>
            <a:spLocks xmlns:a="http://schemas.openxmlformats.org/drawingml/2006/main" noGrp="1"/>
          </p:cNvSpPr>
          <p:nvPr/>
        </p:nvSpPr>
        <p:spPr>
          <a:xfrm xmlns:a="http://schemas.openxmlformats.org/drawingml/2006/main">
            <a:off x="4343400" y="2491740"/>
            <a:ext cx="33299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Proposed solution</a:t>
            </a:r>
          </a:p>
        </p:txBody>
      </p:sp>
      <p:sp>
        <p:nvSpPr>
          <p:cNvPr id="27" name="Computable signals">
            <a:extLst xmlns:a="http://schemas.openxmlformats.org/drawingml/2006/main">
              <a:ext uri="{FF2B5EF4-FFF2-40B4-BE49-F238E27FC236}">
                <a16:creationId xmlns:a16="http://schemas.microsoft.com/office/drawing/2014/main" id="{06CD80DB-410B-4301-B1E8-04914551822A}"/>
              </a:ext>
            </a:extLst>
          </p:cNvPr>
          <p:cNvSpPr>
            <a:spLocks xmlns:a="http://schemas.openxmlformats.org/drawingml/2006/main" noGrp="1"/>
          </p:cNvSpPr>
          <p:nvPr/>
        </p:nvSpPr>
        <p:spPr>
          <a:xfrm xmlns:a="http://schemas.openxmlformats.org/drawingml/2006/main">
            <a:off x="4343400" y="291084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Computable signals</a:t>
            </a:r>
          </a:p>
        </p:txBody>
      </p:sp>
      <p:sp>
        <p:nvSpPr>
          <p:cNvPr id="28" name="Convert broad governance concerns into measurable check">
            <a:extLst xmlns:a="http://schemas.openxmlformats.org/drawingml/2006/main">
              <a:ext uri="{FF2B5EF4-FFF2-40B4-BE49-F238E27FC236}">
                <a16:creationId xmlns:a16="http://schemas.microsoft.com/office/drawing/2014/main" id="{B40CBD83-5A26-46BE-AA5D-A56CBB764F0C}"/>
              </a:ext>
            </a:extLst>
          </p:cNvPr>
          <p:cNvSpPr>
            <a:spLocks xmlns:a="http://schemas.openxmlformats.org/drawingml/2006/main" noGrp="1"/>
          </p:cNvSpPr>
          <p:nvPr/>
        </p:nvSpPr>
        <p:spPr>
          <a:xfrm xmlns:a="http://schemas.openxmlformats.org/drawingml/2006/main">
            <a:off x="4343400" y="320040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Convert broad governance concerns into measurable checks.</a:t>
            </a:r>
          </a:p>
        </p:txBody>
      </p:sp>
      <p:sp>
        <p:nvSpPr>
          <p:cNvPr id="29" name="Historical financial analysis">
            <a:extLst xmlns:a="http://schemas.openxmlformats.org/drawingml/2006/main">
              <a:ext uri="{FF2B5EF4-FFF2-40B4-BE49-F238E27FC236}">
                <a16:creationId xmlns:a16="http://schemas.microsoft.com/office/drawing/2014/main" id="{35A11F01-3E05-46AB-B6C2-A2A2F7CCF467}"/>
              </a:ext>
            </a:extLst>
          </p:cNvPr>
          <p:cNvSpPr>
            <a:spLocks xmlns:a="http://schemas.openxmlformats.org/drawingml/2006/main" noGrp="1"/>
          </p:cNvSpPr>
          <p:nvPr/>
        </p:nvSpPr>
        <p:spPr>
          <a:xfrm xmlns:a="http://schemas.openxmlformats.org/drawingml/2006/main">
            <a:off x="4343400" y="374142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Historical financial analysis</a:t>
            </a:r>
          </a:p>
        </p:txBody>
      </p:sp>
      <p:sp>
        <p:nvSpPr>
          <p:cNvPr id="30" name="Use ML to flag vendor favoritism, March Rush and unusua">
            <a:extLst xmlns:a="http://schemas.openxmlformats.org/drawingml/2006/main">
              <a:ext uri="{FF2B5EF4-FFF2-40B4-BE49-F238E27FC236}">
                <a16:creationId xmlns:a16="http://schemas.microsoft.com/office/drawing/2014/main" id="{F6E15B6C-5DDD-4A32-B5D4-AC48DAE40B37}"/>
              </a:ext>
            </a:extLst>
          </p:cNvPr>
          <p:cNvSpPr>
            <a:spLocks xmlns:a="http://schemas.openxmlformats.org/drawingml/2006/main" noGrp="1"/>
          </p:cNvSpPr>
          <p:nvPr/>
        </p:nvSpPr>
        <p:spPr>
          <a:xfrm xmlns:a="http://schemas.openxmlformats.org/drawingml/2006/main">
            <a:off x="4343400" y="403098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Use ML to flag vendor favoritism, March Rush and unusual expenditure.</a:t>
            </a:r>
          </a:p>
        </p:txBody>
      </p:sp>
      <p:sp>
        <p:nvSpPr>
          <p:cNvPr id="31" name="Asset cross-verification">
            <a:extLst xmlns:a="http://schemas.openxmlformats.org/drawingml/2006/main">
              <a:ext uri="{FF2B5EF4-FFF2-40B4-BE49-F238E27FC236}">
                <a16:creationId xmlns:a16="http://schemas.microsoft.com/office/drawing/2014/main" id="{AE63DFC9-11D3-4663-BC01-B46C34255B69}"/>
              </a:ext>
            </a:extLst>
          </p:cNvPr>
          <p:cNvSpPr>
            <a:spLocks xmlns:a="http://schemas.openxmlformats.org/drawingml/2006/main" noGrp="1"/>
          </p:cNvSpPr>
          <p:nvPr/>
        </p:nvSpPr>
        <p:spPr>
          <a:xfrm xmlns:a="http://schemas.openxmlformats.org/drawingml/2006/main">
            <a:off x="4343400" y="457200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Asset cross-verification</a:t>
            </a:r>
          </a:p>
        </p:txBody>
      </p:sp>
      <p:sp>
        <p:nvSpPr>
          <p:cNvPr id="32" name="Match geotagged images and invoices to expose ghost or ">
            <a:extLst xmlns:a="http://schemas.openxmlformats.org/drawingml/2006/main">
              <a:ext uri="{FF2B5EF4-FFF2-40B4-BE49-F238E27FC236}">
                <a16:creationId xmlns:a16="http://schemas.microsoft.com/office/drawing/2014/main" id="{4067EC09-19AA-45B6-9A2C-6F51A734266F}"/>
              </a:ext>
            </a:extLst>
          </p:cNvPr>
          <p:cNvSpPr>
            <a:spLocks xmlns:a="http://schemas.openxmlformats.org/drawingml/2006/main" noGrp="1"/>
          </p:cNvSpPr>
          <p:nvPr/>
        </p:nvSpPr>
        <p:spPr>
          <a:xfrm xmlns:a="http://schemas.openxmlformats.org/drawingml/2006/main">
            <a:off x="4343400" y="486156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geotagged images and invoices to expose ghost or duplicate works.</a:t>
            </a:r>
          </a:p>
        </p:txBody>
      </p:sp>
      <p:sp>
        <p:nvSpPr>
          <p:cNvPr id="33" name="Early alerts">
            <a:extLst xmlns:a="http://schemas.openxmlformats.org/drawingml/2006/main">
              <a:ext uri="{FF2B5EF4-FFF2-40B4-BE49-F238E27FC236}">
                <a16:creationId xmlns:a16="http://schemas.microsoft.com/office/drawing/2014/main" id="{C5DD3FF5-AD2E-4EEF-9B56-B8CEEA60145B}"/>
              </a:ext>
            </a:extLst>
          </p:cNvPr>
          <p:cNvSpPr>
            <a:spLocks xmlns:a="http://schemas.openxmlformats.org/drawingml/2006/main" noGrp="1"/>
          </p:cNvSpPr>
          <p:nvPr/>
        </p:nvSpPr>
        <p:spPr>
          <a:xfrm xmlns:a="http://schemas.openxmlformats.org/drawingml/2006/main">
            <a:off x="4343400" y="540258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Early alerts</a:t>
            </a:r>
          </a:p>
        </p:txBody>
      </p:sp>
      <p:sp>
        <p:nvSpPr>
          <p:cNvPr id="34" name="Track allocation drops and cost overruns during project">
            <a:extLst xmlns:a="http://schemas.openxmlformats.org/drawingml/2006/main">
              <a:ext uri="{FF2B5EF4-FFF2-40B4-BE49-F238E27FC236}">
                <a16:creationId xmlns:a16="http://schemas.microsoft.com/office/drawing/2014/main" id="{EF18A5FF-D63D-4B31-B697-86AF89E3FA79}"/>
              </a:ext>
            </a:extLst>
          </p:cNvPr>
          <p:cNvSpPr>
            <a:spLocks xmlns:a="http://schemas.openxmlformats.org/drawingml/2006/main" noGrp="1"/>
          </p:cNvSpPr>
          <p:nvPr/>
        </p:nvSpPr>
        <p:spPr>
          <a:xfrm xmlns:a="http://schemas.openxmlformats.org/drawingml/2006/main">
            <a:off x="4343400" y="569214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Track allocation drops and cost overruns during project execution.</a:t>
            </a:r>
          </a:p>
        </p:txBody>
      </p:sp>
      <p:sp>
        <p:nvSpPr>
          <p:cNvPr id="35" name="Innovation and uniqueness">
            <a:extLst xmlns:a="http://schemas.openxmlformats.org/drawingml/2006/main">
              <a:ext uri="{FF2B5EF4-FFF2-40B4-BE49-F238E27FC236}">
                <a16:creationId xmlns:a16="http://schemas.microsoft.com/office/drawing/2014/main" id="{6284A513-A584-4132-B687-AEC3067590E7}"/>
              </a:ext>
            </a:extLst>
          </p:cNvPr>
          <p:cNvSpPr>
            <a:spLocks xmlns:a="http://schemas.openxmlformats.org/drawingml/2006/main" noGrp="1"/>
          </p:cNvSpPr>
          <p:nvPr/>
        </p:nvSpPr>
        <p:spPr>
          <a:xfrm xmlns:a="http://schemas.openxmlformats.org/drawingml/2006/main">
            <a:off x="8077200" y="2491740"/>
            <a:ext cx="35966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Innovation and uniqueness</a:t>
            </a:r>
          </a:p>
        </p:txBody>
      </p:sp>
      <p:sp>
        <p:nvSpPr>
          <p:cNvPr id="36" name="Measurable rules">
            <a:extLst xmlns:a="http://schemas.openxmlformats.org/drawingml/2006/main">
              <a:ext uri="{FF2B5EF4-FFF2-40B4-BE49-F238E27FC236}">
                <a16:creationId xmlns:a16="http://schemas.microsoft.com/office/drawing/2014/main" id="{6D1FC5E1-4ABB-413A-97D9-1EEF827A5EBF}"/>
              </a:ext>
            </a:extLst>
          </p:cNvPr>
          <p:cNvSpPr>
            <a:spLocks xmlns:a="http://schemas.openxmlformats.org/drawingml/2006/main" noGrp="1"/>
          </p:cNvSpPr>
          <p:nvPr/>
        </p:nvSpPr>
        <p:spPr>
          <a:xfrm xmlns:a="http://schemas.openxmlformats.org/drawingml/2006/main">
            <a:off x="8077200" y="291084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Measurable rules</a:t>
            </a:r>
          </a:p>
        </p:txBody>
      </p:sp>
      <p:sp>
        <p:nvSpPr>
          <p:cNvPr id="37" name="Translate monitoring concerns into clear algorithmic si">
            <a:extLst xmlns:a="http://schemas.openxmlformats.org/drawingml/2006/main">
              <a:ext uri="{FF2B5EF4-FFF2-40B4-BE49-F238E27FC236}">
                <a16:creationId xmlns:a16="http://schemas.microsoft.com/office/drawing/2014/main" id="{8AE821A5-4490-4CBA-870A-D43E16E6CC39}"/>
              </a:ext>
            </a:extLst>
          </p:cNvPr>
          <p:cNvSpPr>
            <a:spLocks xmlns:a="http://schemas.openxmlformats.org/drawingml/2006/main" noGrp="1"/>
          </p:cNvSpPr>
          <p:nvPr/>
        </p:nvSpPr>
        <p:spPr>
          <a:xfrm xmlns:a="http://schemas.openxmlformats.org/drawingml/2006/main">
            <a:off x="8077200" y="320040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Translate monitoring concerns into clear algorithmic signals.</a:t>
            </a:r>
          </a:p>
        </p:txBody>
      </p:sp>
      <p:sp>
        <p:nvSpPr>
          <p:cNvPr id="38" name="Proactive tracking">
            <a:extLst xmlns:a="http://schemas.openxmlformats.org/drawingml/2006/main">
              <a:ext uri="{FF2B5EF4-FFF2-40B4-BE49-F238E27FC236}">
                <a16:creationId xmlns:a16="http://schemas.microsoft.com/office/drawing/2014/main" id="{4650A7AE-0151-4FEA-A71B-2FBD24C0E007}"/>
              </a:ext>
            </a:extLst>
          </p:cNvPr>
          <p:cNvSpPr>
            <a:spLocks xmlns:a="http://schemas.openxmlformats.org/drawingml/2006/main" noGrp="1"/>
          </p:cNvSpPr>
          <p:nvPr/>
        </p:nvSpPr>
        <p:spPr>
          <a:xfrm xmlns:a="http://schemas.openxmlformats.org/drawingml/2006/main">
            <a:off x="8077200" y="374142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Proactive tracking</a:t>
            </a:r>
          </a:p>
        </p:txBody>
      </p:sp>
      <p:sp>
        <p:nvSpPr>
          <p:cNvPr id="39" name="Flag cost overruns mid-execution, with evidence for cor">
            <a:extLst xmlns:a="http://schemas.openxmlformats.org/drawingml/2006/main">
              <a:ext uri="{FF2B5EF4-FFF2-40B4-BE49-F238E27FC236}">
                <a16:creationId xmlns:a16="http://schemas.microsoft.com/office/drawing/2014/main" id="{1A0CE5BC-EF7A-460C-9B48-0A537E3DF89B}"/>
              </a:ext>
            </a:extLst>
          </p:cNvPr>
          <p:cNvSpPr>
            <a:spLocks xmlns:a="http://schemas.openxmlformats.org/drawingml/2006/main" noGrp="1"/>
          </p:cNvSpPr>
          <p:nvPr/>
        </p:nvSpPr>
        <p:spPr>
          <a:xfrm xmlns:a="http://schemas.openxmlformats.org/drawingml/2006/main">
            <a:off x="8077200" y="403098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Flag cost overruns mid-execution, with evidence for corrective action.</a:t>
            </a:r>
          </a:p>
        </p:txBody>
      </p:sp>
      <p:sp>
        <p:nvSpPr>
          <p:cNvPr id="40" name="Smart cross-verification">
            <a:extLst xmlns:a="http://schemas.openxmlformats.org/drawingml/2006/main">
              <a:ext uri="{FF2B5EF4-FFF2-40B4-BE49-F238E27FC236}">
                <a16:creationId xmlns:a16="http://schemas.microsoft.com/office/drawing/2014/main" id="{D38F71AD-024D-43A9-984D-00CBA1F093C3}"/>
              </a:ext>
            </a:extLst>
          </p:cNvPr>
          <p:cNvSpPr>
            <a:spLocks xmlns:a="http://schemas.openxmlformats.org/drawingml/2006/main" noGrp="1"/>
          </p:cNvSpPr>
          <p:nvPr/>
        </p:nvSpPr>
        <p:spPr>
          <a:xfrm xmlns:a="http://schemas.openxmlformats.org/drawingml/2006/main">
            <a:off x="8077200" y="457200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Smart cross-verification</a:t>
            </a:r>
          </a:p>
        </p:txBody>
      </p:sp>
      <p:sp>
        <p:nvSpPr>
          <p:cNvPr id="41" name="Match geotags and invoices to reduce repetitive manual ">
            <a:extLst xmlns:a="http://schemas.openxmlformats.org/drawingml/2006/main">
              <a:ext uri="{FF2B5EF4-FFF2-40B4-BE49-F238E27FC236}">
                <a16:creationId xmlns:a16="http://schemas.microsoft.com/office/drawing/2014/main" id="{D8F5B7F1-6978-410F-8071-487208CF403E}"/>
              </a:ext>
            </a:extLst>
          </p:cNvPr>
          <p:cNvSpPr>
            <a:spLocks xmlns:a="http://schemas.openxmlformats.org/drawingml/2006/main" noGrp="1"/>
          </p:cNvSpPr>
          <p:nvPr/>
        </p:nvSpPr>
        <p:spPr>
          <a:xfrm xmlns:a="http://schemas.openxmlformats.org/drawingml/2006/main">
            <a:off x="8077200" y="486156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geotags and invoices to reduce repetitive manual checks.</a:t>
            </a:r>
          </a:p>
        </p:txBody>
      </p:sp>
      <p:sp>
        <p:nvSpPr>
          <p:cNvPr id="42" name="Key value proposition">
            <a:extLst xmlns:a="http://schemas.openxmlformats.org/drawingml/2006/main">
              <a:ext uri="{FF2B5EF4-FFF2-40B4-BE49-F238E27FC236}">
                <a16:creationId xmlns:a16="http://schemas.microsoft.com/office/drawing/2014/main" id="{368DA8E8-EB38-4BCE-A089-2E35D7B55EF7}"/>
              </a:ext>
            </a:extLst>
          </p:cNvPr>
          <p:cNvSpPr>
            <a:spLocks xmlns:a="http://schemas.openxmlformats.org/drawingml/2006/main" noGrp="1"/>
          </p:cNvSpPr>
          <p:nvPr/>
        </p:nvSpPr>
        <p:spPr>
          <a:xfrm xmlns:a="http://schemas.openxmlformats.org/drawingml/2006/main">
            <a:off x="8077200" y="554736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196C61"/>
                </a:solidFill>
                <a:latin typeface="Calibri"/>
                <a:ea typeface="Calibri"/>
                <a:cs typeface="Calibri"/>
              </a:defRPr>
            </a:pPr>
            <a:r>
              <a:rPr sz="1620" b="1">
                <a:solidFill>
                  <a:srgbClr val="196C61"/>
                </a:solidFill>
                <a:latin typeface="Calibri"/>
                <a:ea typeface="Calibri"/>
                <a:cs typeface="Calibri"/>
              </a:rPr>
              <a:t>Key value proposition</a:t>
            </a:r>
          </a:p>
        </p:txBody>
      </p:sp>
      <p:sp>
        <p:nvSpPr>
          <p:cNvPr id="43" name="Leakage prevention, clear portal insights and a backend">
            <a:extLst xmlns:a="http://schemas.openxmlformats.org/drawingml/2006/main">
              <a:ext uri="{FF2B5EF4-FFF2-40B4-BE49-F238E27FC236}">
                <a16:creationId xmlns:a16="http://schemas.microsoft.com/office/drawing/2014/main" id="{B4579E9C-378D-4B30-894F-A0181241B863}"/>
              </a:ext>
            </a:extLst>
          </p:cNvPr>
          <p:cNvSpPr>
            <a:spLocks xmlns:a="http://schemas.openxmlformats.org/drawingml/2006/main" noGrp="1"/>
          </p:cNvSpPr>
          <p:nvPr/>
        </p:nvSpPr>
        <p:spPr>
          <a:xfrm xmlns:a="http://schemas.openxmlformats.org/drawingml/2006/main">
            <a:off x="8077200" y="5875020"/>
            <a:ext cx="3497580"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Leakage prevention, clear portal insights and a backend designed for national scale.</a:t>
            </a:r>
          </a:p>
        </p:txBody>
      </p:sp>
    </p:spTree>
    <p:extLst>
      <p:ext uri="{BB962C8B-B14F-4D97-AF65-F5344CB8AC3E}">
        <p14:creationId xmlns:p14="http://schemas.microsoft.com/office/powerpoint/2010/main" val="14385378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CHNICAL APPROACH">
            <a:extLst xmlns:a="http://schemas.openxmlformats.org/drawingml/2006/main">
              <a:ext uri="{FF2B5EF4-FFF2-40B4-BE49-F238E27FC236}">
                <a16:creationId xmlns:a16="http://schemas.microsoft.com/office/drawing/2014/main" id="{09C8E8F6-7199-4A6E-B386-31958D69B6AB}"/>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TECHNICAL APPROACH</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78360adacdc48f3"/>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System architecture and AI/ML data flow">
            <a:extLst xmlns:a="http://schemas.openxmlformats.org/drawingml/2006/main">
              <a:ext uri="{FF2B5EF4-FFF2-40B4-BE49-F238E27FC236}">
                <a16:creationId xmlns:a16="http://schemas.microsoft.com/office/drawing/2014/main" id="{5C4CE954-6A8C-4C6D-B5C6-D058372AF628}"/>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System architecture and AI/ML data flow</a:t>
            </a:r>
          </a:p>
        </p:txBody>
      </p:sp>
      <p:sp>
        <p:nvSpPr>
          <p:cNvPr id="4" name="">
            <a:extLst xmlns:a="http://schemas.openxmlformats.org/drawingml/2006/main">
              <a:ext uri="{FF2B5EF4-FFF2-40B4-BE49-F238E27FC236}">
                <a16:creationId xmlns:a16="http://schemas.microsoft.com/office/drawing/2014/main" id="{CD6E1FC8-FBE6-4746-9B85-83A08F0FA860}"/>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82C62C4B-0DFC-41C8-B5C1-F71CBE3704DD}"/>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CA79DB45-900E-46D8-9C08-3D07A6617C2B}"/>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3 / 6">
            <a:extLst xmlns:a="http://schemas.openxmlformats.org/drawingml/2006/main">
              <a:ext uri="{FF2B5EF4-FFF2-40B4-BE49-F238E27FC236}">
                <a16:creationId xmlns:a16="http://schemas.microsoft.com/office/drawing/2014/main" id="{99B035AC-2C48-4432-8E45-C5690E2E8AD1}"/>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3 / 6</a:t>
            </a:r>
          </a:p>
        </p:txBody>
      </p:sp>
      <p:sp>
        <p:nvSpPr>
          <p:cNvPr id="8" name="System architecture">
            <a:extLst xmlns:a="http://schemas.openxmlformats.org/drawingml/2006/main">
              <a:ext uri="{FF2B5EF4-FFF2-40B4-BE49-F238E27FC236}">
                <a16:creationId xmlns:a16="http://schemas.microsoft.com/office/drawing/2014/main" id="{78C9E099-8D2C-4E42-8466-16462BDE4D61}"/>
              </a:ext>
            </a:extLst>
          </p:cNvPr>
          <p:cNvSpPr>
            <a:spLocks xmlns:a="http://schemas.openxmlformats.org/drawingml/2006/main" noGrp="1"/>
          </p:cNvSpPr>
          <p:nvPr/>
        </p:nvSpPr>
        <p:spPr>
          <a:xfrm xmlns:a="http://schemas.openxmlformats.org/drawingml/2006/main">
            <a:off x="594360" y="1539240"/>
            <a:ext cx="8382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System architecture</a:t>
            </a:r>
          </a:p>
        </p:txBody>
      </p:sp>
      <p:sp>
        <p:nvSpPr>
          <p:cNvPr id="9" name="React.js dashboard Live risk heatmaps and charts">
            <a:extLst xmlns:a="http://schemas.openxmlformats.org/drawingml/2006/main">
              <a:ext uri="{FF2B5EF4-FFF2-40B4-BE49-F238E27FC236}">
                <a16:creationId xmlns:a16="http://schemas.microsoft.com/office/drawing/2014/main" id="{39F24447-5545-4A30-9F02-3BE0D116323F}"/>
              </a:ext>
            </a:extLst>
          </p:cNvPr>
          <p:cNvSpPr>
            <a:spLocks xmlns:a="http://schemas.openxmlformats.org/drawingml/2006/main" noGrp="1"/>
          </p:cNvSpPr>
          <p:nvPr/>
        </p:nvSpPr>
        <p:spPr>
          <a:xfrm xmlns:a="http://schemas.openxmlformats.org/drawingml/2006/main">
            <a:off x="5943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React.js dashboard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Live risk heatmaps and charts</a:t>
            </a:r>
          </a:p>
        </p:txBody>
      </p:sp>
      <p:sp>
        <p:nvSpPr>
          <p:cNvPr id="10" name="FastAPI backend Authentication and routing">
            <a:extLst xmlns:a="http://schemas.openxmlformats.org/drawingml/2006/main">
              <a:ext uri="{FF2B5EF4-FFF2-40B4-BE49-F238E27FC236}">
                <a16:creationId xmlns:a16="http://schemas.microsoft.com/office/drawing/2014/main" id="{85392ABB-9984-4016-A22B-A00812192031}"/>
              </a:ext>
            </a:extLst>
          </p:cNvPr>
          <p:cNvSpPr>
            <a:spLocks xmlns:a="http://schemas.openxmlformats.org/drawingml/2006/main" noGrp="1"/>
          </p:cNvSpPr>
          <p:nvPr/>
        </p:nvSpPr>
        <p:spPr>
          <a:xfrm xmlns:a="http://schemas.openxmlformats.org/drawingml/2006/main">
            <a:off x="4671060" y="2019300"/>
            <a:ext cx="2750820" cy="70104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FastAPI backend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Authentication and routing</a:t>
            </a:r>
          </a:p>
        </p:txBody>
      </p:sp>
      <p:sp>
        <p:nvSpPr>
          <p:cNvPr id="11" name="MongoDB Invoices, tenders and logs">
            <a:extLst xmlns:a="http://schemas.openxmlformats.org/drawingml/2006/main">
              <a:ext uri="{FF2B5EF4-FFF2-40B4-BE49-F238E27FC236}">
                <a16:creationId xmlns:a16="http://schemas.microsoft.com/office/drawing/2014/main" id="{D6E87F8B-FA66-48D0-B559-6EA4814E37CC}"/>
              </a:ext>
            </a:extLst>
          </p:cNvPr>
          <p:cNvSpPr>
            <a:spLocks xmlns:a="http://schemas.openxmlformats.org/drawingml/2006/main" noGrp="1"/>
          </p:cNvSpPr>
          <p:nvPr/>
        </p:nvSpPr>
        <p:spPr>
          <a:xfrm xmlns:a="http://schemas.openxmlformats.org/drawingml/2006/main">
            <a:off x="87477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MongoDB</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Invoices, tenders and logs</a:t>
            </a:r>
          </a:p>
        </p:txBody>
      </p: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33451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74218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4" name="API requests / JSON">
            <a:extLst xmlns:a="http://schemas.openxmlformats.org/drawingml/2006/main">
              <a:ext uri="{FF2B5EF4-FFF2-40B4-BE49-F238E27FC236}">
                <a16:creationId xmlns:a16="http://schemas.microsoft.com/office/drawing/2014/main" id="{B17D4B39-5FB6-4158-BB62-605D780426CA}"/>
              </a:ext>
            </a:extLst>
          </p:cNvPr>
          <p:cNvSpPr>
            <a:spLocks xmlns:a="http://schemas.openxmlformats.org/drawingml/2006/main" noGrp="1"/>
          </p:cNvSpPr>
          <p:nvPr/>
        </p:nvSpPr>
        <p:spPr>
          <a:xfrm xmlns:a="http://schemas.openxmlformats.org/drawingml/2006/main">
            <a:off x="3383280" y="1752600"/>
            <a:ext cx="123444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API requests / JSON</a:t>
            </a:r>
          </a:p>
        </p:txBody>
      </p:sp>
      <p:sp>
        <p:nvSpPr>
          <p:cNvPr id="15" name="Fetch / store records">
            <a:extLst xmlns:a="http://schemas.openxmlformats.org/drawingml/2006/main">
              <a:ext uri="{FF2B5EF4-FFF2-40B4-BE49-F238E27FC236}">
                <a16:creationId xmlns:a16="http://schemas.microsoft.com/office/drawing/2014/main" id="{835C6841-7C03-4547-B814-2FFD0439244D}"/>
              </a:ext>
            </a:extLst>
          </p:cNvPr>
          <p:cNvSpPr>
            <a:spLocks xmlns:a="http://schemas.openxmlformats.org/drawingml/2006/main" noGrp="1"/>
          </p:cNvSpPr>
          <p:nvPr/>
        </p:nvSpPr>
        <p:spPr>
          <a:xfrm xmlns:a="http://schemas.openxmlformats.org/drawingml/2006/main">
            <a:off x="7475220" y="1752600"/>
            <a:ext cx="12573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Fetch / store records</a:t>
            </a:r>
          </a:p>
        </p:txBody>
      </p:sp>
      <p:sp>
        <p:nvSpPr>
          <p:cNvPr id="16" name="Python AI/ML service Inference and risk scoring">
            <a:extLst xmlns:a="http://schemas.openxmlformats.org/drawingml/2006/main">
              <a:ext uri="{FF2B5EF4-FFF2-40B4-BE49-F238E27FC236}">
                <a16:creationId xmlns:a16="http://schemas.microsoft.com/office/drawing/2014/main" id="{35286E7C-52D4-4BA9-927B-A47003AB5531}"/>
              </a:ext>
            </a:extLst>
          </p:cNvPr>
          <p:cNvSpPr>
            <a:spLocks xmlns:a="http://schemas.openxmlformats.org/drawingml/2006/main" noGrp="1"/>
          </p:cNvSpPr>
          <p:nvPr/>
        </p:nvSpPr>
        <p:spPr>
          <a:xfrm xmlns:a="http://schemas.openxmlformats.org/drawingml/2006/main">
            <a:off x="4671060" y="3345180"/>
            <a:ext cx="2750820" cy="67818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Python AI/ML service</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Inference and risk scoring</a:t>
            </a:r>
          </a:p>
        </p:txBody>
      </p:sp>
      <p:cxnSp>
        <p:nvCxnSpPr>
          <p:cNvPr id="50" name=""/>
          <p:cNvCxnSpPr>
            <a:stCxn xmlns:a="http://schemas.openxmlformats.org/drawingml/2006/main" id="10" idx="2"/>
            <a:endCxn xmlns:a="http://schemas.openxmlformats.org/drawingml/2006/main" id="16" idx="0"/>
          </p:cNvCxnSpPr>
          <p:nvPr/>
        </p:nvCxnSpPr>
        <p:spPr>
          <a:xfrm xmlns:a="http://schemas.openxmlformats.org/drawingml/2006/main">
            <a:off x="6046470" y="2720340"/>
            <a:ext cx="0" cy="62484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8" name="Validated data / risk flags">
            <a:extLst xmlns:a="http://schemas.openxmlformats.org/drawingml/2006/main">
              <a:ext uri="{FF2B5EF4-FFF2-40B4-BE49-F238E27FC236}">
                <a16:creationId xmlns:a16="http://schemas.microsoft.com/office/drawing/2014/main" id="{FA1FDF0E-49E8-416F-A07E-FC5BF21C3750}"/>
              </a:ext>
            </a:extLst>
          </p:cNvPr>
          <p:cNvSpPr>
            <a:spLocks xmlns:a="http://schemas.openxmlformats.org/drawingml/2006/main" noGrp="1"/>
          </p:cNvSpPr>
          <p:nvPr/>
        </p:nvSpPr>
        <p:spPr>
          <a:xfrm xmlns:a="http://schemas.openxmlformats.org/drawingml/2006/main">
            <a:off x="7658100" y="3223260"/>
            <a:ext cx="37719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4C606B"/>
                </a:solidFill>
                <a:latin typeface="Calibri"/>
                <a:ea typeface="Calibri"/>
                <a:cs typeface="Calibri"/>
              </a:defRPr>
            </a:pPr>
            <a:r>
              <a:rPr sz="1440" b="0">
                <a:solidFill>
                  <a:srgbClr val="4C606B"/>
                </a:solidFill>
                <a:latin typeface="Calibri"/>
                <a:ea typeface="Calibri"/>
                <a:cs typeface="Calibri"/>
              </a:rPr>
              <a:t>Validated data / risk flags</a:t>
            </a:r>
          </a:p>
        </p:txBody>
      </p:sp>
      <p:sp>
        <p:nvSpPr>
          <p:cNvPr id="19" name="AI/ML core">
            <a:extLst xmlns:a="http://schemas.openxmlformats.org/drawingml/2006/main">
              <a:ext uri="{FF2B5EF4-FFF2-40B4-BE49-F238E27FC236}">
                <a16:creationId xmlns:a16="http://schemas.microsoft.com/office/drawing/2014/main" id="{C758A229-DB81-4DCD-8235-4E023E32A3E8}"/>
              </a:ext>
            </a:extLst>
          </p:cNvPr>
          <p:cNvSpPr>
            <a:spLocks xmlns:a="http://schemas.openxmlformats.org/drawingml/2006/main" noGrp="1"/>
          </p:cNvSpPr>
          <p:nvPr/>
        </p:nvSpPr>
        <p:spPr>
          <a:xfrm xmlns:a="http://schemas.openxmlformats.org/drawingml/2006/main">
            <a:off x="594360" y="3390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234F83"/>
                </a:solidFill>
                <a:latin typeface="Calibri"/>
                <a:ea typeface="Calibri"/>
                <a:cs typeface="Calibri"/>
              </a:defRPr>
            </a:pPr>
            <a:r>
              <a:rPr sz="1920" b="1">
                <a:solidFill>
                  <a:srgbClr val="234F83"/>
                </a:solidFill>
                <a:latin typeface="Calibri"/>
                <a:ea typeface="Calibri"/>
                <a:cs typeface="Calibri"/>
              </a:rPr>
              <a:t>AI/ML core</a:t>
            </a:r>
          </a:p>
        </p:txBody>
      </p:sp>
      <p:sp>
        <p:nvSpPr>
          <p:cNvPr id="20" name="Intelligent anomaly detection pipeline">
            <a:extLst xmlns:a="http://schemas.openxmlformats.org/drawingml/2006/main">
              <a:ext uri="{FF2B5EF4-FFF2-40B4-BE49-F238E27FC236}">
                <a16:creationId xmlns:a16="http://schemas.microsoft.com/office/drawing/2014/main" id="{5121268C-160C-477C-9F04-0866F436C85B}"/>
              </a:ext>
            </a:extLst>
          </p:cNvPr>
          <p:cNvSpPr>
            <a:spLocks xmlns:a="http://schemas.openxmlformats.org/drawingml/2006/main" noGrp="1"/>
          </p:cNvSpPr>
          <p:nvPr/>
        </p:nvSpPr>
        <p:spPr>
          <a:xfrm xmlns:a="http://schemas.openxmlformats.org/drawingml/2006/main">
            <a:off x="594360" y="3741420"/>
            <a:ext cx="3581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Intelligent anomaly detection pipeline</a:t>
            </a:r>
          </a:p>
        </p:txBody>
      </p:sp>
      <p:sp>
        <p:nvSpPr>
          <p:cNvPr id="21" name="Processing pipeline">
            <a:extLst xmlns:a="http://schemas.openxmlformats.org/drawingml/2006/main">
              <a:ext uri="{FF2B5EF4-FFF2-40B4-BE49-F238E27FC236}">
                <a16:creationId xmlns:a16="http://schemas.microsoft.com/office/drawing/2014/main" id="{00FA8316-010D-4DCB-BCA3-702828FAB3A3}"/>
              </a:ext>
            </a:extLst>
          </p:cNvPr>
          <p:cNvSpPr>
            <a:spLocks xmlns:a="http://schemas.openxmlformats.org/drawingml/2006/main" noGrp="1"/>
          </p:cNvSpPr>
          <p:nvPr/>
        </p:nvSpPr>
        <p:spPr>
          <a:xfrm xmlns:a="http://schemas.openxmlformats.org/drawingml/2006/main">
            <a:off x="594360" y="4320540"/>
            <a:ext cx="10668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Processing pipeline</a:t>
            </a:r>
          </a:p>
        </p:txBody>
      </p:sp>
      <p:sp>
        <p:nvSpPr>
          <p:cNvPr id="22" name="Raw financial logs Invoices and tenders">
            <a:extLst xmlns:a="http://schemas.openxmlformats.org/drawingml/2006/main">
              <a:ext uri="{FF2B5EF4-FFF2-40B4-BE49-F238E27FC236}">
                <a16:creationId xmlns:a16="http://schemas.microsoft.com/office/drawing/2014/main" id="{DD96B028-0749-4A60-9F51-2A17EFF2279A}"/>
              </a:ext>
            </a:extLst>
          </p:cNvPr>
          <p:cNvSpPr>
            <a:spLocks xmlns:a="http://schemas.openxmlformats.org/drawingml/2006/main" noGrp="1"/>
          </p:cNvSpPr>
          <p:nvPr/>
        </p:nvSpPr>
        <p:spPr>
          <a:xfrm xmlns:a="http://schemas.openxmlformats.org/drawingml/2006/main">
            <a:off x="59436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Raw financial logs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Invoices and tenders</a:t>
            </a:r>
          </a:p>
        </p:txBody>
      </p:sp>
      <p:sp>
        <p:nvSpPr>
          <p:cNvPr id="23" name="Pandas cleansing Missing values and normalization">
            <a:extLst xmlns:a="http://schemas.openxmlformats.org/drawingml/2006/main">
              <a:ext uri="{FF2B5EF4-FFF2-40B4-BE49-F238E27FC236}">
                <a16:creationId xmlns:a16="http://schemas.microsoft.com/office/drawing/2014/main" id="{5084B816-32DD-452C-BC2C-6E2653F65850}"/>
              </a:ext>
            </a:extLst>
          </p:cNvPr>
          <p:cNvSpPr>
            <a:spLocks xmlns:a="http://schemas.openxmlformats.org/drawingml/2006/main" noGrp="1"/>
          </p:cNvSpPr>
          <p:nvPr/>
        </p:nvSpPr>
        <p:spPr>
          <a:xfrm xmlns:a="http://schemas.openxmlformats.org/drawingml/2006/main">
            <a:off x="284988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Pandas cleansing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Missing values and</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normalization</a:t>
            </a:r>
          </a:p>
        </p:txBody>
      </p:sp>
      <p:sp>
        <p:nvSpPr>
          <p:cNvPr id="24" name="Feature engineering Geotags, cost / deficit ratios, spending velocity">
            <a:extLst xmlns:a="http://schemas.openxmlformats.org/drawingml/2006/main">
              <a:ext uri="{FF2B5EF4-FFF2-40B4-BE49-F238E27FC236}">
                <a16:creationId xmlns:a16="http://schemas.microsoft.com/office/drawing/2014/main" id="{F0513EA0-3823-41C6-946E-7A50095C0965}"/>
              </a:ext>
            </a:extLst>
          </p:cNvPr>
          <p:cNvSpPr>
            <a:spLocks xmlns:a="http://schemas.openxmlformats.org/drawingml/2006/main" noGrp="1"/>
          </p:cNvSpPr>
          <p:nvPr/>
        </p:nvSpPr>
        <p:spPr>
          <a:xfrm xmlns:a="http://schemas.openxmlformats.org/drawingml/2006/main">
            <a:off x="510540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Feature engineering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Geotags, cost / deficit</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ratios, spending velocity</a:t>
            </a:r>
          </a:p>
        </p:txBody>
      </p:sp>
      <p:sp>
        <p:nvSpPr>
          <p:cNvPr id="25" name="Multi-model inference Isolation Forest, similarity, Random Forest*">
            <a:extLst xmlns:a="http://schemas.openxmlformats.org/drawingml/2006/main">
              <a:ext uri="{FF2B5EF4-FFF2-40B4-BE49-F238E27FC236}">
                <a16:creationId xmlns:a16="http://schemas.microsoft.com/office/drawing/2014/main" id="{67A79B14-F534-4930-ACFF-D31A086B2E7F}"/>
              </a:ext>
            </a:extLst>
          </p:cNvPr>
          <p:cNvSpPr>
            <a:spLocks xmlns:a="http://schemas.openxmlformats.org/drawingml/2006/main" noGrp="1"/>
          </p:cNvSpPr>
          <p:nvPr/>
        </p:nvSpPr>
        <p:spPr>
          <a:xfrm xmlns:a="http://schemas.openxmlformats.org/drawingml/2006/main">
            <a:off x="736092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Multi-model inference</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Isolation Forest, similarity,</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Random Forest*</a:t>
            </a:r>
          </a:p>
        </p:txBody>
      </p:sp>
      <p:sp>
        <p:nvSpPr>
          <p:cNvPr id="26" name="Weighted risk scores Dynamic thresholds High / medium / low">
            <a:extLst xmlns:a="http://schemas.openxmlformats.org/drawingml/2006/main">
              <a:ext uri="{FF2B5EF4-FFF2-40B4-BE49-F238E27FC236}">
                <a16:creationId xmlns:a16="http://schemas.microsoft.com/office/drawing/2014/main" id="{0626510C-887C-45C0-9638-B6C03489396A}"/>
              </a:ext>
            </a:extLst>
          </p:cNvPr>
          <p:cNvSpPr>
            <a:spLocks xmlns:a="http://schemas.openxmlformats.org/drawingml/2006/main" noGrp="1"/>
          </p:cNvSpPr>
          <p:nvPr/>
        </p:nvSpPr>
        <p:spPr>
          <a:xfrm xmlns:a="http://schemas.openxmlformats.org/drawingml/2006/main">
            <a:off x="9616440" y="4770120"/>
            <a:ext cx="1965960" cy="86106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Weighted risk scores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Dynamic thresholds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High / medium / low</a:t>
            </a:r>
          </a:p>
        </p:txBody>
      </p: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256032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481584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707136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932688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31" name="Tech stack">
            <a:extLst xmlns:a="http://schemas.openxmlformats.org/drawingml/2006/main">
              <a:ext uri="{FF2B5EF4-FFF2-40B4-BE49-F238E27FC236}">
                <a16:creationId xmlns:a16="http://schemas.microsoft.com/office/drawing/2014/main" id="{FC52CC5F-DC04-4126-B8DF-C2480426ABF3}"/>
              </a:ext>
            </a:extLst>
          </p:cNvPr>
          <p:cNvSpPr>
            <a:spLocks xmlns:a="http://schemas.openxmlformats.org/drawingml/2006/main" noGrp="1"/>
          </p:cNvSpPr>
          <p:nvPr/>
        </p:nvSpPr>
        <p:spPr>
          <a:xfrm xmlns:a="http://schemas.openxmlformats.org/drawingml/2006/main">
            <a:off x="609600" y="5905500"/>
            <a:ext cx="14859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234F83"/>
                </a:solidFill>
                <a:latin typeface="Calibri"/>
                <a:ea typeface="Calibri"/>
                <a:cs typeface="Calibri"/>
              </a:defRPr>
            </a:pPr>
            <a:r>
              <a:rPr sz="1620" b="1">
                <a:solidFill>
                  <a:srgbClr val="234F83"/>
                </a:solidFill>
                <a:latin typeface="Calibri"/>
                <a:ea typeface="Calibri"/>
                <a:cs typeface="Calibri"/>
              </a:rPr>
              <a:t>Tech stack</a:t>
            </a:r>
          </a:p>
        </p:txBody>
      </p:sp>
      <p:sp>
        <p:nvSpPr>
          <p:cNvPr id="32" name="Python, TensorFlow, NumPy, Pandas, scikit-learn, MongoD">
            <a:extLst xmlns:a="http://schemas.openxmlformats.org/drawingml/2006/main">
              <a:ext uri="{FF2B5EF4-FFF2-40B4-BE49-F238E27FC236}">
                <a16:creationId xmlns:a16="http://schemas.microsoft.com/office/drawing/2014/main" id="{B198BED5-7BBD-4D22-B00D-E2A268B4153B}"/>
              </a:ext>
            </a:extLst>
          </p:cNvPr>
          <p:cNvSpPr>
            <a:spLocks xmlns:a="http://schemas.openxmlformats.org/drawingml/2006/main" noGrp="1"/>
          </p:cNvSpPr>
          <p:nvPr/>
        </p:nvSpPr>
        <p:spPr>
          <a:xfrm xmlns:a="http://schemas.openxmlformats.org/drawingml/2006/main">
            <a:off x="2164080" y="5905500"/>
            <a:ext cx="9448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Python, TensorFlow, NumPy, Pandas, scikit-learn, MongoDB, FastAPI and React.js</a:t>
            </a:r>
          </a:p>
        </p:txBody>
      </p:sp>
      <p:sp>
        <p:nvSpPr>
          <p:cNvPr id="33" name="*Use labeled cases for Random Forest. Explicit complian">
            <a:extLst xmlns:a="http://schemas.openxmlformats.org/drawingml/2006/main">
              <a:ext uri="{FF2B5EF4-FFF2-40B4-BE49-F238E27FC236}">
                <a16:creationId xmlns:a16="http://schemas.microsoft.com/office/drawing/2014/main" id="{1D67D110-5E0D-4437-A8CB-A8B2DACD0B8D}"/>
              </a:ext>
            </a:extLst>
          </p:cNvPr>
          <p:cNvSpPr>
            <a:spLocks xmlns:a="http://schemas.openxmlformats.org/drawingml/2006/main" noGrp="1"/>
          </p:cNvSpPr>
          <p:nvPr/>
        </p:nvSpPr>
        <p:spPr>
          <a:xfrm xmlns:a="http://schemas.openxmlformats.org/drawingml/2006/main">
            <a:off x="609600" y="6263640"/>
            <a:ext cx="11049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*Use labeled cases for Random Forest. Explicit compliance checks remain in the rule engine.</a:t>
            </a:r>
          </a:p>
        </p:txBody>
      </p:sp>
    </p:spTree>
    <p:extLst>
      <p:ext uri="{BB962C8B-B14F-4D97-AF65-F5344CB8AC3E}">
        <p14:creationId xmlns:p14="http://schemas.microsoft.com/office/powerpoint/2010/main" val="9169540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EASIBILITY AND VIABILITY">
            <a:extLst xmlns:a="http://schemas.openxmlformats.org/drawingml/2006/main">
              <a:ext uri="{FF2B5EF4-FFF2-40B4-BE49-F238E27FC236}">
                <a16:creationId xmlns:a16="http://schemas.microsoft.com/office/drawing/2014/main" id="{3BC66F42-2F50-42C3-955E-E742B7AE46E9}"/>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FEASIBILITY AND VIABILITY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038413681ef49bc"/>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68F51CF-0824-442A-8968-2FDFC29ED527}"/>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41313465-9EDC-47AE-A97F-0299DBD503AA}"/>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EDB816D7-B4E4-454F-9D83-F61A6D0ABCBA}"/>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4 / 6">
            <a:extLst xmlns:a="http://schemas.openxmlformats.org/drawingml/2006/main">
              <a:ext uri="{FF2B5EF4-FFF2-40B4-BE49-F238E27FC236}">
                <a16:creationId xmlns:a16="http://schemas.microsoft.com/office/drawing/2014/main" id="{72E3491F-92A4-4FCF-97E2-FDA7B47067D9}"/>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4 / 6</a:t>
            </a:r>
          </a:p>
        </p:txBody>
      </p:sp>
      <p:sp>
        <p:nvSpPr>
          <p:cNvPr id="7" name="Risk assessment and mitigation">
            <a:extLst xmlns:a="http://schemas.openxmlformats.org/drawingml/2006/main">
              <a:ext uri="{FF2B5EF4-FFF2-40B4-BE49-F238E27FC236}">
                <a16:creationId xmlns:a16="http://schemas.microsoft.com/office/drawing/2014/main" id="{86C93CD9-DAA1-4757-9FAE-BC3CCF39C860}"/>
              </a:ext>
            </a:extLst>
          </p:cNvPr>
          <p:cNvSpPr>
            <a:spLocks xmlns:a="http://schemas.openxmlformats.org/drawingml/2006/main" noGrp="1"/>
          </p:cNvSpPr>
          <p:nvPr/>
        </p:nvSpPr>
        <p:spPr>
          <a:xfrm xmlns:a="http://schemas.openxmlformats.org/drawingml/2006/main">
            <a:off x="594360" y="133350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Risk assessment and mitigation</a:t>
            </a:r>
          </a:p>
        </p:txBody>
      </p:sp>
      <p:graphicFrame>
        <p:nvGraphicFramePr>
          <p:cNvPr id="22" name=""/>
          <p:cNvGraphicFramePr/>
          <p:nvPr/>
        </p:nvGraphicFramePr>
        <p:xfrm>
          <a:off xmlns:a="http://schemas.openxmlformats.org/drawingml/2006/main" x="594360" y="1798320"/>
          <a:ext xmlns:a="http://schemas.openxmlformats.org/drawingml/2006/main" cx="11003280" cy="2491740"/>
        </p:xfrm>
        <a:graphic xmlns:a="http://schemas.openxmlformats.org/drawingml/2006/main">
          <a:graphicData uri="http://schemas.openxmlformats.org/drawingml/2006/table">
            <a:tbl>
              <a:tblPr firstRow="0" bandRow="0"/>
              <a:tblGrid>
                <a:gridCol w="3230880"/>
                <a:gridCol w="7772400"/>
              </a:tblGrid>
              <a:tr h="411480">
                <a:tc>
                  <a:txBody>
                    <a:bodyPr lIns="121920" tIns="45720" rIns="106680" bIns="45720">
                      <a:noAutofit/>
                    </a:bodyPr>
                    <a:lstStyle/>
                    <a:p>
                      <a:r>
                        <a:rPr sz="1560" b="1">
                          <a:solidFill>
                            <a:srgbClr val="FFFFFF"/>
                          </a:solidFill>
                          <a:latin typeface="Calibri"/>
                          <a:ea typeface="Calibri"/>
                          <a:cs typeface="Calibri"/>
                        </a:rPr>
                        <a:t>Risk</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Proposed mitigation</a:t>
                      </a:r>
                    </a:p>
                  </a:txBody>
                  <a:tcPr marL="121920" marR="106680" marT="45720" marB="45720" anchor="ctr">
                    <a:solidFill>
                      <a:srgbClr val="234F83"/>
                    </a:solidFill>
                  </a:tcPr>
                </a:tc>
              </a:tr>
              <a:tr h="693420">
                <a:tc>
                  <a:txBody>
                    <a:bodyPr lIns="121920" tIns="45720" rIns="106680" bIns="45720">
                      <a:noAutofit/>
                    </a:bodyPr>
                    <a:lstStyle/>
                    <a:p>
                      <a:r>
                        <a:rPr sz="1620" b="1">
                          <a:solidFill>
                            <a:srgbClr val="162B3B"/>
                          </a:solidFill>
                          <a:latin typeface="Calibri"/>
                          <a:ea typeface="Calibri"/>
                          <a:cs typeface="Calibri"/>
                        </a:rPr>
                        <a:t>Data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Vague or delayed district reports: automate authorized invoice and tender ingestion through FastAPI.</a:t>
                      </a:r>
                    </a:p>
                  </a:txBody>
                  <a:tcPr marL="121920" marR="106680" marT="45720" marB="45720" anchor="ctr">
                    <a:solidFill>
                      <a:srgbClr val="FFFFFF"/>
                    </a:solidFill>
                  </a:tcPr>
                </a:tc>
              </a:tr>
              <a:tr h="693420">
                <a:tc>
                  <a:txBody>
                    <a:bodyPr lIns="121920" tIns="45720" rIns="106680" bIns="45720">
                      <a:noAutofit/>
                    </a:bodyPr>
                    <a:lstStyle/>
                    <a:p>
                      <a:r>
                        <a:rPr sz="1620" b="1">
                          <a:solidFill>
                            <a:srgbClr val="162B3B"/>
                          </a:solidFill>
                          <a:latin typeface="Calibri"/>
                          <a:ea typeface="Calibri"/>
                          <a:cs typeface="Calibri"/>
                        </a:rPr>
                        <a:t>Auditing bottlenecks</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High manual cost and oversight lags: use Isolation Forest to prioritize financial anomalies and outliers.</a:t>
                      </a:r>
                    </a:p>
                  </a:txBody>
                  <a:tcPr marL="121920" marR="106680" marT="45720" marB="45720" anchor="ctr">
                    <a:solidFill>
                      <a:srgbClr val="EDF4FA"/>
                    </a:solidFill>
                  </a:tcPr>
                </a:tc>
              </a:tr>
              <a:tr h="693420">
                <a:tc>
                  <a:txBody>
                    <a:bodyPr lIns="121920" tIns="45720" rIns="106680" bIns="45720">
                      <a:noAutofit/>
                    </a:bodyPr>
                    <a:lstStyle/>
                    <a:p>
                      <a:r>
                        <a:rPr sz="1620" b="1">
                          <a:solidFill>
                            <a:srgbClr val="162B3B"/>
                          </a:solidFill>
                          <a:latin typeface="Calibri"/>
                          <a:ea typeface="Calibri"/>
                          <a:cs typeface="Calibri"/>
                        </a:rPr>
                        <a:t>False positives and credibility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Support officials with multi-tier risk scores and verifiable district evidence before investigation.</a:t>
                      </a:r>
                    </a:p>
                  </a:txBody>
                  <a:tcPr marL="121920" marR="106680" marT="45720" marB="45720" anchor="ctr">
                    <a:solidFill>
                      <a:srgbClr val="FFFFFF"/>
                    </a:solidFill>
                  </a:tcPr>
                </a:tc>
              </a:tr>
            </a:tbl>
          </a:graphicData>
        </a:graphic>
      </p:graphicFrame>
      <p:sp>
        <p:nvSpPr>
          <p:cNvPr id="9" name="Technical feasibility">
            <a:extLst xmlns:a="http://schemas.openxmlformats.org/drawingml/2006/main">
              <a:ext uri="{FF2B5EF4-FFF2-40B4-BE49-F238E27FC236}">
                <a16:creationId xmlns:a16="http://schemas.microsoft.com/office/drawing/2014/main" id="{99B320EA-6101-431B-B93E-02D280A398D3}"/>
              </a:ext>
            </a:extLst>
          </p:cNvPr>
          <p:cNvSpPr>
            <a:spLocks xmlns:a="http://schemas.openxmlformats.org/drawingml/2006/main" noGrp="1"/>
          </p:cNvSpPr>
          <p:nvPr/>
        </p:nvSpPr>
        <p:spPr>
          <a:xfrm xmlns:a="http://schemas.openxmlformats.org/drawingml/2006/main">
            <a:off x="60960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feasibility</a:t>
            </a:r>
          </a:p>
        </p:txBody>
      </p:sp>
      <p:sp>
        <p:nvSpPr>
          <p:cNvPr id="10" name="React.js UI, FastAPI APIs and MongoDB storage. Python s">
            <a:extLst xmlns:a="http://schemas.openxmlformats.org/drawingml/2006/main">
              <a:ext uri="{FF2B5EF4-FFF2-40B4-BE49-F238E27FC236}">
                <a16:creationId xmlns:a16="http://schemas.microsoft.com/office/drawing/2014/main" id="{8430263D-E868-41CB-9C05-EC37CD8DE21E}"/>
              </a:ext>
            </a:extLst>
          </p:cNvPr>
          <p:cNvSpPr>
            <a:spLocks xmlns:a="http://schemas.openxmlformats.org/drawingml/2006/main" noGrp="1"/>
          </p:cNvSpPr>
          <p:nvPr/>
        </p:nvSpPr>
        <p:spPr>
          <a:xfrm xmlns:a="http://schemas.openxmlformats.org/drawingml/2006/main">
            <a:off x="60960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React.js UI, FastAPI APIs and MongoDB storage. Python services use Pandas and scikit-learn for cleansing and financial modeling. Secure cloud architecture targets nationwide district data.</a:t>
            </a:r>
          </a:p>
        </p:txBody>
      </p:sp>
      <p:sp>
        <p:nvSpPr>
          <p:cNvPr id="11" name="Economic approach">
            <a:extLst xmlns:a="http://schemas.openxmlformats.org/drawingml/2006/main">
              <a:ext uri="{FF2B5EF4-FFF2-40B4-BE49-F238E27FC236}">
                <a16:creationId xmlns:a16="http://schemas.microsoft.com/office/drawing/2014/main" id="{7F00661E-AB99-4BE8-9B5A-09AFAD938811}"/>
              </a:ext>
            </a:extLst>
          </p:cNvPr>
          <p:cNvSpPr>
            <a:spLocks xmlns:a="http://schemas.openxmlformats.org/drawingml/2006/main" noGrp="1"/>
          </p:cNvSpPr>
          <p:nvPr/>
        </p:nvSpPr>
        <p:spPr>
          <a:xfrm xmlns:a="http://schemas.openxmlformats.org/drawingml/2006/main">
            <a:off x="437388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Economic approach</a:t>
            </a:r>
          </a:p>
        </p:txBody>
      </p:sp>
      <p:sp>
        <p:nvSpPr>
          <p:cNvPr id="12" name="Reduce paperwork, physical audit delays and administrat">
            <a:extLst xmlns:a="http://schemas.openxmlformats.org/drawingml/2006/main">
              <a:ext uri="{FF2B5EF4-FFF2-40B4-BE49-F238E27FC236}">
                <a16:creationId xmlns:a16="http://schemas.microsoft.com/office/drawing/2014/main" id="{ED8B135A-B7DB-4B82-A3B8-A1DC8EDFDA52}"/>
              </a:ext>
            </a:extLst>
          </p:cNvPr>
          <p:cNvSpPr>
            <a:spLocks xmlns:a="http://schemas.openxmlformats.org/drawingml/2006/main" noGrp="1"/>
          </p:cNvSpPr>
          <p:nvPr/>
        </p:nvSpPr>
        <p:spPr>
          <a:xfrm xmlns:a="http://schemas.openxmlformats.org/drawingml/2006/main">
            <a:off x="437388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Reduce paperwork, physical audit delays and administrative cost. Detect March Rush and ghost works to limit financial leakage. Extend across ministries and states, with governance SaaS potential.</a:t>
            </a:r>
          </a:p>
        </p:txBody>
      </p:sp>
      <p:sp>
        <p:nvSpPr>
          <p:cNvPr id="13" name="Resource requirements">
            <a:extLst xmlns:a="http://schemas.openxmlformats.org/drawingml/2006/main">
              <a:ext uri="{FF2B5EF4-FFF2-40B4-BE49-F238E27FC236}">
                <a16:creationId xmlns:a16="http://schemas.microsoft.com/office/drawing/2014/main" id="{4411F1FF-1D4E-4EBC-A462-5D48DEDBED4B}"/>
              </a:ext>
            </a:extLst>
          </p:cNvPr>
          <p:cNvSpPr>
            <a:spLocks xmlns:a="http://schemas.openxmlformats.org/drawingml/2006/main" noGrp="1"/>
          </p:cNvSpPr>
          <p:nvPr/>
        </p:nvSpPr>
        <p:spPr>
          <a:xfrm xmlns:a="http://schemas.openxmlformats.org/drawingml/2006/main">
            <a:off x="8138160" y="4594860"/>
            <a:ext cx="34594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Resource requirements</a:t>
            </a:r>
          </a:p>
        </p:txBody>
      </p:sp>
      <p:sp>
        <p:nvSpPr>
          <p:cNvPr id="14" name="Python libraries and the application stack. AWS / Rende">
            <a:extLst xmlns:a="http://schemas.openxmlformats.org/drawingml/2006/main">
              <a:ext uri="{FF2B5EF4-FFF2-40B4-BE49-F238E27FC236}">
                <a16:creationId xmlns:a16="http://schemas.microsoft.com/office/drawing/2014/main" id="{98C3B8B8-D393-42CB-BB7C-05B5828C4424}"/>
              </a:ext>
            </a:extLst>
          </p:cNvPr>
          <p:cNvSpPr>
            <a:spLocks xmlns:a="http://schemas.openxmlformats.org/drawingml/2006/main" noGrp="1"/>
          </p:cNvSpPr>
          <p:nvPr/>
        </p:nvSpPr>
        <p:spPr>
          <a:xfrm xmlns:a="http://schemas.openxmlformats.org/drawingml/2006/main">
            <a:off x="8138160" y="4953000"/>
            <a:ext cx="345948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Python libraries and the application stack. AWS / Render hosting for APIs and data services, with Vercel for the UI. Responsive dashboard components, charting libraries and live risk heatmaps.</a:t>
            </a:r>
          </a:p>
        </p:txBody>
      </p:sp>
    </p:spTree>
    <p:extLst>
      <p:ext uri="{BB962C8B-B14F-4D97-AF65-F5344CB8AC3E}">
        <p14:creationId xmlns:p14="http://schemas.microsoft.com/office/powerpoint/2010/main" val="1603369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IMPACT AND BENEFITS">
            <a:extLst xmlns:a="http://schemas.openxmlformats.org/drawingml/2006/main">
              <a:ext uri="{FF2B5EF4-FFF2-40B4-BE49-F238E27FC236}">
                <a16:creationId xmlns:a16="http://schemas.microsoft.com/office/drawing/2014/main" id="{2AD3BB34-7191-4909-B1CB-F06CEE67A59B}"/>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IMPACT AND BENEFITS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cbaaee9d0da402e"/>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Financial transparency and public welfare">
            <a:extLst xmlns:a="http://schemas.openxmlformats.org/drawingml/2006/main">
              <a:ext uri="{FF2B5EF4-FFF2-40B4-BE49-F238E27FC236}">
                <a16:creationId xmlns:a16="http://schemas.microsoft.com/office/drawing/2014/main" id="{EFA80473-E31B-4D9A-B693-CE7947FAA675}"/>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Financial transparency and public welfare</a:t>
            </a:r>
          </a:p>
        </p:txBody>
      </p:sp>
      <p:sp>
        <p:nvSpPr>
          <p:cNvPr id="4" name="">
            <a:extLst xmlns:a="http://schemas.openxmlformats.org/drawingml/2006/main">
              <a:ext uri="{FF2B5EF4-FFF2-40B4-BE49-F238E27FC236}">
                <a16:creationId xmlns:a16="http://schemas.microsoft.com/office/drawing/2014/main" id="{8217177A-3CAE-41C7-900B-7933C0CEDAE7}"/>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07AAF1FF-BCEE-4988-B197-B9B1CDE60E02}"/>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463077F4-A6E6-443B-A0D6-4461F28F4B94}"/>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5 / 6">
            <a:extLst xmlns:a="http://schemas.openxmlformats.org/drawingml/2006/main">
              <a:ext uri="{FF2B5EF4-FFF2-40B4-BE49-F238E27FC236}">
                <a16:creationId xmlns:a16="http://schemas.microsoft.com/office/drawing/2014/main" id="{9376709D-008F-4363-ABE6-6160C530A3CC}"/>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5 / 6</a:t>
            </a:r>
          </a:p>
        </p:txBody>
      </p:sp>
      <p:sp>
        <p:nvSpPr>
          <p:cNvPr id="8" name="Potential impact">
            <a:extLst xmlns:a="http://schemas.openxmlformats.org/drawingml/2006/main">
              <a:ext uri="{FF2B5EF4-FFF2-40B4-BE49-F238E27FC236}">
                <a16:creationId xmlns:a16="http://schemas.microsoft.com/office/drawing/2014/main" id="{502443FB-8E41-457A-BAF6-F36ED20F2F02}"/>
              </a:ext>
            </a:extLst>
          </p:cNvPr>
          <p:cNvSpPr>
            <a:spLocks xmlns:a="http://schemas.openxmlformats.org/drawingml/2006/main" noGrp="1"/>
          </p:cNvSpPr>
          <p:nvPr/>
        </p:nvSpPr>
        <p:spPr>
          <a:xfrm xmlns:a="http://schemas.openxmlformats.org/drawingml/2006/main">
            <a:off x="594360" y="1508760"/>
            <a:ext cx="52882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Potential impact</a:t>
            </a:r>
          </a:p>
        </p:txBody>
      </p:sp>
      <p:graphicFrame>
        <p:nvGraphicFramePr>
          <p:cNvPr id="31" name=""/>
          <p:cNvGraphicFramePr/>
          <p:nvPr/>
        </p:nvGraphicFramePr>
        <p:xfrm>
          <a:off xmlns:a="http://schemas.openxmlformats.org/drawingml/2006/main" x="594360" y="1897380"/>
          <a:ext xmlns:a="http://schemas.openxmlformats.org/drawingml/2006/main" cx="5311140" cy="2255520"/>
        </p:xfrm>
        <a:graphic xmlns:a="http://schemas.openxmlformats.org/drawingml/2006/main">
          <a:graphicData uri="http://schemas.openxmlformats.org/drawingml/2006/table">
            <a:tbl>
              <a:tblPr firstRow="0" bandRow="0"/>
              <a:tblGrid>
                <a:gridCol w="1455420"/>
                <a:gridCol w="3855720"/>
              </a:tblGrid>
              <a:tr h="335280">
                <a:tc>
                  <a:txBody>
                    <a:bodyPr lIns="121920" tIns="45720" rIns="106680" bIns="45720">
                      <a:noAutofit/>
                    </a:bodyPr>
                    <a:lstStyle/>
                    <a:p>
                      <a:r>
                        <a:rPr sz="1380" b="1">
                          <a:solidFill>
                            <a:srgbClr val="FFFFFF"/>
                          </a:solidFill>
                          <a:latin typeface="Calibri"/>
                          <a:ea typeface="Calibri"/>
                          <a:cs typeface="Calibri"/>
                        </a:rPr>
                        <a:t>Area</a:t>
                      </a:r>
                    </a:p>
                  </a:txBody>
                  <a:tcPr marL="121920" marR="106680" marT="45720" marB="45720" anchor="ctr">
                    <a:solidFill>
                      <a:srgbClr val="234F83"/>
                    </a:solidFill>
                  </a:tcPr>
                </a:tc>
                <a:tc>
                  <a:txBody>
                    <a:bodyPr lIns="121920" tIns="45720" rIns="106680" bIns="45720">
                      <a:noAutofit/>
                    </a:bodyPr>
                    <a:lstStyle/>
                    <a:p>
                      <a:r>
                        <a:rPr sz="1380" b="1">
                          <a:solidFill>
                            <a:srgbClr val="FFFFFF"/>
                          </a:solidFill>
                          <a:latin typeface="Calibri"/>
                          <a:ea typeface="Calibri"/>
                          <a:cs typeface="Calibri"/>
                        </a:rPr>
                        <a:t>Expected benefit</a:t>
                      </a:r>
                    </a:p>
                  </a:txBody>
                  <a:tcPr marL="121920" marR="106680" marT="45720" marB="45720" anchor="ctr">
                    <a:solidFill>
                      <a:srgbClr val="234F83"/>
                    </a:solidFill>
                  </a:tcPr>
                </a:tc>
              </a:tr>
              <a:tr h="480060">
                <a:tc>
                  <a:txBody>
                    <a:bodyPr lIns="121920" tIns="45720" rIns="106680" bIns="45720">
                      <a:noAutofit/>
                    </a:bodyPr>
                    <a:lstStyle/>
                    <a:p>
                      <a:r>
                        <a:rPr sz="1440" b="1">
                          <a:solidFill>
                            <a:srgbClr val="162B3B"/>
                          </a:solidFill>
                          <a:latin typeface="Calibri"/>
                          <a:ea typeface="Calibri"/>
                          <a:cs typeface="Calibri"/>
                        </a:rPr>
                        <a:t>Governance</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A shared view of funds for central authorities, districts and citizens.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Economic</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Reduce March Rush waste, ghost funding and misallocation.</a:t>
                      </a:r>
                    </a:p>
                  </a:txBody>
                  <a:tcPr marL="121920" marR="106680" marT="45720" marB="45720" anchor="ctr">
                    <a:solidFill>
                      <a:srgbClr val="EDF4FA"/>
                    </a:solidFill>
                  </a:tcPr>
                </a:tc>
              </a:tr>
              <a:tr h="480060">
                <a:tc>
                  <a:txBody>
                    <a:bodyPr lIns="121920" tIns="45720" rIns="106680" bIns="45720">
                      <a:noAutofit/>
                    </a:bodyPr>
                    <a:lstStyle/>
                    <a:p>
                      <a:r>
                        <a:rPr sz="1440" b="1">
                          <a:solidFill>
                            <a:srgbClr val="162B3B"/>
                          </a:solidFill>
                          <a:latin typeface="Calibri"/>
                          <a:ea typeface="Calibri"/>
                          <a:cs typeface="Calibri"/>
                        </a:rPr>
                        <a:t>Operational</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Target 100% screening of ingested records, with timely alerts.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National</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Stronger local assets and better outcomes for target communities.</a:t>
                      </a:r>
                    </a:p>
                  </a:txBody>
                  <a:tcPr marL="121920" marR="106680" marT="45720" marB="45720" anchor="ctr">
                    <a:solidFill>
                      <a:srgbClr val="EDF4FA"/>
                    </a:solidFill>
                  </a:tcPr>
                </a:tc>
              </a:tr>
            </a:tbl>
          </a:graphicData>
        </a:graphic>
      </p:graphicFrame>
      <p:sp>
        <p:nvSpPr>
          <p:cNvPr id="10" name="Future prospects">
            <a:extLst xmlns:a="http://schemas.openxmlformats.org/drawingml/2006/main">
              <a:ext uri="{FF2B5EF4-FFF2-40B4-BE49-F238E27FC236}">
                <a16:creationId xmlns:a16="http://schemas.microsoft.com/office/drawing/2014/main" id="{958EC157-BF7E-4864-917B-B2038B8A6FD2}"/>
              </a:ext>
            </a:extLst>
          </p:cNvPr>
          <p:cNvSpPr>
            <a:spLocks xmlns:a="http://schemas.openxmlformats.org/drawingml/2006/main" noGrp="1"/>
          </p:cNvSpPr>
          <p:nvPr/>
        </p:nvSpPr>
        <p:spPr>
          <a:xfrm xmlns:a="http://schemas.openxmlformats.org/drawingml/2006/main">
            <a:off x="6362700" y="150876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Future prospects</a:t>
            </a:r>
          </a:p>
        </p:txBody>
      </p:sp>
      <p:sp>
        <p:nvSpPr>
          <p:cNvPr id="11" name="Cross-scheme scalability">
            <a:extLst xmlns:a="http://schemas.openxmlformats.org/drawingml/2006/main">
              <a:ext uri="{FF2B5EF4-FFF2-40B4-BE49-F238E27FC236}">
                <a16:creationId xmlns:a16="http://schemas.microsoft.com/office/drawing/2014/main" id="{B993C097-23DF-4D9B-B698-2DA8B7E1BE9A}"/>
              </a:ext>
            </a:extLst>
          </p:cNvPr>
          <p:cNvSpPr>
            <a:spLocks xmlns:a="http://schemas.openxmlformats.org/drawingml/2006/main" noGrp="1"/>
          </p:cNvSpPr>
          <p:nvPr/>
        </p:nvSpPr>
        <p:spPr>
          <a:xfrm xmlns:a="http://schemas.openxmlformats.org/drawingml/2006/main">
            <a:off x="6385560" y="19126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Cross-scheme scalability</a:t>
            </a:r>
          </a:p>
        </p:txBody>
      </p:sp>
      <p:sp>
        <p:nvSpPr>
          <p:cNvPr id="12" name="Expand to MGNREGA, PMGSY and other schemes.">
            <a:extLst xmlns:a="http://schemas.openxmlformats.org/drawingml/2006/main">
              <a:ext uri="{FF2B5EF4-FFF2-40B4-BE49-F238E27FC236}">
                <a16:creationId xmlns:a16="http://schemas.microsoft.com/office/drawing/2014/main" id="{14984252-90D1-4CB6-A2B6-710EE4DE6FDB}"/>
              </a:ext>
            </a:extLst>
          </p:cNvPr>
          <p:cNvSpPr>
            <a:spLocks xmlns:a="http://schemas.openxmlformats.org/drawingml/2006/main" noGrp="1"/>
          </p:cNvSpPr>
          <p:nvPr/>
        </p:nvSpPr>
        <p:spPr>
          <a:xfrm xmlns:a="http://schemas.openxmlformats.org/drawingml/2006/main">
            <a:off x="6385560" y="21564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Expand to MGNREGA, PMGSY and other schemes.</a:t>
            </a:r>
          </a:p>
        </p:txBody>
      </p:sp>
      <p:sp>
        <p:nvSpPr>
          <p:cNvPr id="13" name="Predictive AI modeling">
            <a:extLst xmlns:a="http://schemas.openxmlformats.org/drawingml/2006/main">
              <a:ext uri="{FF2B5EF4-FFF2-40B4-BE49-F238E27FC236}">
                <a16:creationId xmlns:a16="http://schemas.microsoft.com/office/drawing/2014/main" id="{0A0967F4-0400-4130-98CF-98BBCF4D16F3}"/>
              </a:ext>
            </a:extLst>
          </p:cNvPr>
          <p:cNvSpPr>
            <a:spLocks xmlns:a="http://schemas.openxmlformats.org/drawingml/2006/main" noGrp="1"/>
          </p:cNvSpPr>
          <p:nvPr/>
        </p:nvSpPr>
        <p:spPr>
          <a:xfrm xmlns:a="http://schemas.openxmlformats.org/drawingml/2006/main">
            <a:off x="6385560" y="23850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Predictive AI modeling</a:t>
            </a:r>
          </a:p>
        </p:txBody>
      </p:sp>
      <p:sp>
        <p:nvSpPr>
          <p:cNvPr id="14" name="Forecast budget deficits and fund overruns.">
            <a:extLst xmlns:a="http://schemas.openxmlformats.org/drawingml/2006/main">
              <a:ext uri="{FF2B5EF4-FFF2-40B4-BE49-F238E27FC236}">
                <a16:creationId xmlns:a16="http://schemas.microsoft.com/office/drawing/2014/main" id="{AD42C2DD-6C33-4B83-8E0B-3074A7E2DCC1}"/>
              </a:ext>
            </a:extLst>
          </p:cNvPr>
          <p:cNvSpPr>
            <a:spLocks xmlns:a="http://schemas.openxmlformats.org/drawingml/2006/main" noGrp="1"/>
          </p:cNvSpPr>
          <p:nvPr/>
        </p:nvSpPr>
        <p:spPr>
          <a:xfrm xmlns:a="http://schemas.openxmlformats.org/drawingml/2006/main">
            <a:off x="6385560" y="26289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Forecast budget deficits and fund overruns.</a:t>
            </a:r>
          </a:p>
        </p:txBody>
      </p:sp>
      <p:sp>
        <p:nvSpPr>
          <p:cNvPr id="15" name="Blockchain integration">
            <a:extLst xmlns:a="http://schemas.openxmlformats.org/drawingml/2006/main">
              <a:ext uri="{FF2B5EF4-FFF2-40B4-BE49-F238E27FC236}">
                <a16:creationId xmlns:a16="http://schemas.microsoft.com/office/drawing/2014/main" id="{11937B88-11D0-4196-8E20-0208D21BC647}"/>
              </a:ext>
            </a:extLst>
          </p:cNvPr>
          <p:cNvSpPr>
            <a:spLocks xmlns:a="http://schemas.openxmlformats.org/drawingml/2006/main" noGrp="1"/>
          </p:cNvSpPr>
          <p:nvPr/>
        </p:nvSpPr>
        <p:spPr>
          <a:xfrm xmlns:a="http://schemas.openxmlformats.org/drawingml/2006/main">
            <a:off x="6385560" y="28575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Blockchain integration</a:t>
            </a:r>
          </a:p>
        </p:txBody>
      </p:sp>
      <p:sp>
        <p:nvSpPr>
          <p:cNvPr id="16" name="Immutable logs to deter duplicate billing and tampering">
            <a:extLst xmlns:a="http://schemas.openxmlformats.org/drawingml/2006/main">
              <a:ext uri="{FF2B5EF4-FFF2-40B4-BE49-F238E27FC236}">
                <a16:creationId xmlns:a16="http://schemas.microsoft.com/office/drawing/2014/main" id="{1A882D1F-0753-4538-AB9F-F09AD24B7807}"/>
              </a:ext>
            </a:extLst>
          </p:cNvPr>
          <p:cNvSpPr>
            <a:spLocks xmlns:a="http://schemas.openxmlformats.org/drawingml/2006/main" noGrp="1"/>
          </p:cNvSpPr>
          <p:nvPr/>
        </p:nvSpPr>
        <p:spPr>
          <a:xfrm xmlns:a="http://schemas.openxmlformats.org/drawingml/2006/main">
            <a:off x="6385560" y="31013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Immutable logs to deter duplicate billing and tampering.</a:t>
            </a:r>
          </a:p>
        </p:txBody>
      </p:sp>
      <p:sp>
        <p:nvSpPr>
          <p:cNvPr id="17" name="Citizen mobile app">
            <a:extLst xmlns:a="http://schemas.openxmlformats.org/drawingml/2006/main">
              <a:ext uri="{FF2B5EF4-FFF2-40B4-BE49-F238E27FC236}">
                <a16:creationId xmlns:a16="http://schemas.microsoft.com/office/drawing/2014/main" id="{CA43BC7E-C396-47E3-9789-6EEF7FB5D17D}"/>
              </a:ext>
            </a:extLst>
          </p:cNvPr>
          <p:cNvSpPr>
            <a:spLocks xmlns:a="http://schemas.openxmlformats.org/drawingml/2006/main" noGrp="1"/>
          </p:cNvSpPr>
          <p:nvPr/>
        </p:nvSpPr>
        <p:spPr>
          <a:xfrm xmlns:a="http://schemas.openxmlformats.org/drawingml/2006/main">
            <a:off x="6385560" y="33299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Citizen mobile app</a:t>
            </a:r>
          </a:p>
        </p:txBody>
      </p:sp>
      <p:sp>
        <p:nvSpPr>
          <p:cNvPr id="18" name="Crowdsource geotagged inspection of local assets.">
            <a:extLst xmlns:a="http://schemas.openxmlformats.org/drawingml/2006/main">
              <a:ext uri="{FF2B5EF4-FFF2-40B4-BE49-F238E27FC236}">
                <a16:creationId xmlns:a16="http://schemas.microsoft.com/office/drawing/2014/main" id="{7E2AFE84-0DC8-4F70-94A1-67A3F3C2A9E8}"/>
              </a:ext>
            </a:extLst>
          </p:cNvPr>
          <p:cNvSpPr>
            <a:spLocks xmlns:a="http://schemas.openxmlformats.org/drawingml/2006/main" noGrp="1"/>
          </p:cNvSpPr>
          <p:nvPr/>
        </p:nvSpPr>
        <p:spPr>
          <a:xfrm xmlns:a="http://schemas.openxmlformats.org/drawingml/2006/main">
            <a:off x="6385560" y="35737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Crowdsource geotagged inspection of local assets.</a:t>
            </a:r>
          </a:p>
        </p:txBody>
      </p:sp>
      <p:sp>
        <p:nvSpPr>
          <p:cNvPr id="19" name="Policy recommendations">
            <a:extLst xmlns:a="http://schemas.openxmlformats.org/drawingml/2006/main">
              <a:ext uri="{FF2B5EF4-FFF2-40B4-BE49-F238E27FC236}">
                <a16:creationId xmlns:a16="http://schemas.microsoft.com/office/drawing/2014/main" id="{DEFA378A-7C18-4DBF-8C04-DB1B13F2D1AE}"/>
              </a:ext>
            </a:extLst>
          </p:cNvPr>
          <p:cNvSpPr>
            <a:spLocks xmlns:a="http://schemas.openxmlformats.org/drawingml/2006/main" noGrp="1"/>
          </p:cNvSpPr>
          <p:nvPr/>
        </p:nvSpPr>
        <p:spPr>
          <a:xfrm xmlns:a="http://schemas.openxmlformats.org/drawingml/2006/main">
            <a:off x="6385560" y="38023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Policy recommendations</a:t>
            </a:r>
          </a:p>
        </p:txBody>
      </p:sp>
      <p:sp>
        <p:nvSpPr>
          <p:cNvPr id="20" name="Use historical anomalies to suggest compliance improvem">
            <a:extLst xmlns:a="http://schemas.openxmlformats.org/drawingml/2006/main">
              <a:ext uri="{FF2B5EF4-FFF2-40B4-BE49-F238E27FC236}">
                <a16:creationId xmlns:a16="http://schemas.microsoft.com/office/drawing/2014/main" id="{62A314B8-4D1E-4CD6-B21A-4F71501488A3}"/>
              </a:ext>
            </a:extLst>
          </p:cNvPr>
          <p:cNvSpPr>
            <a:spLocks xmlns:a="http://schemas.openxmlformats.org/drawingml/2006/main" noGrp="1"/>
          </p:cNvSpPr>
          <p:nvPr/>
        </p:nvSpPr>
        <p:spPr>
          <a:xfrm xmlns:a="http://schemas.openxmlformats.org/drawingml/2006/main">
            <a:off x="6385560" y="40462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Use historical anomalies to suggest compliance improvements.</a:t>
            </a:r>
          </a:p>
        </p:txBody>
      </p:sp>
      <p:sp>
        <p:nvSpPr>
          <p:cNvPr id="21" name="Research and references">
            <a:extLst xmlns:a="http://schemas.openxmlformats.org/drawingml/2006/main">
              <a:ext uri="{FF2B5EF4-FFF2-40B4-BE49-F238E27FC236}">
                <a16:creationId xmlns:a16="http://schemas.microsoft.com/office/drawing/2014/main" id="{270FCCAE-1636-4BEA-A587-202ED6396508}"/>
              </a:ext>
            </a:extLst>
          </p:cNvPr>
          <p:cNvSpPr>
            <a:spLocks xmlns:a="http://schemas.openxmlformats.org/drawingml/2006/main" noGrp="1"/>
          </p:cNvSpPr>
          <p:nvPr/>
        </p:nvSpPr>
        <p:spPr>
          <a:xfrm xmlns:a="http://schemas.openxmlformats.org/drawingml/2006/main">
            <a:off x="594360" y="448818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Research and references</a:t>
            </a:r>
          </a:p>
        </p:txBody>
      </p:sp>
      <p:graphicFrame>
        <p:nvGraphicFramePr>
          <p:cNvPr id="44" name=""/>
          <p:cNvGraphicFramePr/>
          <p:nvPr/>
        </p:nvGraphicFramePr>
        <p:xfrm>
          <a:off xmlns:a="http://schemas.openxmlformats.org/drawingml/2006/main" x="594360" y="4869180"/>
          <a:ext xmlns:a="http://schemas.openxmlformats.org/drawingml/2006/main" cx="11003280" cy="1546860"/>
        </p:xfrm>
        <a:graphic xmlns:a="http://schemas.openxmlformats.org/drawingml/2006/main">
          <a:graphicData uri="http://schemas.openxmlformats.org/drawingml/2006/table">
            <a:tbl>
              <a:tblPr firstRow="0" bandRow="0"/>
              <a:tblGrid>
                <a:gridCol w="2750820"/>
                <a:gridCol w="2750820"/>
                <a:gridCol w="2750820"/>
                <a:gridCol w="2750820"/>
              </a:tblGrid>
              <a:tr h="342900">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b5cc6f20b45d4e79"/>
                        </a:rPr>
                        <a:t>Supporting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7507c8962227494b"/>
                        </a:rPr>
                        <a:t>Data sources</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rPr>
                        <a:t>Market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7a2655953d66449d"/>
                        </a:rPr>
                        <a:t>Technical documentation</a:t>
                      </a:r>
                    </a:p>
                  </a:txBody>
                  <a:tcPr marL="121920" marR="106680" marT="45720" marB="45720" anchor="ctr">
                    <a:solidFill>
                      <a:srgbClr val="234F83"/>
                    </a:solidFill>
                  </a:tcPr>
                </a:tc>
              </a:tr>
              <a:tr h="1203960">
                <a:tc>
                  <a:txBody>
                    <a:bodyPr lIns="121920" tIns="45720" rIns="106680" bIns="45720">
                      <a:noAutofit/>
                    </a:bodyPr>
                    <a:lstStyle/>
                    <a:p>
                      <a:r>
                        <a:rPr sz="1380" b="0">
                          <a:solidFill>
                            <a:srgbClr val="162B3B"/>
                          </a:solidFill>
                          <a:latin typeface="Calibri"/>
                          <a:ea typeface="Calibri"/>
                          <a:cs typeface="Calibri"/>
                        </a:rPr>
                        <a:t>CAG reports: slippages, delays, unused funds. GovTech: fraud detection, PFMS and unsupervised learning.</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MPLADS: allocations, recommendations, expenditure. PFMS: payments and vendors. Geospatial maps and asset logs.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Transparency tools for state and central ministries. Digital screening of all records. Expansion to other schemes.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React.js, FastAPI, MongoDB and Python. Isolation Forest and risk scores. Secure REST microservices.</a:t>
                      </a:r>
                    </a:p>
                  </a:txBody>
                  <a:tcPr marL="121920" marR="106680" marT="45720" marB="45720" anchor="ctr">
                    <a:solidFill>
                      <a:srgbClr val="FFFFFF"/>
                    </a:solidFill>
                  </a:tcPr>
                </a:tc>
              </a:tr>
            </a:tbl>
          </a:graphicData>
        </a:graphic>
      </p:graphicFrame>
    </p:spTree>
    <p:extLst>
      <p:ext uri="{BB962C8B-B14F-4D97-AF65-F5344CB8AC3E}">
        <p14:creationId xmlns:p14="http://schemas.microsoft.com/office/powerpoint/2010/main" val="2257732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JECT TEAM &amp; CONTRIBUTORS">
            <a:extLst xmlns:a="http://schemas.openxmlformats.org/drawingml/2006/main">
              <a:ext uri="{FF2B5EF4-FFF2-40B4-BE49-F238E27FC236}">
                <a16:creationId xmlns:a16="http://schemas.microsoft.com/office/drawing/2014/main" id="{8167CEED-EF9D-4583-B216-4D395AD0BA0E}"/>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PROJECT TEAM &amp;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42e3f7779ea4fe0"/>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FFF7300-70EF-41A8-A07A-43CC3D9ECDAC}"/>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7A11821F-4A81-4DCB-8382-8674D3FC3355}"/>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6F428A53-F562-4019-86F9-6A1CAD24D567}"/>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6 / 6">
            <a:extLst xmlns:a="http://schemas.openxmlformats.org/drawingml/2006/main">
              <a:ext uri="{FF2B5EF4-FFF2-40B4-BE49-F238E27FC236}">
                <a16:creationId xmlns:a16="http://schemas.microsoft.com/office/drawing/2014/main" id="{0D3B8C1C-9009-4576-8D1E-BF8F085288AF}"/>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6 / 6</a:t>
            </a:r>
          </a:p>
        </p:txBody>
      </p:sp>
      <p:sp>
        <p:nvSpPr>
          <p:cNvPr id="7" name="College Name: F.E.T Agra College Agra">
            <a:extLst xmlns:a="http://schemas.openxmlformats.org/drawingml/2006/main">
              <a:ext uri="{FF2B5EF4-FFF2-40B4-BE49-F238E27FC236}">
                <a16:creationId xmlns:a16="http://schemas.microsoft.com/office/drawing/2014/main" id="{E141B669-BD7C-4C42-BFD8-80CE1AB5CC59}"/>
              </a:ext>
            </a:extLst>
          </p:cNvPr>
          <p:cNvSpPr>
            <a:spLocks xmlns:a="http://schemas.openxmlformats.org/drawingml/2006/main" noGrp="1"/>
          </p:cNvSpPr>
          <p:nvPr/>
        </p:nvSpPr>
        <p:spPr>
          <a:xfrm xmlns:a="http://schemas.openxmlformats.org/drawingml/2006/main">
            <a:off x="609600" y="1325880"/>
            <a:ext cx="10744200"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B3B"/>
                </a:solidFill>
                <a:latin typeface="Calibri"/>
                <a:ea typeface="Calibri"/>
                <a:cs typeface="Calibri"/>
              </a:defRPr>
            </a:pPr>
            <a:r>
              <a:rPr sz="2100" b="0">
                <a:solidFill>
                  <a:srgbClr val="162B3B"/>
                </a:solidFill>
                <a:latin typeface="Calibri"/>
                <a:ea typeface="Calibri"/>
                <a:cs typeface="Calibri"/>
              </a:rPr>
              <a:t>College Name: F.E.T Agra College Agra</a:t>
            </a:r>
          </a:p>
        </p:txBody>
      </p:sp>
      <p:sp>
        <p:nvSpPr>
          <p:cNvPr id="8" name="Team Name: Quantum Coders">
            <a:extLst xmlns:a="http://schemas.openxmlformats.org/drawingml/2006/main">
              <a:ext uri="{FF2B5EF4-FFF2-40B4-BE49-F238E27FC236}">
                <a16:creationId xmlns:a16="http://schemas.microsoft.com/office/drawing/2014/main" id="{7FBF4FE9-D491-4FA0-89AB-1B2108FE2582}"/>
              </a:ext>
            </a:extLst>
          </p:cNvPr>
          <p:cNvSpPr>
            <a:spLocks xmlns:a="http://schemas.openxmlformats.org/drawingml/2006/main" noGrp="1"/>
          </p:cNvSpPr>
          <p:nvPr/>
        </p:nvSpPr>
        <p:spPr>
          <a:xfrm xmlns:a="http://schemas.openxmlformats.org/drawingml/2006/main">
            <a:off x="609600" y="186690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Name: Quantum Coders</a:t>
            </a:r>
          </a:p>
        </p:txBody>
      </p:sp>
      <p:sp>
        <p:nvSpPr>
          <p:cNvPr id="9" name="Team Leader: Krish Sehgal">
            <a:extLst xmlns:a="http://schemas.openxmlformats.org/drawingml/2006/main">
              <a:ext uri="{FF2B5EF4-FFF2-40B4-BE49-F238E27FC236}">
                <a16:creationId xmlns:a16="http://schemas.microsoft.com/office/drawing/2014/main" id="{6F10912C-E2C9-4F24-9FA3-9AC75F10ADE4}"/>
              </a:ext>
            </a:extLst>
          </p:cNvPr>
          <p:cNvSpPr>
            <a:spLocks xmlns:a="http://schemas.openxmlformats.org/drawingml/2006/main" noGrp="1"/>
          </p:cNvSpPr>
          <p:nvPr/>
        </p:nvSpPr>
        <p:spPr>
          <a:xfrm xmlns:a="http://schemas.openxmlformats.org/drawingml/2006/main">
            <a:off x="609600" y="229362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Leader: Krish Sehgal</a:t>
            </a:r>
          </a:p>
        </p:txBody>
      </p:sp>
      <p:graphicFrame>
        <p:nvGraphicFramePr>
          <p:cNvPr id="20" name=""/>
          <p:cNvGraphicFramePr/>
          <p:nvPr/>
        </p:nvGraphicFramePr>
        <p:xfrm>
          <a:off xmlns:a="http://schemas.openxmlformats.org/drawingml/2006/main" x="594360" y="2895600"/>
          <a:ext xmlns:a="http://schemas.openxmlformats.org/drawingml/2006/main" cx="11003280" cy="3429000"/>
        </p:xfrm>
        <a:graphic xmlns:a="http://schemas.openxmlformats.org/drawingml/2006/main">
          <a:graphicData uri="http://schemas.openxmlformats.org/drawingml/2006/table">
            <a:tbl>
              <a:tblPr firstRow="0" bandRow="0"/>
              <a:tblGrid>
                <a:gridCol w="3208020"/>
                <a:gridCol w="1905000"/>
                <a:gridCol w="3901440"/>
                <a:gridCol w="1988820"/>
              </a:tblGrid>
              <a:tr h="411480">
                <a:tc>
                  <a:txBody>
                    <a:bodyPr lIns="121920" tIns="45720" rIns="106680" bIns="45720">
                      <a:noAutofit/>
                    </a:bodyPr>
                    <a:lstStyle/>
                    <a:p>
                      <a:r>
                        <a:rPr sz="1500" b="1">
                          <a:solidFill>
                            <a:srgbClr val="FFFFFF"/>
                          </a:solidFill>
                          <a:latin typeface="Calibri"/>
                          <a:ea typeface="Calibri"/>
                          <a:cs typeface="Calibri"/>
                        </a:rPr>
                        <a:t>Name</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Roll number</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Email ID</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Branch / year</a:t>
                      </a:r>
                    </a:p>
                  </a:txBody>
                  <a:tcPr marL="121920" marR="106680" marT="45720" marB="45720" anchor="ctr">
                    <a:solidFill>
                      <a:srgbClr val="234F83"/>
                    </a:solidFill>
                  </a:tcPr>
                </a:tc>
              </a:tr>
              <a:tr h="502920">
                <a:tc>
                  <a:txBody>
                    <a:bodyPr lIns="121920" tIns="45720" rIns="106680" bIns="45720">
                      <a:noAutofit/>
                    </a:bodyPr>
                    <a:lstStyle/>
                    <a:p>
                      <a:r>
                        <a:rPr sz="1560" b="1">
                          <a:solidFill>
                            <a:srgbClr val="162B3B"/>
                          </a:solidFill>
                          <a:latin typeface="Calibri"/>
                          <a:ea typeface="Calibri"/>
                          <a:cs typeface="Calibri"/>
                        </a:rPr>
                        <a:t>Surya Pratap Singh Bais</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2500020100118</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suryasinghbais@gmail.com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2nd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Aqsa Mushir</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2400020100016</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aqsamushir@gmail.com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Shahin Khan</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2400020100092</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shahin01cse@gmail.com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Raj Prajapati</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2300020100061</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rajt65800@gmail.com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Krish Sehgal</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2300020100043</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krishsehgal08@gmail.com</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DFEEE7"/>
                    </a:solidFill>
                  </a:tcPr>
                </a:tc>
              </a:tr>
              <a:tr h="502920">
                <a:tc>
                  <a:txBody>
                    <a:bodyPr lIns="121920" tIns="45720" rIns="106680" bIns="45720">
                      <a:noAutofit/>
                    </a:bodyPr>
                    <a:lstStyle/>
                    <a:p>
                      <a:r>
                        <a:rPr sz="1560" b="1">
                          <a:solidFill>
                            <a:srgbClr val="162B3B"/>
                          </a:solidFill>
                          <a:latin typeface="Calibri"/>
                          <a:ea typeface="Calibri"/>
                          <a:cs typeface="Calibri"/>
                        </a:rPr>
                        <a:t>Vishal Sharma</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2300020100079</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vishal.sept05@gmail.com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bl>
          </a:graphicData>
        </a:graphic>
      </p:graphicFrame>
    </p:spTree>
    <p:extLst>
      <p:ext uri="{BB962C8B-B14F-4D97-AF65-F5344CB8AC3E}">
        <p14:creationId xmlns:p14="http://schemas.microsoft.com/office/powerpoint/2010/main" val="16399233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2026-09-11T04:53:00.6600000Z</dcterms:created>
  <dcterms:modified xsi:type="dcterms:W3CDTF">2026-09-11T04:53:00.6600000Z</dcterms:modified>
</coreProperties>
</file>