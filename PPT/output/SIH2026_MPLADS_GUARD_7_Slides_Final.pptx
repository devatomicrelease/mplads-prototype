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79db275a504307" /><Relationship Type="http://schemas.openxmlformats.org/officeDocument/2006/relationships/extended-properties" Target="/docProps/app.xml" Id="R34a7672aa19e4c49" /><Relationship Type="http://schemas.openxmlformats.org/officeDocument/2006/relationships/officeDocument" Target="/ppt/presentation.xml" Id="R0480a6a4a47c41e0" /></Relationships>
</file>

<file path=ppt/presentation.xml><?xml version="1.0" encoding="utf-8"?>
<p:presentation xmlns:p="http://schemas.openxmlformats.org/presentationml/2006/main">
  <p:sldMasterIdLst>
    <p:sldMasterId xmlns:r="http://schemas.openxmlformats.org/officeDocument/2006/relationships" id="2147483648" r:id="R234f9eeda0064ad3"/>
  </p:sldMasterIdLst>
  <p:notesMasterIdLst>
    <p:notesMasterId xmlns:r="http://schemas.openxmlformats.org/officeDocument/2006/relationships" r:id="R57151a4e2eb44172"/>
  </p:notesMasterIdLst>
  <p:sldIdLst>
    <p:sldId xmlns:r="http://schemas.openxmlformats.org/officeDocument/2006/relationships" id="256" r:id="Rf778db9b26e04472"/>
    <p:sldId xmlns:r="http://schemas.openxmlformats.org/officeDocument/2006/relationships" id="257" r:id="R979df35ebda2461e"/>
    <p:sldId xmlns:r="http://schemas.openxmlformats.org/officeDocument/2006/relationships" id="258" r:id="R223028343e68469c"/>
    <p:sldId xmlns:r="http://schemas.openxmlformats.org/officeDocument/2006/relationships" id="259" r:id="Rc50ae98d9ad446bf"/>
    <p:sldId xmlns:r="http://schemas.openxmlformats.org/officeDocument/2006/relationships" id="260" r:id="Rcd802cef68a3415e"/>
    <p:sldId xmlns:r="http://schemas.openxmlformats.org/officeDocument/2006/relationships" id="261" r:id="R8954bf3dd05b44f7"/>
    <p:sldId xmlns:r="http://schemas.openxmlformats.org/officeDocument/2006/relationships" id="262" r:id="Reed68aef460f40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d3014348214eb6" /><Relationship Type="http://schemas.openxmlformats.org/officeDocument/2006/relationships/slideMaster" Target="/ppt/slideMasters/slideMaster1.xml" Id="R234f9eeda0064ad3" /><Relationship Type="http://schemas.openxmlformats.org/officeDocument/2006/relationships/notesMaster" Target="/ppt/notesMasters/notesMaster1.xml" Id="R57151a4e2eb44172" /><Relationship Type="http://schemas.openxmlformats.org/officeDocument/2006/relationships/presProps" Target="/ppt/presProps.xml" Id="Rdd7f7b9d2b57479d" /><Relationship Type="http://schemas.openxmlformats.org/officeDocument/2006/relationships/tableStyles" Target="/ppt/tableStyles.xml" Id="R99f90fae9192436f" /><Relationship Type="http://schemas.openxmlformats.org/officeDocument/2006/relationships/slide" Target="/ppt/slides/slide1.xml" Id="Rf778db9b26e04472" /><Relationship Type="http://schemas.openxmlformats.org/officeDocument/2006/relationships/slide" Target="/ppt/slides/slide2.xml" Id="R979df35ebda2461e" /><Relationship Type="http://schemas.openxmlformats.org/officeDocument/2006/relationships/slide" Target="/ppt/slides/slide3.xml" Id="R223028343e68469c" /><Relationship Type="http://schemas.openxmlformats.org/officeDocument/2006/relationships/slide" Target="/ppt/slides/slide4.xml" Id="Rc50ae98d9ad446bf" /><Relationship Type="http://schemas.openxmlformats.org/officeDocument/2006/relationships/slide" Target="/ppt/slides/slide5.xml" Id="Rcd802cef68a3415e" /><Relationship Type="http://schemas.openxmlformats.org/officeDocument/2006/relationships/slide" Target="/ppt/slides/slide6.xml" Id="R8954bf3dd05b44f7" /><Relationship Type="http://schemas.openxmlformats.org/officeDocument/2006/relationships/slide" Target="/ppt/slides/slide7.xml" Id="Reed68aef460f40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c6fc02c2d54e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2f9ca533f44583" /><Relationship Type="http://schemas.openxmlformats.org/officeDocument/2006/relationships/notesMaster" Target="/ppt/notesMasters/notesMaster1.xml" Id="Rfd2a7134a8494e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2e5708befb4fb6" /><Relationship Type="http://schemas.openxmlformats.org/officeDocument/2006/relationships/notesMaster" Target="/ppt/notesMasters/notesMaster1.xml" Id="Rd758c55bd2f64b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1f4fceb13140dd" /><Relationship Type="http://schemas.openxmlformats.org/officeDocument/2006/relationships/notesMaster" Target="/ppt/notesMasters/notesMaster1.xml" Id="Ra8b191f5cf4241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0253302380421e" /><Relationship Type="http://schemas.openxmlformats.org/officeDocument/2006/relationships/notesMaster" Target="/ppt/notesMasters/notesMaster1.xml" Id="Raf0613cb31bb4f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368958fbea40cd" /><Relationship Type="http://schemas.openxmlformats.org/officeDocument/2006/relationships/notesMaster" Target="/ppt/notesMasters/notesMaster1.xml" Id="Rec19d817b21a40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9dbddc31d04d7c" /><Relationship Type="http://schemas.openxmlformats.org/officeDocument/2006/relationships/notesMaster" Target="/ppt/notesMasters/notesMaster1.xml" Id="R1382afddfdf749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0d889adada4027" /><Relationship Type="http://schemas.openxmlformats.org/officeDocument/2006/relationships/notesMaster" Target="/ppt/notesMasters/notesMaster1.xml" Id="R7d277df06f1242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MPLADS-GUARD. Team: Quantum Coders. Event: Smart India Hackathon 2026. Problem Statement ID: SIH26102 (numeric ID 26102). Theme: Smart Automation. PS category: Software.</a:t>
            </a:r>
          </a:p>
          <a:p xmlns:a="http://schemas.openxmlformats.org/drawingml/2006/main">
            <a:r>
              <a:t>Official title supplied in the project: Development of an AI-powered system to detect anomalies, fraud, and inefficiencies in MPLAD Scheme implementation regd.</a:t>
            </a:r>
          </a:p>
          <a:p xmlns:a="http://schemas.openxmlformats.org/drawingml/2006/main">
            <a:r>
              <a:t>MPLADS means Members of Parliament Local Area Development Scheme. The platform concept covers approvals and sanctions, expenditure, cost estimates, payments, work progress, completion status and asset evidence. It serves Members of Parliament, State Nodal Authorities, District Authorities and the Ministry.</a:t>
            </a:r>
          </a:p>
          <a:p xmlns:a="http://schemas.openxmlformats.org/drawingml/2006/main">
            <a:r>
              <a:t>Source: user-supplied project PDF, page 1; project Problem statement.txt. Project status here is a proposed solution overview. Team ID was not supplied.</a:t>
            </a:r>
          </a:p>
          <a:p xmlns:a="http://schemas.openxmlformats.org/drawingml/2006/main">
            <a:r>
              <a:t>SIH2026-IDEA-Presentation-Format.pptx supplies the event identity and content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t>
            </a:r>
          </a:p>
          <a:p xmlns:a="http://schemas.openxmlformats.org/drawingml/2006/main">
            <a:r>
              <a:t>Manual tracking of financial and project records at scheme scale creates oversight gaps. The proposal translates broad notions of fraud and inefficiency into concrete, computable signals. A flagged anomaly is a reason to investigate, not a legal finding of fraud.</a:t>
            </a:r>
          </a:p>
          <a:p xmlns:a="http://schemas.openxmlformats.org/drawingml/2006/main">
            <a:r>
              <a:t>March Rush: identify unusually fast or unverified expenditure before the end of the financial year. MPLADS funds are non-lapsable, so this signal should measure unusual behavior rather than assume funds must be spent by year end.</a:t>
            </a:r>
          </a:p>
          <a:p xmlns:a="http://schemas.openxmlformats.org/drawingml/2006/main">
            <a:r>
              <a:t>Ghost assets: projects marked completed without verifiable geotagged proof.</a:t>
            </a:r>
          </a:p>
          <a:p xmlns:a="http://schemas.openxmlformats.org/drawingml/2006/main">
            <a:r>
              <a:t>Duplicate assets and billing: compare work descriptions, invoices, vendor records and geospatial proximity.</a:t>
            </a:r>
          </a:p>
          <a:p xmlns:a="http://schemas.openxmlformats.org/drawingml/2006/main">
            <a:r>
              <a:t>Compliance gaps: monitor SC and ST allocation rules independently and version the thresholds to the applicable guidelines. The source PDF states a combined 15% SC/ST quota; its intended allocation-compliance feature is retained. The 15% SC and 7.5% ST benchmarks appear separately in official MPLADS reference material; verify the applicable 2023 guideline and amendments before activating compliance rules.</a:t>
            </a:r>
          </a:p>
          <a:p xmlns:a="http://schemas.openxmlformats.org/drawingml/2006/main">
            <a:r>
              <a:t>Skewed utility: funds concentrated on a single asset type can warrant assessment against local needs. Concentration alone does not establish misuse.</a:t>
            </a:r>
          </a:p>
          <a:p xmlns:a="http://schemas.openxmlformats.org/drawingml/2006/main">
            <a:r>
              <a:t>SOLUTION AND DISTINCTIVENESS</a:t>
            </a:r>
          </a:p>
          <a:p xmlns:a="http://schemas.openxmlformats.org/drawingml/2006/main">
            <a:r>
              <a:t>Raw government data enters a rule engine and AI/ML analysis stage. Computable signals feed anomaly flags and dashboards. Historical financial behavior supports detection of vendor favoritism, March Rush and other outliers. Cross-verification of images, coordinates and invoices supports review of ghost and duplicate works. Alerts cover SC/ST allocation drops and mid-project cost overruns, with timeliness dependent on incoming data.</a:t>
            </a:r>
          </a:p>
          <a:p xmlns:a="http://schemas.openxmlformats.org/drawingml/2006/main">
            <a:r>
              <a:t>Key value proposition: prevent financial leakage from ghost works and inflated costs, make portal data understandable and support eventual nationwide scale. These are intended benefits to validate, not measured outcomes.</a:t>
            </a:r>
          </a:p>
          <a:p xmlns:a="http://schemas.openxmlformats.org/drawingml/2006/main">
            <a:r>
              <a:t>Source: user-supplied project PDF, page 2. Supporting government context: https://mplads.gov.in/ and https://mplads.gov.in/MPLADS/En/2034.aspx. CAG historical performance audit: https://cag.gov.in/en/audit-report/details/2341.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a:t>
            </a:r>
          </a:p>
          <a:p xmlns:a="http://schemas.openxmlformats.org/drawingml/2006/main">
            <a:r>
              <a:t>Client and UI: React.js administrative dashboard, live risk heatmaps and charts. The client sends API requests and receives JSON responses.</a:t>
            </a:r>
          </a:p>
          <a:p xmlns:a="http://schemas.openxmlformats.org/drawingml/2006/main">
            <a:r>
              <a:t>API gateway: FastAPI implements authentication, routing and REST API endpoints. FastAPI handles requests for source records, sends normalized records to Python analytics services and returns risk flags to the client. The Python API service also manages data access and returns evidence for each alert.</a:t>
            </a:r>
          </a:p>
          <a:p xmlns:a="http://schemas.openxmlformats.org/drawingml/2006/main">
            <a:r>
              <a:t>Database: MongoDB retains invoices, tenders, relevant project records and analytics results. Authorized records are fetched for processing.</a:t>
            </a:r>
          </a:p>
          <a:p xmlns:a="http://schemas.openxmlformats.org/drawingml/2006/main">
            <a:r>
              <a:t>AI/ML core: Pandas data cleansing, feature engineering for March Rush and geotags, inference using Isolation Forest and other scikit-learn models, and a risk-scoring matrix with high, medium and low tiers.</a:t>
            </a:r>
          </a:p>
          <a:p xmlns:a="http://schemas.openxmlformats.org/drawingml/2006/main">
            <a:r>
              <a:t>DETAILED AI/ML PIPELINE</a:t>
            </a:r>
          </a:p>
          <a:p xmlns:a="http://schemas.openxmlformats.org/drawingml/2006/main">
            <a:r>
              <a:t>1. Ingestion and cleansing: raw financial logs comprising invoices and tenders; Pandas pipeline for missing-value imputation and normalization.</a:t>
            </a:r>
          </a:p>
          <a:p xmlns:a="http://schemas.openxmlformats.org/drawingml/2006/main">
            <a:r>
              <a:t>2. Advanced feature engineering: spatial coordinate verifier for geotag proximity and matches; financial ratio matrix for cost overruns and deficit ratios; time-series extractor for March Rush spending velocity.</a:t>
            </a:r>
          </a:p>
          <a:p xmlns:a="http://schemas.openxmlformats.org/drawingml/2006/main">
            <a:r>
              <a:t>3. Multi-model inference: vector similarity matcher for duplicate invoices and vendor checks; Isolation Forest for unsupervised outliers; a Random Forest classifier retained as a candidate for labeled case classification. Explicit scheme compliance remains in a deterministic rule engine.</a:t>
            </a:r>
          </a:p>
          <a:p xmlns:a="http://schemas.openxmlformats.org/drawingml/2006/main">
            <a:r>
              <a:t>4. Risk aggregation and scoring: a weighted risk engine combines the signals. A configurable dynamic threshold matrix assigns high, medium or low risk with supporting evidence.</a:t>
            </a:r>
          </a:p>
          <a:p xmlns:a="http://schemas.openxmlformats.org/drawingml/2006/main">
            <a:r>
              <a:t>Technology list: Python, TensorFlow, NumPy, Pandas, scikit-learn, MongoDB, FastAPI and React.js. TensorFlow remains in the proposed AI toolkit. Supervised models depend on suitable verified labels and evaluation.</a:t>
            </a:r>
          </a:p>
          <a:p xmlns:a="http://schemas.openxmlformats.org/drawingml/2006/main">
            <a:r>
              <a:t>DATA SOURCES</a:t>
            </a:r>
          </a:p>
          <a:p xmlns:a="http://schemas.openxmlformats.org/drawingml/2006/main">
            <a:r>
              <a:t>MPLADS portal: allocations, MP recommendations and expenditure reports.</a:t>
            </a:r>
          </a:p>
          <a:p xmlns:a="http://schemas.openxmlformats.org/drawingml/2006/main">
            <a:r>
              <a:t>PFMS: proposed authorized digital transaction trails and vendor-payment records. Access is a project dependency, not an established integration.</a:t>
            </a:r>
          </a:p>
          <a:p xmlns:a="http://schemas.openxmlformats.org/drawingml/2006/main">
            <a:r>
              <a:t>Geospatial records: district maps, coordinates and geotagged asset logs.</a:t>
            </a:r>
          </a:p>
          <a:p xmlns:a="http://schemas.openxmlformats.org/drawingml/2006/main">
            <a:r>
              <a:t>Source: user-supplied PDF, page 3 (both architecture diagrams and technology list) and page 6. Documentation: https://fastapi.tiangolo.com/features/ and https://scikit-learn.org/stable/modules/generated/sklearn.ensemble.IsolationForest.html. Data source references: https://mplads.gov.in/ and https://pfms.nic.in/.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ASSESSMENT AND MITIGATION</a:t>
            </a:r>
          </a:p>
          <a:p xmlns:a="http://schemas.openxmlformats.org/drawingml/2006/main">
            <a:r>
              <a:t>Data transparency risk: district expenditure reports can be vague or delayed. Proposed mitigation is automated invoice and tender ingestion through the FastAPI backend, with schema and freshness checks. Automation cannot recover evidence that authorities do not provide. Near-real-time monitoring requires suitably timely authorized feeds.</a:t>
            </a:r>
          </a:p>
          <a:p xmlns:a="http://schemas.openxmlformats.org/drawingml/2006/main">
            <a:r>
              <a:t>Auditing bottlenecks: manual auditing is costly and creates oversight lags. Isolation Forest and automated anomaly screening prioritize suspicious cases and reduce repetitive manual work. Physical inspections remain appropriate when documentary evidence is insufficient.</a:t>
            </a:r>
          </a:p>
          <a:p xmlns:a="http://schemas.openxmlformats.org/drawingml/2006/main">
            <a:r>
              <a:t>False positives and credibility: reviewers may question whether a flagged case indicates corruption. A multi-tier risk scoring matrix should expose verifiable district-level evidence. Human investigation determines whether a flag reflects genuine misuse.</a:t>
            </a:r>
          </a:p>
          <a:p xmlns:a="http://schemas.openxmlformats.org/drawingml/2006/main">
            <a:r>
              <a:t>TECHNICAL FEASIBILITY</a:t>
            </a:r>
          </a:p>
          <a:p xmlns:a="http://schemas.openxmlformats.org/drawingml/2006/main">
            <a:r>
              <a:t>React.js UI, FastAPI APIs and MongoDB persistence form the application. Python analytics services use Pandas for cleansing and scikit-learn for financial behavior modeling. NumPy supports numeric processing; TensorFlow is retained for advanced model work. REST interfaces connect the components. Secure cloud architecture targets nationwide district transaction volumes, subject to load and security testing.</a:t>
            </a:r>
          </a:p>
          <a:p xmlns:a="http://schemas.openxmlformats.org/drawingml/2006/main">
            <a:r>
              <a:t>RESOURCE REQUIREMENTS</a:t>
            </a:r>
          </a:p>
          <a:p xmlns:a="http://schemas.openxmlformats.org/drawingml/2006/main">
            <a:r>
              <a:t>Backend and database hosting, with AWS or Render among the original deployment options. Vercel can host the React frontend. The UI needs responsive dashboard components, charting libraries and live risk heatmaps.</a:t>
            </a:r>
          </a:p>
          <a:p xmlns:a="http://schemas.openxmlformats.org/drawingml/2006/main">
            <a:r>
              <a:t>ECONOMIC APPROACH</a:t>
            </a:r>
          </a:p>
          <a:p xmlns:a="http://schemas.openxmlformats.org/drawingml/2006/main">
            <a:r>
              <a:t>Administrative cost efficiency: reduce physical audit delays, paperwork and bureaucratic burden for district authorities.</a:t>
            </a:r>
          </a:p>
          <a:p xmlns:a="http://schemas.openxmlformats.org/drawingml/2006/main">
            <a:r>
              <a:t>Optimized public spending: identify suspicious year-end spending and ghost projects to reduce avoidable loss. The original proposal expresses potential savings in crores, but provides no quantified evaluation; that ambition is unvalidated.</a:t>
            </a:r>
          </a:p>
          <a:p xmlns:a="http://schemas.openxmlformats.org/drawingml/2006/main">
            <a:r>
              <a:t>National scalability and SaaS potential: adapt the platform for other ministries, states and enterprise governance use cases.</a:t>
            </a:r>
          </a:p>
          <a:p xmlns:a="http://schemas.openxmlformats.org/drawingml/2006/main">
            <a:r>
              <a:t>Source: user-supplied PDF, page 4 and technical documentation section on page 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AND BENEFITS</a:t>
            </a:r>
          </a:p>
          <a:p xmlns:a="http://schemas.openxmlformats.org/drawingml/2006/main">
            <a:r>
              <a:t>Governance and transparency: reduce information asymmetry between central authorities, local districts and citizens with a shared, traceable view of fund use and project progress.</a:t>
            </a:r>
          </a:p>
          <a:p xmlns:a="http://schemas.openxmlformats.org/drawingml/2006/main">
            <a:r>
              <a:t>Economic and financial impact: prevent avoidable loss from suspicious March Rush spending, ghost-project funding and misallocation. Financial savings require measurement in a pilot.</a:t>
            </a:r>
          </a:p>
          <a:p xmlns:a="http://schemas.openxmlformats.org/drawingml/2006/main">
            <a:r>
              <a:t>Operational impact: the source proposal targets 100% automated screening to replace slow sample-based monitoring. The practical target is to screen all ingested eligible digital records, issue timely alerts and support prioritized human or physical audits. This is not a claim of 100% fraud-detection accuracy or a measured result.</a:t>
            </a:r>
          </a:p>
          <a:p xmlns:a="http://schemas.openxmlformats.org/drawingml/2006/main">
            <a:r>
              <a:t>National and community impact: strengthen grassroots infrastructure and ensure that MPLADS spending benefits intended communities. The objective is financial transparency and greater public welfare.</a:t>
            </a:r>
          </a:p>
          <a:p xmlns:a="http://schemas.openxmlformats.org/drawingml/2006/main">
            <a:r>
              <a:t>FUTURE PROSPECTS</a:t>
            </a:r>
          </a:p>
          <a:p xmlns:a="http://schemas.openxmlformats.org/drawingml/2006/main">
            <a:r>
              <a:t>1. Cross-scheme scalability: adapt the architecture beyond MPLADS to MGNREGA, PMGSY (Pradhan Mantri Gram Sadak Yojana) and other central and state welfare schemes.</a:t>
            </a:r>
          </a:p>
          <a:p xmlns:a="http://schemas.openxmlformats.org/drawingml/2006/main">
            <a:r>
              <a:t>2. Predictive AI: advanced time-series models to forecast budget deficits and fund overruns.</a:t>
            </a:r>
          </a:p>
          <a:p xmlns:a="http://schemas.openxmlformats.org/drawingml/2006/main">
            <a:r>
              <a:t>3. Blockchain integration: explore immutable vendor-invoice logging to improve traceability and resistance to tampering. Such a ledger does not independently prove input truth or eliminate every duplicate.</a:t>
            </a:r>
          </a:p>
          <a:p xmlns:a="http://schemas.openxmlformats.org/drawingml/2006/main">
            <a:r>
              <a:t>4. Citizen mobile app: crowdsource geotagged inspections of local public assets.</a:t>
            </a:r>
          </a:p>
          <a:p xmlns:a="http://schemas.openxmlformats.org/drawingml/2006/main">
            <a:r>
              <a:t>5. Automated policy recommendations: use historical anomaly patterns to suggest improved compliance guidelines for ministry review.</a:t>
            </a:r>
          </a:p>
          <a:p xmlns:a="http://schemas.openxmlformats.org/drawingml/2006/main">
            <a:r>
              <a:t>Source: rough PDF, page 5. Roadmap items are proposed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AND REFERENCES</a:t>
            </a:r>
          </a:p>
          <a:p xmlns:a="http://schemas.openxmlformats.org/drawingml/2006/main">
            <a:r>
              <a:t>Supporting research: CAG performance audit reports motivate attention to fund slippages, delays and unutilized allocations. Historical MPLADS audit example: Report No. 31 of 2010, tabled 18 March 2011. https://cag.gov.in/en/audit-report/details/2341</a:t>
            </a:r>
          </a:p>
          <a:p xmlns:a="http://schemas.openxmlformats.org/drawingml/2006/main">
            <a:r>
              <a:t>Academic research areas retained from the source: automated fraud detection, GovTech, public financial management systems (PFMS), and unsupervised anomaly detection in the public sector. The original PDF provides no individual paper titles, so no specific paper is claimed as reviewed.</a:t>
            </a:r>
          </a:p>
          <a:p xmlns:a="http://schemas.openxmlformats.org/drawingml/2006/main">
            <a:r>
              <a:t>Data sources: MPLADS allocations, recommendations and expenditure reporting (https://mplads.gov.in/); proposed authorized PFMS transaction trails and vendor-payment records (https://pfms.nic.in/); district maps, coordinates and geotagged asset logs.</a:t>
            </a:r>
          </a:p>
          <a:p xmlns:a="http://schemas.openxmlformats.org/drawingml/2006/main">
            <a:r>
              <a:t>Market research hypotheses: state and central ministries need transparency tools; broader digital coverage could improve on manual sampling; the same approach could apply across schemes. These represent proposed demand and efficiency hypotheses, not a completed market study.</a:t>
            </a:r>
          </a:p>
          <a:p xmlns:a="http://schemas.openxmlformats.org/drawingml/2006/main">
            <a:r>
              <a:t>Technical references: Python analytics with Pandas, NumPy, scikit-learn and TensorFlow; React.js UI, MongoDB data storage and FastAPI REST microservices. FastAPI documentation: https://fastapi.tiangolo.com/features/. Isolation Forest documentation: https://scikit-learn.org/stable/modules/generated/sklearn.ensemble.IsolationForest.html. Official MPLADS guidelines landing page: https://mplads.gov.in/MPLADS/En/2034.aspx.</a:t>
            </a:r>
          </a:p>
          <a:p xmlns:a="http://schemas.openxmlformats.org/drawingml/2006/main">
            <a:r>
              <a:t>Source content: user-supplied PDF, pages 5 and 6. All roadmap items are proposed, not implemented capabilities.</a:t>
            </a:r>
          </a:p>
          <a:p xmlns:a="http://schemas.openxmlformats.org/drawingml/2006/main">
            <a:r>
              <a:t>PFMS integration requires authorized access. Market demand is a hypothesis from the proposal rather than an independently measured market study. The rough PDF names research themes without individual academic paper titles. Its decorative Mobile/Desktop/Tablet chart has no project evidence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a:t>
            </a:r>
          </a:p>
          <a:p xmlns:a="http://schemas.openxmlformats.org/drawingml/2006/main">
            <a:r>
              <a:t>Registered team name: Quantum Coders. College: F.E.T Agra College Agra. Team Leader: Krish Sehgal.</a:t>
            </a:r>
          </a:p>
          <a:p xmlns:a="http://schemas.openxmlformats.org/drawingml/2006/main">
            <a:r>
              <a:t>Surya Pratap Singh Bais; roll 2500020100118; suryasinghbais@gmail.com; CSE, 2nd year.</a:t>
            </a:r>
          </a:p>
          <a:p xmlns:a="http://schemas.openxmlformats.org/drawingml/2006/main">
            <a:r>
              <a:t>Aqsa Mushir; roll 2400020100016; aqsamushir@gmail.com; CSE, 3rd year.</a:t>
            </a:r>
          </a:p>
          <a:p xmlns:a="http://schemas.openxmlformats.org/drawingml/2006/main">
            <a:r>
              <a:t>Shahin Khan; roll 2400020100092; shahin01cse@gmail.com; CSE, 3rd year.</a:t>
            </a:r>
          </a:p>
          <a:p xmlns:a="http://schemas.openxmlformats.org/drawingml/2006/main">
            <a:r>
              <a:t>Raj Prajapati; roll 2300020100061; rajt65800@gmail.com; CSE, 4th year.</a:t>
            </a:r>
          </a:p>
          <a:p xmlns:a="http://schemas.openxmlformats.org/drawingml/2006/main">
            <a:r>
              <a:t>Krish Sehgal; roll 2300020100043; krishsehgal08@gmail.com; CSE, 4th year.</a:t>
            </a:r>
          </a:p>
          <a:p xmlns:a="http://schemas.openxmlformats.org/drawingml/2006/main">
            <a:r>
              <a:t>Vishal Sharma; roll 2300020100079; vishal.sept05@gmail.com; CSE, 4th year.</a:t>
            </a:r>
          </a:p>
          <a:p xmlns:a="http://schemas.openxmlformats.org/drawingml/2006/main">
            <a:r>
              <a:t>Source: user-supplied project PDF, page 7. Logo: original artwork embedded in SIH2026-IDEA-Presentation-Format.pptx.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f7e7a83a2b42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f192981a5247ae" /><Relationship Type="http://schemas.openxmlformats.org/officeDocument/2006/relationships/slideLayout" Target="/ppt/slideLayouts/slideLayout1.xml" Id="R95330f1c31f548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330f1c31f548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e1bec7f1720c4677"/><Relationship Type="http://schemas.openxmlformats.org/officeDocument/2006/relationships/image" Target="/ppt/media/image.png" Id="Rd8d9ee5dbcaa4c06"/><Relationship Type="http://schemas.openxmlformats.org/officeDocument/2006/relationships/notesSlide" Target="/ppt/notesSlides/notesSlide1.xml" Id="R8ab5c7b064334ad0"/></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f372dda02ee94d11"/><Relationship Type="http://schemas.openxmlformats.org/officeDocument/2006/relationships/image" Target="/ppt/media/image.png" Id="Ra219eaf024744649"/><Relationship Type="http://schemas.openxmlformats.org/officeDocument/2006/relationships/notesSlide" Target="/ppt/notesSlides/notesSlide2.xml" Id="R2748a31643284b6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a12a339286bf4da0"/><Relationship Type="http://schemas.openxmlformats.org/officeDocument/2006/relationships/image" Target="/ppt/media/image.png" Id="R6f3e5979c4544dba"/><Relationship Type="http://schemas.openxmlformats.org/officeDocument/2006/relationships/notesSlide" Target="/ppt/notesSlides/notesSlide3.xml" Id="Rd19e8ac113634d1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978d019f03884601"/><Relationship Type="http://schemas.openxmlformats.org/officeDocument/2006/relationships/image" Target="/ppt/media/image.png" Id="Rf7f226054709448e"/><Relationship Type="http://schemas.openxmlformats.org/officeDocument/2006/relationships/notesSlide" Target="/ppt/notesSlides/notesSlide4.xml" Id="Reb258bdd8da240b0"/></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af949e85e644b33"/><Relationship Type="http://schemas.openxmlformats.org/officeDocument/2006/relationships/image" Target="/ppt/media/image.png" Id="R8709f844fdf34772"/><Relationship Type="http://schemas.openxmlformats.org/officeDocument/2006/relationships/notesSlide" Target="/ppt/notesSlides/notesSlide5.xml" Id="R8f208c5c9722431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0f308816c2e14984"/><Relationship Type="http://schemas.openxmlformats.org/officeDocument/2006/relationships/image" Target="/ppt/media/image.png" Id="R7898a17607b0421d"/><Relationship Type="http://schemas.openxmlformats.org/officeDocument/2006/relationships/hyperlink" Target="https://cag.gov.in/en/audit-report/details/2341" TargetMode="External" Id="Rbc3894d0a76547ca"/><Relationship Type="http://schemas.openxmlformats.org/officeDocument/2006/relationships/hyperlink" Target="https://mplads.gov.in/" TargetMode="External" Id="R953bfbd2ce4e407f"/><Relationship Type="http://schemas.openxmlformats.org/officeDocument/2006/relationships/hyperlink" Target="https://pfms.nic.in/" TargetMode="External" Id="R097d1f1e7689431a"/><Relationship Type="http://schemas.openxmlformats.org/officeDocument/2006/relationships/hyperlink" Target="https://fastapi.tiangolo.com/features/" TargetMode="External" Id="R51deb4dcb19541af"/><Relationship Type="http://schemas.openxmlformats.org/officeDocument/2006/relationships/hyperlink" Target="https://scikit-learn.org/stable/modules/generated/sklearn.ensemble.IsolationForest.html" TargetMode="External" Id="R5f1643a1151f4207"/><Relationship Type="http://schemas.openxmlformats.org/officeDocument/2006/relationships/notesSlide" Target="/ppt/notesSlides/notesSlide6.xml" Id="R1566f76566ef4d7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de64c7787a448e0"/><Relationship Type="http://schemas.openxmlformats.org/officeDocument/2006/relationships/image" Target="/ppt/media/image.png" Id="Redefa7305ce34281"/><Relationship Type="http://schemas.openxmlformats.org/officeDocument/2006/relationships/notesSlide" Target="/ppt/notesSlides/notesSlide7.xml" Id="R3e07d84ad6714d92"/></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MART INDIA HACKATHON 2026">
            <a:extLst xmlns:a="http://schemas.openxmlformats.org/drawingml/2006/main">
              <a:ext uri="{FF2B5EF4-FFF2-40B4-BE49-F238E27FC236}">
                <a16:creationId xmlns:a16="http://schemas.microsoft.com/office/drawing/2014/main" id="{E68EF221-AD48-43DD-A09F-5212AA972888}"/>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SMART INDIA HACKATHON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8d9ee5dbcaa4c06"/>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C7792B7-98C9-484A-B7F9-CB82D5D58BAB}"/>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D09D5581-298F-4FBF-9774-A615A1B26AA5}"/>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CA2E0AE8-C3CA-4399-9C30-F4487581EA68}"/>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1 / 7">
            <a:extLst xmlns:a="http://schemas.openxmlformats.org/drawingml/2006/main">
              <a:ext uri="{FF2B5EF4-FFF2-40B4-BE49-F238E27FC236}">
                <a16:creationId xmlns:a16="http://schemas.microsoft.com/office/drawing/2014/main" id="{A4EF27F5-E95C-4D64-9013-3DE009294DCE}"/>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1 / 7</a:t>
            </a:r>
          </a:p>
        </p:txBody>
      </p:sp>
      <p:sp>
        <p:nvSpPr>
          <p:cNvPr id="7" name="MPLADS-GUARD">
            <a:extLst xmlns:a="http://schemas.openxmlformats.org/drawingml/2006/main">
              <a:ext uri="{FF2B5EF4-FFF2-40B4-BE49-F238E27FC236}">
                <a16:creationId xmlns:a16="http://schemas.microsoft.com/office/drawing/2014/main" id="{16EECCF3-FD1C-4FF5-9364-FF33AE1BC42A}"/>
              </a:ext>
            </a:extLst>
          </p:cNvPr>
          <p:cNvSpPr>
            <a:spLocks xmlns:a="http://schemas.openxmlformats.org/drawingml/2006/main" noGrp="1"/>
          </p:cNvSpPr>
          <p:nvPr/>
        </p:nvSpPr>
        <p:spPr>
          <a:xfrm xmlns:a="http://schemas.openxmlformats.org/drawingml/2006/main">
            <a:off x="586740" y="1463040"/>
            <a:ext cx="10668000" cy="739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80" b="1">
                <a:solidFill>
                  <a:srgbClr val="234F83"/>
                </a:solidFill>
                <a:latin typeface="Calibri"/>
                <a:ea typeface="Calibri"/>
                <a:cs typeface="Calibri"/>
              </a:defRPr>
            </a:pPr>
            <a:r>
              <a:rPr sz="4380" b="1">
                <a:solidFill>
                  <a:srgbClr val="234F83"/>
                </a:solidFill>
                <a:latin typeface="Calibri"/>
                <a:ea typeface="Calibri"/>
                <a:cs typeface="Calibri"/>
              </a:rPr>
              <a:t>MPLADS-GUARD</a:t>
            </a:r>
          </a:p>
        </p:txBody>
      </p:sp>
      <p:sp>
        <p:nvSpPr>
          <p:cNvPr id="8" name="AI-driven anomaly detection for government funds">
            <a:extLst xmlns:a="http://schemas.openxmlformats.org/drawingml/2006/main">
              <a:ext uri="{FF2B5EF4-FFF2-40B4-BE49-F238E27FC236}">
                <a16:creationId xmlns:a16="http://schemas.microsoft.com/office/drawing/2014/main" id="{AE43D2BE-8A19-4EDC-8DAC-090DA61C5577}"/>
              </a:ext>
            </a:extLst>
          </p:cNvPr>
          <p:cNvSpPr>
            <a:spLocks xmlns:a="http://schemas.openxmlformats.org/drawingml/2006/main" noGrp="1"/>
          </p:cNvSpPr>
          <p:nvPr/>
        </p:nvSpPr>
        <p:spPr>
          <a:xfrm xmlns:a="http://schemas.openxmlformats.org/drawingml/2006/main">
            <a:off x="617220" y="217932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40" b="0">
                <a:solidFill>
                  <a:srgbClr val="162B3B"/>
                </a:solidFill>
                <a:latin typeface="Calibri"/>
                <a:ea typeface="Calibri"/>
                <a:cs typeface="Calibri"/>
              </a:defRPr>
            </a:pPr>
            <a:r>
              <a:rPr sz="2040" b="0">
                <a:solidFill>
                  <a:srgbClr val="162B3B"/>
                </a:solidFill>
                <a:latin typeface="Calibri"/>
                <a:ea typeface="Calibri"/>
                <a:cs typeface="Calibri"/>
              </a:rPr>
              <a:t>AI-driven anomaly detection for government funds</a:t>
            </a:r>
          </a:p>
        </p:txBody>
      </p:sp>
      <p:sp>
        <p:nvSpPr>
          <p:cNvPr id="9" name="Problem Statement ID">
            <a:extLst xmlns:a="http://schemas.openxmlformats.org/drawingml/2006/main">
              <a:ext uri="{FF2B5EF4-FFF2-40B4-BE49-F238E27FC236}">
                <a16:creationId xmlns:a16="http://schemas.microsoft.com/office/drawing/2014/main" id="{1491161F-44AD-478B-A705-522DA3DD0AD9}"/>
              </a:ext>
            </a:extLst>
          </p:cNvPr>
          <p:cNvSpPr>
            <a:spLocks xmlns:a="http://schemas.openxmlformats.org/drawingml/2006/main" noGrp="1"/>
          </p:cNvSpPr>
          <p:nvPr/>
        </p:nvSpPr>
        <p:spPr>
          <a:xfrm xmlns:a="http://schemas.openxmlformats.org/drawingml/2006/main">
            <a:off x="624840" y="289560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ID</a:t>
            </a:r>
          </a:p>
        </p:txBody>
      </p:sp>
      <p:sp>
        <p:nvSpPr>
          <p:cNvPr id="10" name="SIH26102">
            <a:extLst xmlns:a="http://schemas.openxmlformats.org/drawingml/2006/main">
              <a:ext uri="{FF2B5EF4-FFF2-40B4-BE49-F238E27FC236}">
                <a16:creationId xmlns:a16="http://schemas.microsoft.com/office/drawing/2014/main" id="{C8FB3610-C82B-4F81-AE20-1604A44F9438}"/>
              </a:ext>
            </a:extLst>
          </p:cNvPr>
          <p:cNvSpPr>
            <a:spLocks xmlns:a="http://schemas.openxmlformats.org/drawingml/2006/main" noGrp="1"/>
          </p:cNvSpPr>
          <p:nvPr/>
        </p:nvSpPr>
        <p:spPr>
          <a:xfrm xmlns:a="http://schemas.openxmlformats.org/drawingml/2006/main">
            <a:off x="3764280" y="2895600"/>
            <a:ext cx="7543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SIH26102</a:t>
            </a:r>
          </a:p>
        </p:txBody>
      </p:sp>
      <p:sp>
        <p:nvSpPr>
          <p:cNvPr id="11" name="Problem Statement Title">
            <a:extLst xmlns:a="http://schemas.openxmlformats.org/drawingml/2006/main">
              <a:ext uri="{FF2B5EF4-FFF2-40B4-BE49-F238E27FC236}">
                <a16:creationId xmlns:a16="http://schemas.microsoft.com/office/drawing/2014/main" id="{46123192-ED15-4F28-8234-915AB457FAA1}"/>
              </a:ext>
            </a:extLst>
          </p:cNvPr>
          <p:cNvSpPr>
            <a:spLocks xmlns:a="http://schemas.openxmlformats.org/drawingml/2006/main" noGrp="1"/>
          </p:cNvSpPr>
          <p:nvPr/>
        </p:nvSpPr>
        <p:spPr>
          <a:xfrm xmlns:a="http://schemas.openxmlformats.org/drawingml/2006/main">
            <a:off x="624840" y="3398520"/>
            <a:ext cx="312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Title</a:t>
            </a:r>
          </a:p>
        </p:txBody>
      </p:sp>
      <p:sp>
        <p:nvSpPr>
          <p:cNvPr id="12" name="Development of an AI-powered system to detect anomalies">
            <a:extLst xmlns:a="http://schemas.openxmlformats.org/drawingml/2006/main">
              <a:ext uri="{FF2B5EF4-FFF2-40B4-BE49-F238E27FC236}">
                <a16:creationId xmlns:a16="http://schemas.microsoft.com/office/drawing/2014/main" id="{B9CEBE34-2588-4456-83A7-C45AA4078636}"/>
              </a:ext>
            </a:extLst>
          </p:cNvPr>
          <p:cNvSpPr>
            <a:spLocks xmlns:a="http://schemas.openxmlformats.org/drawingml/2006/main" noGrp="1"/>
          </p:cNvSpPr>
          <p:nvPr/>
        </p:nvSpPr>
        <p:spPr>
          <a:xfrm xmlns:a="http://schemas.openxmlformats.org/drawingml/2006/main">
            <a:off x="3764280" y="3398520"/>
            <a:ext cx="7772400" cy="853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Development of an AI-powered system to detect anomalies, fraud,</a:t>
            </a:r>
          </a:p>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and inefficiencies in MPLAD Scheme implementation regd.</a:t>
            </a:r>
          </a:p>
        </p:txBody>
      </p:sp>
      <p:sp>
        <p:nvSpPr>
          <p:cNvPr id="13" name="Theme">
            <a:extLst xmlns:a="http://schemas.openxmlformats.org/drawingml/2006/main">
              <a:ext uri="{FF2B5EF4-FFF2-40B4-BE49-F238E27FC236}">
                <a16:creationId xmlns:a16="http://schemas.microsoft.com/office/drawing/2014/main" id="{BBC053A4-F455-4DA8-9BC7-240B7EA16FF5}"/>
              </a:ext>
            </a:extLst>
          </p:cNvPr>
          <p:cNvSpPr>
            <a:spLocks xmlns:a="http://schemas.openxmlformats.org/drawingml/2006/main" noGrp="1"/>
          </p:cNvSpPr>
          <p:nvPr/>
        </p:nvSpPr>
        <p:spPr>
          <a:xfrm xmlns:a="http://schemas.openxmlformats.org/drawingml/2006/main">
            <a:off x="624840" y="451866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Theme</a:t>
            </a:r>
          </a:p>
        </p:txBody>
      </p:sp>
      <p:sp>
        <p:nvSpPr>
          <p:cNvPr id="14" name="Smart Automation">
            <a:extLst xmlns:a="http://schemas.openxmlformats.org/drawingml/2006/main">
              <a:ext uri="{FF2B5EF4-FFF2-40B4-BE49-F238E27FC236}">
                <a16:creationId xmlns:a16="http://schemas.microsoft.com/office/drawing/2014/main" id="{04A48EDB-39B6-4D46-B880-D24A524E4361}"/>
              </a:ext>
            </a:extLst>
          </p:cNvPr>
          <p:cNvSpPr>
            <a:spLocks xmlns:a="http://schemas.openxmlformats.org/drawingml/2006/main" noGrp="1"/>
          </p:cNvSpPr>
          <p:nvPr/>
        </p:nvSpPr>
        <p:spPr>
          <a:xfrm xmlns:a="http://schemas.openxmlformats.org/drawingml/2006/main">
            <a:off x="3764280" y="451866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Smart Automation</a:t>
            </a:r>
          </a:p>
        </p:txBody>
      </p:sp>
      <p:sp>
        <p:nvSpPr>
          <p:cNvPr id="15" name="PS Category">
            <a:extLst xmlns:a="http://schemas.openxmlformats.org/drawingml/2006/main">
              <a:ext uri="{FF2B5EF4-FFF2-40B4-BE49-F238E27FC236}">
                <a16:creationId xmlns:a16="http://schemas.microsoft.com/office/drawing/2014/main" id="{94D92661-CA69-4AA8-A4EF-0C80830BF3B9}"/>
              </a:ext>
            </a:extLst>
          </p:cNvPr>
          <p:cNvSpPr>
            <a:spLocks xmlns:a="http://schemas.openxmlformats.org/drawingml/2006/main" noGrp="1"/>
          </p:cNvSpPr>
          <p:nvPr/>
        </p:nvSpPr>
        <p:spPr>
          <a:xfrm xmlns:a="http://schemas.openxmlformats.org/drawingml/2006/main">
            <a:off x="624840" y="50825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PS Category</a:t>
            </a:r>
          </a:p>
        </p:txBody>
      </p:sp>
      <p:sp>
        <p:nvSpPr>
          <p:cNvPr id="16" name="Software">
            <a:extLst xmlns:a="http://schemas.openxmlformats.org/drawingml/2006/main">
              <a:ext uri="{FF2B5EF4-FFF2-40B4-BE49-F238E27FC236}">
                <a16:creationId xmlns:a16="http://schemas.microsoft.com/office/drawing/2014/main" id="{3192C95F-30F4-4EDC-8176-D2BF3E5C84B3}"/>
              </a:ext>
            </a:extLst>
          </p:cNvPr>
          <p:cNvSpPr>
            <a:spLocks xmlns:a="http://schemas.openxmlformats.org/drawingml/2006/main" noGrp="1"/>
          </p:cNvSpPr>
          <p:nvPr/>
        </p:nvSpPr>
        <p:spPr>
          <a:xfrm xmlns:a="http://schemas.openxmlformats.org/drawingml/2006/main">
            <a:off x="3764280" y="50825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Software</a:t>
            </a:r>
          </a:p>
        </p:txBody>
      </p:sp>
      <p:sp>
        <p:nvSpPr>
          <p:cNvPr id="17" name="Team Name">
            <a:extLst xmlns:a="http://schemas.openxmlformats.org/drawingml/2006/main">
              <a:ext uri="{FF2B5EF4-FFF2-40B4-BE49-F238E27FC236}">
                <a16:creationId xmlns:a16="http://schemas.microsoft.com/office/drawing/2014/main" id="{DBCC3316-2150-4354-98F3-CB42AA8C4E43}"/>
              </a:ext>
            </a:extLst>
          </p:cNvPr>
          <p:cNvSpPr>
            <a:spLocks xmlns:a="http://schemas.openxmlformats.org/drawingml/2006/main" noGrp="1"/>
          </p:cNvSpPr>
          <p:nvPr/>
        </p:nvSpPr>
        <p:spPr>
          <a:xfrm xmlns:a="http://schemas.openxmlformats.org/drawingml/2006/main">
            <a:off x="624840" y="56540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Team Name</a:t>
            </a:r>
          </a:p>
        </p:txBody>
      </p:sp>
      <p:sp>
        <p:nvSpPr>
          <p:cNvPr id="18" name="Quantum Coders">
            <a:extLst xmlns:a="http://schemas.openxmlformats.org/drawingml/2006/main">
              <a:ext uri="{FF2B5EF4-FFF2-40B4-BE49-F238E27FC236}">
                <a16:creationId xmlns:a16="http://schemas.microsoft.com/office/drawing/2014/main" id="{EA7A160E-5FDC-4CCC-B2DB-1C0FE83F9806}"/>
              </a:ext>
            </a:extLst>
          </p:cNvPr>
          <p:cNvSpPr>
            <a:spLocks xmlns:a="http://schemas.openxmlformats.org/drawingml/2006/main" noGrp="1"/>
          </p:cNvSpPr>
          <p:nvPr/>
        </p:nvSpPr>
        <p:spPr>
          <a:xfrm xmlns:a="http://schemas.openxmlformats.org/drawingml/2006/main">
            <a:off x="3764280" y="56540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Quantum Coders</a:t>
            </a:r>
          </a:p>
        </p:txBody>
      </p:sp>
    </p:spTree>
    <p:extLst>
      <p:ext uri="{BB962C8B-B14F-4D97-AF65-F5344CB8AC3E}">
        <p14:creationId xmlns:p14="http://schemas.microsoft.com/office/powerpoint/2010/main" val="3858897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MPLADS-GUARD">
            <a:extLst xmlns:a="http://schemas.openxmlformats.org/drawingml/2006/main">
              <a:ext uri="{FF2B5EF4-FFF2-40B4-BE49-F238E27FC236}">
                <a16:creationId xmlns:a16="http://schemas.microsoft.com/office/drawing/2014/main" id="{C5047B87-2A0C-4AB3-9C7E-8646C5CEBD45}"/>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MPLADS-GUARD</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219eaf024744649"/>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Proposed solution: AI-driven monitoring of MPLADS funds">
            <a:extLst xmlns:a="http://schemas.openxmlformats.org/drawingml/2006/main">
              <a:ext uri="{FF2B5EF4-FFF2-40B4-BE49-F238E27FC236}">
                <a16:creationId xmlns:a16="http://schemas.microsoft.com/office/drawing/2014/main" id="{5C3141C4-6612-4BB7-8049-E69CB6E7ECF6}"/>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Proposed solution: AI-driven monitoring of MPLADS funds and project execution</a:t>
            </a:r>
          </a:p>
        </p:txBody>
      </p:sp>
      <p:sp>
        <p:nvSpPr>
          <p:cNvPr id="4" name="">
            <a:extLst xmlns:a="http://schemas.openxmlformats.org/drawingml/2006/main">
              <a:ext uri="{FF2B5EF4-FFF2-40B4-BE49-F238E27FC236}">
                <a16:creationId xmlns:a16="http://schemas.microsoft.com/office/drawing/2014/main" id="{9C64C2E6-8A5C-464E-B9B8-612A22950F1A}"/>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6EAA5AFE-C0EE-4A9A-9BFA-E20D4C6FD84E}"/>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F64B86E0-40CD-41F5-A215-2538FC017BE8}"/>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2 / 7">
            <a:extLst xmlns:a="http://schemas.openxmlformats.org/drawingml/2006/main">
              <a:ext uri="{FF2B5EF4-FFF2-40B4-BE49-F238E27FC236}">
                <a16:creationId xmlns:a16="http://schemas.microsoft.com/office/drawing/2014/main" id="{74085B41-A52E-49C6-AD48-9075AC74FE16}"/>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2 / 7</a:t>
            </a:r>
          </a:p>
        </p:txBody>
      </p:sp>
      <p:sp>
        <p:nvSpPr>
          <p:cNvPr id="8" name="Government data">
            <a:extLst xmlns:a="http://schemas.openxmlformats.org/drawingml/2006/main">
              <a:ext uri="{FF2B5EF4-FFF2-40B4-BE49-F238E27FC236}">
                <a16:creationId xmlns:a16="http://schemas.microsoft.com/office/drawing/2014/main" id="{99C119EB-ED66-4A98-89C6-A33D24284253}"/>
              </a:ext>
            </a:extLst>
          </p:cNvPr>
          <p:cNvSpPr>
            <a:spLocks xmlns:a="http://schemas.openxmlformats.org/drawingml/2006/main" noGrp="1"/>
          </p:cNvSpPr>
          <p:nvPr/>
        </p:nvSpPr>
        <p:spPr>
          <a:xfrm xmlns:a="http://schemas.openxmlformats.org/drawingml/2006/main">
            <a:off x="59436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Government data</a:t>
            </a:r>
          </a:p>
        </p:txBody>
      </p:sp>
      <p:sp>
        <p:nvSpPr>
          <p:cNvPr id="9" name="Rule engine">
            <a:extLst xmlns:a="http://schemas.openxmlformats.org/drawingml/2006/main">
              <a:ext uri="{FF2B5EF4-FFF2-40B4-BE49-F238E27FC236}">
                <a16:creationId xmlns:a16="http://schemas.microsoft.com/office/drawing/2014/main" id="{6D437844-EE7D-4A09-950A-A0CA4389F232}"/>
              </a:ext>
            </a:extLst>
          </p:cNvPr>
          <p:cNvSpPr>
            <a:spLocks xmlns:a="http://schemas.openxmlformats.org/drawingml/2006/main" noGrp="1"/>
          </p:cNvSpPr>
          <p:nvPr/>
        </p:nvSpPr>
        <p:spPr>
          <a:xfrm xmlns:a="http://schemas.openxmlformats.org/drawingml/2006/main">
            <a:off x="286512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Rule engine</a:t>
            </a:r>
          </a:p>
        </p:txBody>
      </p:sp>
      <p:sp>
        <p:nvSpPr>
          <p:cNvPr id="10" name="AI / ML analysis">
            <a:extLst xmlns:a="http://schemas.openxmlformats.org/drawingml/2006/main">
              <a:ext uri="{FF2B5EF4-FFF2-40B4-BE49-F238E27FC236}">
                <a16:creationId xmlns:a16="http://schemas.microsoft.com/office/drawing/2014/main" id="{F5C50EC2-3B66-431C-976C-1422BB5DF420}"/>
              </a:ext>
            </a:extLst>
          </p:cNvPr>
          <p:cNvSpPr>
            <a:spLocks xmlns:a="http://schemas.openxmlformats.org/drawingml/2006/main" noGrp="1"/>
          </p:cNvSpPr>
          <p:nvPr/>
        </p:nvSpPr>
        <p:spPr>
          <a:xfrm xmlns:a="http://schemas.openxmlformats.org/drawingml/2006/main">
            <a:off x="513588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AI / ML analysis</a:t>
            </a:r>
          </a:p>
        </p:txBody>
      </p:sp>
      <p:sp>
        <p:nvSpPr>
          <p:cNvPr id="11" name="Anomaly flags">
            <a:extLst xmlns:a="http://schemas.openxmlformats.org/drawingml/2006/main">
              <a:ext uri="{FF2B5EF4-FFF2-40B4-BE49-F238E27FC236}">
                <a16:creationId xmlns:a16="http://schemas.microsoft.com/office/drawing/2014/main" id="{C30F4257-38A4-405A-B993-6B52F76B1E6D}"/>
              </a:ext>
            </a:extLst>
          </p:cNvPr>
          <p:cNvSpPr>
            <a:spLocks xmlns:a="http://schemas.openxmlformats.org/drawingml/2006/main" noGrp="1"/>
          </p:cNvSpPr>
          <p:nvPr/>
        </p:nvSpPr>
        <p:spPr>
          <a:xfrm xmlns:a="http://schemas.openxmlformats.org/drawingml/2006/main">
            <a:off x="740664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Anomaly flags</a:t>
            </a:r>
          </a:p>
        </p:txBody>
      </p:sp>
      <p:sp>
        <p:nvSpPr>
          <p:cNvPr id="12" name="Dashboard">
            <a:extLst xmlns:a="http://schemas.openxmlformats.org/drawingml/2006/main">
              <a:ext uri="{FF2B5EF4-FFF2-40B4-BE49-F238E27FC236}">
                <a16:creationId xmlns:a16="http://schemas.microsoft.com/office/drawing/2014/main" id="{8A9E092F-1060-466C-9577-A66213E53D1C}"/>
              </a:ext>
            </a:extLst>
          </p:cNvPr>
          <p:cNvSpPr>
            <a:spLocks xmlns:a="http://schemas.openxmlformats.org/drawingml/2006/main" noGrp="1"/>
          </p:cNvSpPr>
          <p:nvPr/>
        </p:nvSpPr>
        <p:spPr>
          <a:xfrm xmlns:a="http://schemas.openxmlformats.org/drawingml/2006/main">
            <a:off x="9677400" y="1584960"/>
            <a:ext cx="1927860" cy="53340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Dashboard</a:t>
            </a:r>
          </a:p>
        </p:txBody>
      </p: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252222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479298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37" name=""/>
          <p:cNvCxnSpPr>
            <a:stCxn xmlns:a="http://schemas.openxmlformats.org/drawingml/2006/main" id="10" idx="3"/>
            <a:endCxn xmlns:a="http://schemas.openxmlformats.org/drawingml/2006/main" id="11" idx="1"/>
          </p:cNvCxnSpPr>
          <p:nvPr/>
        </p:nvCxnSpPr>
        <p:spPr>
          <a:xfrm xmlns:a="http://schemas.openxmlformats.org/drawingml/2006/main">
            <a:off x="706374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38" name=""/>
          <p:cNvCxnSpPr>
            <a:stCxn xmlns:a="http://schemas.openxmlformats.org/drawingml/2006/main" id="11" idx="3"/>
            <a:endCxn xmlns:a="http://schemas.openxmlformats.org/drawingml/2006/main" id="12" idx="1"/>
          </p:cNvCxnSpPr>
          <p:nvPr/>
        </p:nvCxnSpPr>
        <p:spPr>
          <a:xfrm xmlns:a="http://schemas.openxmlformats.org/drawingml/2006/main">
            <a:off x="933450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17" name="How the solution addresses the problem">
            <a:extLst xmlns:a="http://schemas.openxmlformats.org/drawingml/2006/main">
              <a:ext uri="{FF2B5EF4-FFF2-40B4-BE49-F238E27FC236}">
                <a16:creationId xmlns:a16="http://schemas.microsoft.com/office/drawing/2014/main" id="{A0187A95-A047-4B4C-A02D-1D1C4FD95A27}"/>
              </a:ext>
            </a:extLst>
          </p:cNvPr>
          <p:cNvSpPr>
            <a:spLocks xmlns:a="http://schemas.openxmlformats.org/drawingml/2006/main" noGrp="1"/>
          </p:cNvSpPr>
          <p:nvPr/>
        </p:nvSpPr>
        <p:spPr>
          <a:xfrm xmlns:a="http://schemas.openxmlformats.org/drawingml/2006/main">
            <a:off x="594360" y="238506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How the solution addresses the problem</a:t>
            </a:r>
          </a:p>
        </p:txBody>
      </p:sp>
      <p:graphicFrame>
        <p:nvGraphicFramePr>
          <p:cNvPr id="40" name=""/>
          <p:cNvGraphicFramePr/>
          <p:nvPr/>
        </p:nvGraphicFramePr>
        <p:xfrm>
          <a:off xmlns:a="http://schemas.openxmlformats.org/drawingml/2006/main" x="594360" y="2811780"/>
          <a:ext xmlns:a="http://schemas.openxmlformats.org/drawingml/2006/main" cx="11003280" cy="2689860"/>
        </p:xfrm>
        <a:graphic xmlns:a="http://schemas.openxmlformats.org/drawingml/2006/main">
          <a:graphicData uri="http://schemas.openxmlformats.org/drawingml/2006/table">
            <a:tbl>
              <a:tblPr firstRow="0" bandRow="0"/>
              <a:tblGrid>
                <a:gridCol w="3314700"/>
                <a:gridCol w="7688580"/>
              </a:tblGrid>
              <a:tr h="350520">
                <a:tc>
                  <a:txBody>
                    <a:bodyPr lIns="121920" tIns="45720" rIns="106680" bIns="45720">
                      <a:noAutofit/>
                    </a:bodyPr>
                    <a:lstStyle/>
                    <a:p>
                      <a:r>
                        <a:rPr sz="1380" b="1">
                          <a:solidFill>
                            <a:srgbClr val="FFFFFF"/>
                          </a:solidFill>
                          <a:latin typeface="Calibri"/>
                          <a:ea typeface="Calibri"/>
                          <a:cs typeface="Calibri"/>
                        </a:rPr>
                        <a:t>Monitoring gap</a:t>
                      </a:r>
                    </a:p>
                  </a:txBody>
                  <a:tcPr marL="121920" marR="106680" marT="45720" marB="45720" anchor="ctr">
                    <a:solidFill>
                      <a:srgbClr val="234F83"/>
                    </a:solidFill>
                  </a:tcPr>
                </a:tc>
                <a:tc>
                  <a:txBody>
                    <a:bodyPr lIns="121920" tIns="45720" rIns="106680" bIns="45720">
                      <a:noAutofit/>
                    </a:bodyPr>
                    <a:lstStyle/>
                    <a:p>
                      <a:r>
                        <a:rPr sz="1380" b="1">
                          <a:solidFill>
                            <a:srgbClr val="FFFFFF"/>
                          </a:solidFill>
                          <a:latin typeface="Calibri"/>
                          <a:ea typeface="Calibri"/>
                          <a:cs typeface="Calibri"/>
                        </a:rPr>
                        <a:t>Proposed response</a:t>
                      </a:r>
                    </a:p>
                  </a:txBody>
                  <a:tcPr marL="121920" marR="106680" marT="45720" marB="45720" anchor="ctr">
                    <a:solidFill>
                      <a:srgbClr val="234F83"/>
                    </a:solidFill>
                  </a:tcPr>
                </a:tc>
              </a:tr>
              <a:tr h="426720">
                <a:tc>
                  <a:txBody>
                    <a:bodyPr lIns="121920" tIns="45720" rIns="106680" bIns="45720">
                      <a:noAutofit/>
                    </a:bodyPr>
                    <a:lstStyle/>
                    <a:p>
                      <a:r>
                        <a:rPr sz="1440" b="1">
                          <a:solidFill>
                            <a:srgbClr val="162B3B"/>
                          </a:solidFill>
                          <a:latin typeface="Calibri"/>
                          <a:ea typeface="Calibri"/>
                          <a:cs typeface="Calibri"/>
                        </a:rPr>
                        <a:t>Manual oversight</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Translate broad fraud and inefficiency concerns into computable signals.</a:t>
                      </a:r>
                    </a:p>
                  </a:txBody>
                  <a:tcPr marL="121920" marR="106680" marT="45720" marB="45720" anchor="ctr">
                    <a:solidFill>
                      <a:srgbClr val="FFFFFF"/>
                    </a:solidFill>
                  </a:tcPr>
                </a:tc>
              </a:tr>
              <a:tr h="495300">
                <a:tc>
                  <a:txBody>
                    <a:bodyPr lIns="121920" tIns="45720" rIns="106680" bIns="45720">
                      <a:noAutofit/>
                    </a:bodyPr>
                    <a:lstStyle/>
                    <a:p>
                      <a:r>
                        <a:rPr sz="1440" b="1">
                          <a:solidFill>
                            <a:srgbClr val="162B3B"/>
                          </a:solidFill>
                          <a:latin typeface="Calibri"/>
                          <a:ea typeface="Calibri"/>
                          <a:cs typeface="Calibri"/>
                        </a:rPr>
                        <a:t>March Rush and favoritism</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Analyze historical spending for year-end spikes, vendor concentration and inflated costs.</a:t>
                      </a:r>
                    </a:p>
                  </a:txBody>
                  <a:tcPr marL="121920" marR="106680" marT="45720" marB="45720" anchor="ctr">
                    <a:solidFill>
                      <a:srgbClr val="EDF4FA"/>
                    </a:solidFill>
                  </a:tcPr>
                </a:tc>
              </a:tr>
              <a:tr h="495300">
                <a:tc>
                  <a:txBody>
                    <a:bodyPr lIns="121920" tIns="45720" rIns="106680" bIns="45720">
                      <a:noAutofit/>
                    </a:bodyPr>
                    <a:lstStyle/>
                    <a:p>
                      <a:r>
                        <a:rPr sz="1440" b="1">
                          <a:solidFill>
                            <a:srgbClr val="162B3B"/>
                          </a:solidFill>
                          <a:latin typeface="Calibri"/>
                          <a:ea typeface="Calibri"/>
                          <a:cs typeface="Calibri"/>
                        </a:rPr>
                        <a:t>Ghost and duplicate assets</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Cross-check geotagged proof and invoices for works reported as completed.</a:t>
                      </a:r>
                    </a:p>
                  </a:txBody>
                  <a:tcPr marL="121920" marR="106680" marT="45720" marB="45720" anchor="ctr">
                    <a:solidFill>
                      <a:srgbClr val="FFFFFF"/>
                    </a:solidFill>
                  </a:tcPr>
                </a:tc>
              </a:tr>
              <a:tr h="495300">
                <a:tc>
                  <a:txBody>
                    <a:bodyPr lIns="121920" tIns="45720" rIns="106680" bIns="45720">
                      <a:noAutofit/>
                    </a:bodyPr>
                    <a:lstStyle/>
                    <a:p>
                      <a:r>
                        <a:rPr sz="1440" b="1">
                          <a:solidFill>
                            <a:srgbClr val="162B3B"/>
                          </a:solidFill>
                          <a:latin typeface="Calibri"/>
                          <a:ea typeface="Calibri"/>
                          <a:cs typeface="Calibri"/>
                        </a:rPr>
                        <a:t>Allocation and utility gaps</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Alert on SC/ST allocation shortfalls and assess concentration in one asset type.</a:t>
                      </a:r>
                    </a:p>
                  </a:txBody>
                  <a:tcPr marL="121920" marR="106680" marT="45720" marB="45720" anchor="ctr">
                    <a:solidFill>
                      <a:srgbClr val="EDF4FA"/>
                    </a:solidFill>
                  </a:tcPr>
                </a:tc>
              </a:tr>
              <a:tr h="426720">
                <a:tc>
                  <a:txBody>
                    <a:bodyPr lIns="121920" tIns="45720" rIns="106680" bIns="45720">
                      <a:noAutofit/>
                    </a:bodyPr>
                    <a:lstStyle/>
                    <a:p>
                      <a:r>
                        <a:rPr sz="1440" b="1">
                          <a:solidFill>
                            <a:srgbClr val="162B3B"/>
                          </a:solidFill>
                          <a:latin typeface="Calibri"/>
                          <a:ea typeface="Calibri"/>
                          <a:cs typeface="Calibri"/>
                        </a:rPr>
                        <a:t>Late detection of overruns</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Track project costs during execution and issue timely alerts.</a:t>
                      </a:r>
                    </a:p>
                  </a:txBody>
                  <a:tcPr marL="121920" marR="106680" marT="45720" marB="45720" anchor="ctr">
                    <a:solidFill>
                      <a:srgbClr val="FFFFFF"/>
                    </a:solidFill>
                  </a:tcPr>
                </a:tc>
              </a:tr>
            </a:tbl>
          </a:graphicData>
        </a:graphic>
      </p:graphicFrame>
      <p:sp>
        <p:nvSpPr>
          <p:cNvPr id="19" name="Innovation and uniqueness">
            <a:extLst xmlns:a="http://schemas.openxmlformats.org/drawingml/2006/main">
              <a:ext uri="{FF2B5EF4-FFF2-40B4-BE49-F238E27FC236}">
                <a16:creationId xmlns:a16="http://schemas.microsoft.com/office/drawing/2014/main" id="{82DE7FEE-D415-4829-9071-5389699F5770}"/>
              </a:ext>
            </a:extLst>
          </p:cNvPr>
          <p:cNvSpPr>
            <a:spLocks xmlns:a="http://schemas.openxmlformats.org/drawingml/2006/main" noGrp="1"/>
          </p:cNvSpPr>
          <p:nvPr/>
        </p:nvSpPr>
        <p:spPr>
          <a:xfrm xmlns:a="http://schemas.openxmlformats.org/drawingml/2006/main">
            <a:off x="594360" y="564642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Innovation and uniqueness</a:t>
            </a:r>
          </a:p>
        </p:txBody>
      </p:sp>
      <p:sp>
        <p:nvSpPr>
          <p:cNvPr id="20" name="Measurable rules, proactive tracking and automatic evid">
            <a:extLst xmlns:a="http://schemas.openxmlformats.org/drawingml/2006/main">
              <a:ext uri="{FF2B5EF4-FFF2-40B4-BE49-F238E27FC236}">
                <a16:creationId xmlns:a16="http://schemas.microsoft.com/office/drawing/2014/main" id="{20262816-2E3A-4FE2-9F6A-58DBAD4D7DBB}"/>
              </a:ext>
            </a:extLst>
          </p:cNvPr>
          <p:cNvSpPr>
            <a:spLocks xmlns:a="http://schemas.openxmlformats.org/drawingml/2006/main" noGrp="1"/>
          </p:cNvSpPr>
          <p:nvPr/>
        </p:nvSpPr>
        <p:spPr>
          <a:xfrm xmlns:a="http://schemas.openxmlformats.org/drawingml/2006/main">
            <a:off x="594360" y="5996940"/>
            <a:ext cx="52578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Measurable rules, proactive tracking and automatic evidence matching reduce repetitive manual checks.</a:t>
            </a:r>
          </a:p>
        </p:txBody>
      </p:sp>
      <p:sp>
        <p:nvSpPr>
          <p:cNvPr id="21" name="Key value proposition">
            <a:extLst xmlns:a="http://schemas.openxmlformats.org/drawingml/2006/main">
              <a:ext uri="{FF2B5EF4-FFF2-40B4-BE49-F238E27FC236}">
                <a16:creationId xmlns:a16="http://schemas.microsoft.com/office/drawing/2014/main" id="{88543B1F-A79C-47E4-B930-E09EEE31CBF3}"/>
              </a:ext>
            </a:extLst>
          </p:cNvPr>
          <p:cNvSpPr>
            <a:spLocks xmlns:a="http://schemas.openxmlformats.org/drawingml/2006/main" noGrp="1"/>
          </p:cNvSpPr>
          <p:nvPr/>
        </p:nvSpPr>
        <p:spPr>
          <a:xfrm xmlns:a="http://schemas.openxmlformats.org/drawingml/2006/main">
            <a:off x="6377940" y="5646420"/>
            <a:ext cx="52197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Key value proposition</a:t>
            </a:r>
          </a:p>
        </p:txBody>
      </p:sp>
      <p:sp>
        <p:nvSpPr>
          <p:cNvPr id="22" name="Prevent leakage from ghost works and inflation, clarify">
            <a:extLst xmlns:a="http://schemas.openxmlformats.org/drawingml/2006/main">
              <a:ext uri="{FF2B5EF4-FFF2-40B4-BE49-F238E27FC236}">
                <a16:creationId xmlns:a16="http://schemas.microsoft.com/office/drawing/2014/main" id="{CC071DB6-EC03-40F5-9885-C070F9132929}"/>
              </a:ext>
            </a:extLst>
          </p:cNvPr>
          <p:cNvSpPr>
            <a:spLocks xmlns:a="http://schemas.openxmlformats.org/drawingml/2006/main" noGrp="1"/>
          </p:cNvSpPr>
          <p:nvPr/>
        </p:nvSpPr>
        <p:spPr>
          <a:xfrm xmlns:a="http://schemas.openxmlformats.org/drawingml/2006/main">
            <a:off x="6377940" y="5996940"/>
            <a:ext cx="52197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Prevent leakage from ghost works and inflation, clarify portal data and support nationwide scale.</a:t>
            </a:r>
          </a:p>
        </p:txBody>
      </p:sp>
    </p:spTree>
    <p:extLst>
      <p:ext uri="{BB962C8B-B14F-4D97-AF65-F5344CB8AC3E}">
        <p14:creationId xmlns:p14="http://schemas.microsoft.com/office/powerpoint/2010/main" val="9874406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ECHNICAL APPROACH">
            <a:extLst xmlns:a="http://schemas.openxmlformats.org/drawingml/2006/main">
              <a:ext uri="{FF2B5EF4-FFF2-40B4-BE49-F238E27FC236}">
                <a16:creationId xmlns:a16="http://schemas.microsoft.com/office/drawing/2014/main" id="{B58F2FD0-D9CC-47C7-8533-CE5BF8A54780}"/>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TECHNICAL APPROACH</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f3e5979c4544dba"/>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System architecture and AI/ML data flow">
            <a:extLst xmlns:a="http://schemas.openxmlformats.org/drawingml/2006/main">
              <a:ext uri="{FF2B5EF4-FFF2-40B4-BE49-F238E27FC236}">
                <a16:creationId xmlns:a16="http://schemas.microsoft.com/office/drawing/2014/main" id="{B6DF2715-7F33-4A76-8182-8AB7C6B8709D}"/>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System architecture and AI/ML data flow</a:t>
            </a:r>
          </a:p>
        </p:txBody>
      </p:sp>
      <p:sp>
        <p:nvSpPr>
          <p:cNvPr id="4" name="">
            <a:extLst xmlns:a="http://schemas.openxmlformats.org/drawingml/2006/main">
              <a:ext uri="{FF2B5EF4-FFF2-40B4-BE49-F238E27FC236}">
                <a16:creationId xmlns:a16="http://schemas.microsoft.com/office/drawing/2014/main" id="{6F9DA49B-397C-44E8-84A5-0D67349CB849}"/>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BBCEC510-8CC7-44D7-9965-EA7E07624BDE}"/>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415CC8C8-214A-457A-ACFD-39A6B7EC42F4}"/>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3 / 7">
            <a:extLst xmlns:a="http://schemas.openxmlformats.org/drawingml/2006/main">
              <a:ext uri="{FF2B5EF4-FFF2-40B4-BE49-F238E27FC236}">
                <a16:creationId xmlns:a16="http://schemas.microsoft.com/office/drawing/2014/main" id="{F95EA86C-C605-4DC3-9167-6B8D684DD3EE}"/>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3 / 7</a:t>
            </a:r>
          </a:p>
        </p:txBody>
      </p:sp>
      <p:sp>
        <p:nvSpPr>
          <p:cNvPr id="8" name="System architecture">
            <a:extLst xmlns:a="http://schemas.openxmlformats.org/drawingml/2006/main">
              <a:ext uri="{FF2B5EF4-FFF2-40B4-BE49-F238E27FC236}">
                <a16:creationId xmlns:a16="http://schemas.microsoft.com/office/drawing/2014/main" id="{CB91A98A-BA3C-4AE5-AE1A-1C1E9E8E8B6E}"/>
              </a:ext>
            </a:extLst>
          </p:cNvPr>
          <p:cNvSpPr>
            <a:spLocks xmlns:a="http://schemas.openxmlformats.org/drawingml/2006/main" noGrp="1"/>
          </p:cNvSpPr>
          <p:nvPr/>
        </p:nvSpPr>
        <p:spPr>
          <a:xfrm xmlns:a="http://schemas.openxmlformats.org/drawingml/2006/main">
            <a:off x="594360" y="1539240"/>
            <a:ext cx="8382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System architecture</a:t>
            </a:r>
          </a:p>
        </p:txBody>
      </p:sp>
      <p:sp>
        <p:nvSpPr>
          <p:cNvPr id="9" name="React.js dashboard Live risk heatmaps and charts">
            <a:extLst xmlns:a="http://schemas.openxmlformats.org/drawingml/2006/main">
              <a:ext uri="{FF2B5EF4-FFF2-40B4-BE49-F238E27FC236}">
                <a16:creationId xmlns:a16="http://schemas.microsoft.com/office/drawing/2014/main" id="{EC22FDEC-56AB-4C45-9690-8BD9EB6806A0}"/>
              </a:ext>
            </a:extLst>
          </p:cNvPr>
          <p:cNvSpPr>
            <a:spLocks xmlns:a="http://schemas.openxmlformats.org/drawingml/2006/main" noGrp="1"/>
          </p:cNvSpPr>
          <p:nvPr/>
        </p:nvSpPr>
        <p:spPr>
          <a:xfrm xmlns:a="http://schemas.openxmlformats.org/drawingml/2006/main">
            <a:off x="5943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React.js dashboard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Live risk heatmaps and charts</a:t>
            </a:r>
          </a:p>
        </p:txBody>
      </p:sp>
      <p:sp>
        <p:nvSpPr>
          <p:cNvPr id="10" name="FastAPI backend Authentication and routing">
            <a:extLst xmlns:a="http://schemas.openxmlformats.org/drawingml/2006/main">
              <a:ext uri="{FF2B5EF4-FFF2-40B4-BE49-F238E27FC236}">
                <a16:creationId xmlns:a16="http://schemas.microsoft.com/office/drawing/2014/main" id="{32DB7387-2E88-4217-8F3B-2543C27AC959}"/>
              </a:ext>
            </a:extLst>
          </p:cNvPr>
          <p:cNvSpPr>
            <a:spLocks xmlns:a="http://schemas.openxmlformats.org/drawingml/2006/main" noGrp="1"/>
          </p:cNvSpPr>
          <p:nvPr/>
        </p:nvSpPr>
        <p:spPr>
          <a:xfrm xmlns:a="http://schemas.openxmlformats.org/drawingml/2006/main">
            <a:off x="4671060" y="2019300"/>
            <a:ext cx="2750820" cy="70104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FastAPI backend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Authentication and routing</a:t>
            </a:r>
          </a:p>
        </p:txBody>
      </p:sp>
      <p:sp>
        <p:nvSpPr>
          <p:cNvPr id="11" name="MongoDB Invoices, tenders and logs">
            <a:extLst xmlns:a="http://schemas.openxmlformats.org/drawingml/2006/main">
              <a:ext uri="{FF2B5EF4-FFF2-40B4-BE49-F238E27FC236}">
                <a16:creationId xmlns:a16="http://schemas.microsoft.com/office/drawing/2014/main" id="{2F8405F2-EAE0-4886-9A7A-ABEEAC88FAEA}"/>
              </a:ext>
            </a:extLst>
          </p:cNvPr>
          <p:cNvSpPr>
            <a:spLocks xmlns:a="http://schemas.openxmlformats.org/drawingml/2006/main" noGrp="1"/>
          </p:cNvSpPr>
          <p:nvPr/>
        </p:nvSpPr>
        <p:spPr>
          <a:xfrm xmlns:a="http://schemas.openxmlformats.org/drawingml/2006/main">
            <a:off x="87477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MongoDB</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Invoices, tenders and logs</a:t>
            </a:r>
          </a:p>
        </p:txBody>
      </p:sp>
      <p:cxnSp>
        <p:nvCxnSpPr>
          <p:cNvPr id="45" name=""/>
          <p:cNvCxnSpPr>
            <a:stCxn xmlns:a="http://schemas.openxmlformats.org/drawingml/2006/main" id="9" idx="3"/>
            <a:endCxn xmlns:a="http://schemas.openxmlformats.org/drawingml/2006/main" id="10" idx="1"/>
          </p:cNvCxnSpPr>
          <p:nvPr/>
        </p:nvCxnSpPr>
        <p:spPr>
          <a:xfrm xmlns:a="http://schemas.openxmlformats.org/drawingml/2006/main">
            <a:off x="33451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cxnSp>
        <p:nvCxnSpPr>
          <p:cNvPr id="46" name=""/>
          <p:cNvCxnSpPr>
            <a:stCxn xmlns:a="http://schemas.openxmlformats.org/drawingml/2006/main" id="10" idx="3"/>
            <a:endCxn xmlns:a="http://schemas.openxmlformats.org/drawingml/2006/main" id="11" idx="1"/>
          </p:cNvCxnSpPr>
          <p:nvPr/>
        </p:nvCxnSpPr>
        <p:spPr>
          <a:xfrm xmlns:a="http://schemas.openxmlformats.org/drawingml/2006/main">
            <a:off x="74218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4" name="Requests / JSON">
            <a:extLst xmlns:a="http://schemas.openxmlformats.org/drawingml/2006/main">
              <a:ext uri="{FF2B5EF4-FFF2-40B4-BE49-F238E27FC236}">
                <a16:creationId xmlns:a16="http://schemas.microsoft.com/office/drawing/2014/main" id="{A28A5225-A73A-4BF0-A69A-18F7021F8882}"/>
              </a:ext>
            </a:extLst>
          </p:cNvPr>
          <p:cNvSpPr>
            <a:spLocks xmlns:a="http://schemas.openxmlformats.org/drawingml/2006/main" noGrp="1"/>
          </p:cNvSpPr>
          <p:nvPr/>
        </p:nvSpPr>
        <p:spPr>
          <a:xfrm xmlns:a="http://schemas.openxmlformats.org/drawingml/2006/main">
            <a:off x="3375660" y="1752600"/>
            <a:ext cx="128016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C606B"/>
                </a:solidFill>
                <a:latin typeface="Calibri"/>
                <a:ea typeface="Calibri"/>
                <a:cs typeface="Calibri"/>
              </a:defRPr>
            </a:pPr>
            <a:r>
              <a:rPr sz="1200" b="0">
                <a:solidFill>
                  <a:srgbClr val="4C606B"/>
                </a:solidFill>
                <a:latin typeface="Calibri"/>
                <a:ea typeface="Calibri"/>
                <a:cs typeface="Calibri"/>
              </a:rPr>
              <a:t>Requests / JSON</a:t>
            </a:r>
          </a:p>
        </p:txBody>
      </p:sp>
      <p:sp>
        <p:nvSpPr>
          <p:cNvPr id="15" name="Fetch / store">
            <a:extLst xmlns:a="http://schemas.openxmlformats.org/drawingml/2006/main">
              <a:ext uri="{FF2B5EF4-FFF2-40B4-BE49-F238E27FC236}">
                <a16:creationId xmlns:a16="http://schemas.microsoft.com/office/drawing/2014/main" id="{789868F0-0794-466C-BFA5-0B9C246A8FCB}"/>
              </a:ext>
            </a:extLst>
          </p:cNvPr>
          <p:cNvSpPr>
            <a:spLocks xmlns:a="http://schemas.openxmlformats.org/drawingml/2006/main" noGrp="1"/>
          </p:cNvSpPr>
          <p:nvPr/>
        </p:nvSpPr>
        <p:spPr>
          <a:xfrm xmlns:a="http://schemas.openxmlformats.org/drawingml/2006/main">
            <a:off x="7520940" y="1752600"/>
            <a:ext cx="116586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C606B"/>
                </a:solidFill>
                <a:latin typeface="Calibri"/>
                <a:ea typeface="Calibri"/>
                <a:cs typeface="Calibri"/>
              </a:defRPr>
            </a:pPr>
            <a:r>
              <a:rPr sz="1200" b="0">
                <a:solidFill>
                  <a:srgbClr val="4C606B"/>
                </a:solidFill>
                <a:latin typeface="Calibri"/>
                <a:ea typeface="Calibri"/>
                <a:cs typeface="Calibri"/>
              </a:rPr>
              <a:t>Fetch / store</a:t>
            </a:r>
          </a:p>
        </p:txBody>
      </p:sp>
      <p:sp>
        <p:nvSpPr>
          <p:cNvPr id="16" name="Python AI/ML service Inference and risk scoring">
            <a:extLst xmlns:a="http://schemas.openxmlformats.org/drawingml/2006/main">
              <a:ext uri="{FF2B5EF4-FFF2-40B4-BE49-F238E27FC236}">
                <a16:creationId xmlns:a16="http://schemas.microsoft.com/office/drawing/2014/main" id="{9C855502-3A2D-4BE5-99D5-280C709B0A96}"/>
              </a:ext>
            </a:extLst>
          </p:cNvPr>
          <p:cNvSpPr>
            <a:spLocks xmlns:a="http://schemas.openxmlformats.org/drawingml/2006/main" noGrp="1"/>
          </p:cNvSpPr>
          <p:nvPr/>
        </p:nvSpPr>
        <p:spPr>
          <a:xfrm xmlns:a="http://schemas.openxmlformats.org/drawingml/2006/main">
            <a:off x="4671060" y="3345180"/>
            <a:ext cx="2750820" cy="67818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Python AI/ML service</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Inference and risk scoring</a:t>
            </a:r>
          </a:p>
        </p:txBody>
      </p:sp>
      <p:cxnSp>
        <p:nvCxnSpPr>
          <p:cNvPr id="50" name=""/>
          <p:cNvCxnSpPr>
            <a:stCxn xmlns:a="http://schemas.openxmlformats.org/drawingml/2006/main" id="10" idx="2"/>
            <a:endCxn xmlns:a="http://schemas.openxmlformats.org/drawingml/2006/main" id="16" idx="0"/>
          </p:cNvCxnSpPr>
          <p:nvPr/>
        </p:nvCxnSpPr>
        <p:spPr>
          <a:xfrm xmlns:a="http://schemas.openxmlformats.org/drawingml/2006/main">
            <a:off x="6046470" y="2720340"/>
            <a:ext cx="0" cy="62484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8" name="Validated data / risk flags">
            <a:extLst xmlns:a="http://schemas.openxmlformats.org/drawingml/2006/main">
              <a:ext uri="{FF2B5EF4-FFF2-40B4-BE49-F238E27FC236}">
                <a16:creationId xmlns:a16="http://schemas.microsoft.com/office/drawing/2014/main" id="{7523B081-8D2C-4058-B044-F00D47F6752F}"/>
              </a:ext>
            </a:extLst>
          </p:cNvPr>
          <p:cNvSpPr>
            <a:spLocks xmlns:a="http://schemas.openxmlformats.org/drawingml/2006/main" noGrp="1"/>
          </p:cNvSpPr>
          <p:nvPr/>
        </p:nvSpPr>
        <p:spPr>
          <a:xfrm xmlns:a="http://schemas.openxmlformats.org/drawingml/2006/main">
            <a:off x="7658100" y="3223260"/>
            <a:ext cx="37719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4C606B"/>
                </a:solidFill>
                <a:latin typeface="Calibri"/>
                <a:ea typeface="Calibri"/>
                <a:cs typeface="Calibri"/>
              </a:defRPr>
            </a:pPr>
            <a:r>
              <a:rPr sz="1440" b="0">
                <a:solidFill>
                  <a:srgbClr val="4C606B"/>
                </a:solidFill>
                <a:latin typeface="Calibri"/>
                <a:ea typeface="Calibri"/>
                <a:cs typeface="Calibri"/>
              </a:rPr>
              <a:t>Validated data / risk flags</a:t>
            </a:r>
          </a:p>
        </p:txBody>
      </p:sp>
      <p:sp>
        <p:nvSpPr>
          <p:cNvPr id="19" name="AI/ML core">
            <a:extLst xmlns:a="http://schemas.openxmlformats.org/drawingml/2006/main">
              <a:ext uri="{FF2B5EF4-FFF2-40B4-BE49-F238E27FC236}">
                <a16:creationId xmlns:a16="http://schemas.microsoft.com/office/drawing/2014/main" id="{BB3802BE-4E4A-4F8E-963D-EFAE43AE5018}"/>
              </a:ext>
            </a:extLst>
          </p:cNvPr>
          <p:cNvSpPr>
            <a:spLocks xmlns:a="http://schemas.openxmlformats.org/drawingml/2006/main" noGrp="1"/>
          </p:cNvSpPr>
          <p:nvPr/>
        </p:nvSpPr>
        <p:spPr>
          <a:xfrm xmlns:a="http://schemas.openxmlformats.org/drawingml/2006/main">
            <a:off x="594360" y="33909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234F83"/>
                </a:solidFill>
                <a:latin typeface="Calibri"/>
                <a:ea typeface="Calibri"/>
                <a:cs typeface="Calibri"/>
              </a:defRPr>
            </a:pPr>
            <a:r>
              <a:rPr sz="1920" b="1">
                <a:solidFill>
                  <a:srgbClr val="234F83"/>
                </a:solidFill>
                <a:latin typeface="Calibri"/>
                <a:ea typeface="Calibri"/>
                <a:cs typeface="Calibri"/>
              </a:rPr>
              <a:t>AI/ML core</a:t>
            </a:r>
          </a:p>
        </p:txBody>
      </p:sp>
      <p:sp>
        <p:nvSpPr>
          <p:cNvPr id="20" name="Intelligent anomaly detection pipeline">
            <a:extLst xmlns:a="http://schemas.openxmlformats.org/drawingml/2006/main">
              <a:ext uri="{FF2B5EF4-FFF2-40B4-BE49-F238E27FC236}">
                <a16:creationId xmlns:a16="http://schemas.microsoft.com/office/drawing/2014/main" id="{10C5F6BB-5F7E-4088-A66B-66DE47C0CD34}"/>
              </a:ext>
            </a:extLst>
          </p:cNvPr>
          <p:cNvSpPr>
            <a:spLocks xmlns:a="http://schemas.openxmlformats.org/drawingml/2006/main" noGrp="1"/>
          </p:cNvSpPr>
          <p:nvPr/>
        </p:nvSpPr>
        <p:spPr>
          <a:xfrm xmlns:a="http://schemas.openxmlformats.org/drawingml/2006/main">
            <a:off x="594360" y="3741420"/>
            <a:ext cx="3581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Intelligent anomaly detection pipeline</a:t>
            </a:r>
          </a:p>
        </p:txBody>
      </p:sp>
      <p:sp>
        <p:nvSpPr>
          <p:cNvPr id="21" name="Processing pipeline">
            <a:extLst xmlns:a="http://schemas.openxmlformats.org/drawingml/2006/main">
              <a:ext uri="{FF2B5EF4-FFF2-40B4-BE49-F238E27FC236}">
                <a16:creationId xmlns:a16="http://schemas.microsoft.com/office/drawing/2014/main" id="{0ED12694-34A4-45E5-B295-B77836007C8B}"/>
              </a:ext>
            </a:extLst>
          </p:cNvPr>
          <p:cNvSpPr>
            <a:spLocks xmlns:a="http://schemas.openxmlformats.org/drawingml/2006/main" noGrp="1"/>
          </p:cNvSpPr>
          <p:nvPr/>
        </p:nvSpPr>
        <p:spPr>
          <a:xfrm xmlns:a="http://schemas.openxmlformats.org/drawingml/2006/main">
            <a:off x="594360" y="4320540"/>
            <a:ext cx="10668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Processing pipeline</a:t>
            </a:r>
          </a:p>
        </p:txBody>
      </p:sp>
      <p:sp>
        <p:nvSpPr>
          <p:cNvPr id="22" name="Raw financial logs Invoices and tenders">
            <a:extLst xmlns:a="http://schemas.openxmlformats.org/drawingml/2006/main">
              <a:ext uri="{FF2B5EF4-FFF2-40B4-BE49-F238E27FC236}">
                <a16:creationId xmlns:a16="http://schemas.microsoft.com/office/drawing/2014/main" id="{D99C0706-EF5F-4FC2-AD3C-F1943537EE12}"/>
              </a:ext>
            </a:extLst>
          </p:cNvPr>
          <p:cNvSpPr>
            <a:spLocks xmlns:a="http://schemas.openxmlformats.org/drawingml/2006/main" noGrp="1"/>
          </p:cNvSpPr>
          <p:nvPr/>
        </p:nvSpPr>
        <p:spPr>
          <a:xfrm xmlns:a="http://schemas.openxmlformats.org/drawingml/2006/main">
            <a:off x="59436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Raw financial logs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Invoices and tenders</a:t>
            </a:r>
          </a:p>
        </p:txBody>
      </p:sp>
      <p:sp>
        <p:nvSpPr>
          <p:cNvPr id="23" name="Pandas cleansing Missing values and normalization">
            <a:extLst xmlns:a="http://schemas.openxmlformats.org/drawingml/2006/main">
              <a:ext uri="{FF2B5EF4-FFF2-40B4-BE49-F238E27FC236}">
                <a16:creationId xmlns:a16="http://schemas.microsoft.com/office/drawing/2014/main" id="{67B0BFA7-F17A-4F78-A241-51E5470A4535}"/>
              </a:ext>
            </a:extLst>
          </p:cNvPr>
          <p:cNvSpPr>
            <a:spLocks xmlns:a="http://schemas.openxmlformats.org/drawingml/2006/main" noGrp="1"/>
          </p:cNvSpPr>
          <p:nvPr/>
        </p:nvSpPr>
        <p:spPr>
          <a:xfrm xmlns:a="http://schemas.openxmlformats.org/drawingml/2006/main">
            <a:off x="284988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Pandas cleansing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Missing values and</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normalization</a:t>
            </a:r>
          </a:p>
        </p:txBody>
      </p:sp>
      <p:sp>
        <p:nvSpPr>
          <p:cNvPr id="24" name="Feature engineering Geotags, cost / deficit ratios, spending velocity">
            <a:extLst xmlns:a="http://schemas.openxmlformats.org/drawingml/2006/main">
              <a:ext uri="{FF2B5EF4-FFF2-40B4-BE49-F238E27FC236}">
                <a16:creationId xmlns:a16="http://schemas.microsoft.com/office/drawing/2014/main" id="{9186542E-7DF0-4C3D-B200-9C5440209A85}"/>
              </a:ext>
            </a:extLst>
          </p:cNvPr>
          <p:cNvSpPr>
            <a:spLocks xmlns:a="http://schemas.openxmlformats.org/drawingml/2006/main" noGrp="1"/>
          </p:cNvSpPr>
          <p:nvPr/>
        </p:nvSpPr>
        <p:spPr>
          <a:xfrm xmlns:a="http://schemas.openxmlformats.org/drawingml/2006/main">
            <a:off x="510540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Feature engineering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Geotags, cost / deficit</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ratios, spending velocity</a:t>
            </a:r>
          </a:p>
        </p:txBody>
      </p:sp>
      <p:sp>
        <p:nvSpPr>
          <p:cNvPr id="25" name="Model inference Isolation Forest, vector similarity, Random Forest*">
            <a:extLst xmlns:a="http://schemas.openxmlformats.org/drawingml/2006/main">
              <a:ext uri="{FF2B5EF4-FFF2-40B4-BE49-F238E27FC236}">
                <a16:creationId xmlns:a16="http://schemas.microsoft.com/office/drawing/2014/main" id="{B34B00DA-D822-454A-BB30-B6D28ED9DFD6}"/>
              </a:ext>
            </a:extLst>
          </p:cNvPr>
          <p:cNvSpPr>
            <a:spLocks xmlns:a="http://schemas.openxmlformats.org/drawingml/2006/main" noGrp="1"/>
          </p:cNvSpPr>
          <p:nvPr/>
        </p:nvSpPr>
        <p:spPr>
          <a:xfrm xmlns:a="http://schemas.openxmlformats.org/drawingml/2006/main">
            <a:off x="736092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Model inference</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Isolation Forest, vector</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similarity, Random Forest*</a:t>
            </a:r>
          </a:p>
        </p:txBody>
      </p:sp>
      <p:sp>
        <p:nvSpPr>
          <p:cNvPr id="26" name="Weighted risk scores Dynamic thresholds High / medium / low">
            <a:extLst xmlns:a="http://schemas.openxmlformats.org/drawingml/2006/main">
              <a:ext uri="{FF2B5EF4-FFF2-40B4-BE49-F238E27FC236}">
                <a16:creationId xmlns:a16="http://schemas.microsoft.com/office/drawing/2014/main" id="{2EF1CE1B-029C-4170-BDD0-C72D22DDE237}"/>
              </a:ext>
            </a:extLst>
          </p:cNvPr>
          <p:cNvSpPr>
            <a:spLocks xmlns:a="http://schemas.openxmlformats.org/drawingml/2006/main" noGrp="1"/>
          </p:cNvSpPr>
          <p:nvPr/>
        </p:nvSpPr>
        <p:spPr>
          <a:xfrm xmlns:a="http://schemas.openxmlformats.org/drawingml/2006/main">
            <a:off x="9616440" y="4770120"/>
            <a:ext cx="1965960" cy="86106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Weighted risk scores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Dynamic thresholds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High / medium / low</a:t>
            </a:r>
          </a:p>
        </p:txBody>
      </p:sp>
      <p:cxnSp>
        <p:nvCxnSpPr>
          <p:cNvPr id="60" name=""/>
          <p:cNvCxnSpPr>
            <a:stCxn xmlns:a="http://schemas.openxmlformats.org/drawingml/2006/main" id="22" idx="3"/>
            <a:endCxn xmlns:a="http://schemas.openxmlformats.org/drawingml/2006/main" id="23" idx="1"/>
          </p:cNvCxnSpPr>
          <p:nvPr/>
        </p:nvCxnSpPr>
        <p:spPr>
          <a:xfrm xmlns:a="http://schemas.openxmlformats.org/drawingml/2006/main">
            <a:off x="256032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1" name=""/>
          <p:cNvCxnSpPr>
            <a:stCxn xmlns:a="http://schemas.openxmlformats.org/drawingml/2006/main" id="23" idx="3"/>
            <a:endCxn xmlns:a="http://schemas.openxmlformats.org/drawingml/2006/main" id="24" idx="1"/>
          </p:cNvCxnSpPr>
          <p:nvPr/>
        </p:nvCxnSpPr>
        <p:spPr>
          <a:xfrm xmlns:a="http://schemas.openxmlformats.org/drawingml/2006/main">
            <a:off x="481584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2" name=""/>
          <p:cNvCxnSpPr>
            <a:stCxn xmlns:a="http://schemas.openxmlformats.org/drawingml/2006/main" id="24" idx="3"/>
            <a:endCxn xmlns:a="http://schemas.openxmlformats.org/drawingml/2006/main" id="25" idx="1"/>
          </p:cNvCxnSpPr>
          <p:nvPr/>
        </p:nvCxnSpPr>
        <p:spPr>
          <a:xfrm xmlns:a="http://schemas.openxmlformats.org/drawingml/2006/main">
            <a:off x="707136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3" name=""/>
          <p:cNvCxnSpPr>
            <a:stCxn xmlns:a="http://schemas.openxmlformats.org/drawingml/2006/main" id="25" idx="3"/>
            <a:endCxn xmlns:a="http://schemas.openxmlformats.org/drawingml/2006/main" id="26" idx="1"/>
          </p:cNvCxnSpPr>
          <p:nvPr/>
        </p:nvCxnSpPr>
        <p:spPr>
          <a:xfrm xmlns:a="http://schemas.openxmlformats.org/drawingml/2006/main">
            <a:off x="932688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31" name="Tech stack">
            <a:extLst xmlns:a="http://schemas.openxmlformats.org/drawingml/2006/main">
              <a:ext uri="{FF2B5EF4-FFF2-40B4-BE49-F238E27FC236}">
                <a16:creationId xmlns:a16="http://schemas.microsoft.com/office/drawing/2014/main" id="{CF862B1F-9C61-4C42-BE8A-C203FDDCFF88}"/>
              </a:ext>
            </a:extLst>
          </p:cNvPr>
          <p:cNvSpPr>
            <a:spLocks xmlns:a="http://schemas.openxmlformats.org/drawingml/2006/main" noGrp="1"/>
          </p:cNvSpPr>
          <p:nvPr/>
        </p:nvSpPr>
        <p:spPr>
          <a:xfrm xmlns:a="http://schemas.openxmlformats.org/drawingml/2006/main">
            <a:off x="609600" y="5905500"/>
            <a:ext cx="14859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234F83"/>
                </a:solidFill>
                <a:latin typeface="Calibri"/>
                <a:ea typeface="Calibri"/>
                <a:cs typeface="Calibri"/>
              </a:defRPr>
            </a:pPr>
            <a:r>
              <a:rPr sz="1620" b="1">
                <a:solidFill>
                  <a:srgbClr val="234F83"/>
                </a:solidFill>
                <a:latin typeface="Calibri"/>
                <a:ea typeface="Calibri"/>
                <a:cs typeface="Calibri"/>
              </a:rPr>
              <a:t>Tech stack</a:t>
            </a:r>
          </a:p>
        </p:txBody>
      </p:sp>
      <p:sp>
        <p:nvSpPr>
          <p:cNvPr id="32" name="Python, TensorFlow, NumPy, Pandas, scikit-learn, MongoD">
            <a:extLst xmlns:a="http://schemas.openxmlformats.org/drawingml/2006/main">
              <a:ext uri="{FF2B5EF4-FFF2-40B4-BE49-F238E27FC236}">
                <a16:creationId xmlns:a16="http://schemas.microsoft.com/office/drawing/2014/main" id="{4D51D6E9-26C0-4A31-8A1E-FF0A2C9AFB42}"/>
              </a:ext>
            </a:extLst>
          </p:cNvPr>
          <p:cNvSpPr>
            <a:spLocks xmlns:a="http://schemas.openxmlformats.org/drawingml/2006/main" noGrp="1"/>
          </p:cNvSpPr>
          <p:nvPr/>
        </p:nvSpPr>
        <p:spPr>
          <a:xfrm xmlns:a="http://schemas.openxmlformats.org/drawingml/2006/main">
            <a:off x="2164080" y="5905500"/>
            <a:ext cx="9448800" cy="31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Python, TensorFlow, NumPy, Pandas, scikit-learn, MongoDB, FastAPI and React.js</a:t>
            </a:r>
          </a:p>
        </p:txBody>
      </p:sp>
      <p:sp>
        <p:nvSpPr>
          <p:cNvPr id="33" name="*Use labeled cases for Random Forest. Explicit complian">
            <a:extLst xmlns:a="http://schemas.openxmlformats.org/drawingml/2006/main">
              <a:ext uri="{FF2B5EF4-FFF2-40B4-BE49-F238E27FC236}">
                <a16:creationId xmlns:a16="http://schemas.microsoft.com/office/drawing/2014/main" id="{8A3AD19A-25FC-497F-9623-341D6C13A623}"/>
              </a:ext>
            </a:extLst>
          </p:cNvPr>
          <p:cNvSpPr>
            <a:spLocks xmlns:a="http://schemas.openxmlformats.org/drawingml/2006/main" noGrp="1"/>
          </p:cNvSpPr>
          <p:nvPr/>
        </p:nvSpPr>
        <p:spPr>
          <a:xfrm xmlns:a="http://schemas.openxmlformats.org/drawingml/2006/main">
            <a:off x="609600" y="6263640"/>
            <a:ext cx="11049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*Use labeled cases for Random Forest. Explicit compliance checks remain in the rule engine.</a:t>
            </a:r>
          </a:p>
        </p:txBody>
      </p:sp>
    </p:spTree>
    <p:extLst>
      <p:ext uri="{BB962C8B-B14F-4D97-AF65-F5344CB8AC3E}">
        <p14:creationId xmlns:p14="http://schemas.microsoft.com/office/powerpoint/2010/main" val="7393648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EASIBILITY AND VIABILITY">
            <a:extLst xmlns:a="http://schemas.openxmlformats.org/drawingml/2006/main">
              <a:ext uri="{FF2B5EF4-FFF2-40B4-BE49-F238E27FC236}">
                <a16:creationId xmlns:a16="http://schemas.microsoft.com/office/drawing/2014/main" id="{2BF603A9-8812-412C-A638-EB3C846A562C}"/>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FEASIBILITY AND VIABILITY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7f226054709448e"/>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A006785-9608-45D3-AD11-84CA67AA7D9A}"/>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D4E8418B-4CAA-4035-8FBE-9528E153B604}"/>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2A5E774E-30CC-42D9-86DA-A44A49C576AD}"/>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4 / 7">
            <a:extLst xmlns:a="http://schemas.openxmlformats.org/drawingml/2006/main">
              <a:ext uri="{FF2B5EF4-FFF2-40B4-BE49-F238E27FC236}">
                <a16:creationId xmlns:a16="http://schemas.microsoft.com/office/drawing/2014/main" id="{7C5CE448-EEE4-46E6-8739-FFCC599B3FC2}"/>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4 / 7</a:t>
            </a:r>
          </a:p>
        </p:txBody>
      </p:sp>
      <p:sp>
        <p:nvSpPr>
          <p:cNvPr id="7" name="Risk assessment and mitigation">
            <a:extLst xmlns:a="http://schemas.openxmlformats.org/drawingml/2006/main">
              <a:ext uri="{FF2B5EF4-FFF2-40B4-BE49-F238E27FC236}">
                <a16:creationId xmlns:a16="http://schemas.microsoft.com/office/drawing/2014/main" id="{9C7D95CB-C78D-45CA-ABC5-2363F3E4FC2A}"/>
              </a:ext>
            </a:extLst>
          </p:cNvPr>
          <p:cNvSpPr>
            <a:spLocks xmlns:a="http://schemas.openxmlformats.org/drawingml/2006/main" noGrp="1"/>
          </p:cNvSpPr>
          <p:nvPr/>
        </p:nvSpPr>
        <p:spPr>
          <a:xfrm xmlns:a="http://schemas.openxmlformats.org/drawingml/2006/main">
            <a:off x="594360" y="133350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Risk assessment and mitigation</a:t>
            </a:r>
          </a:p>
        </p:txBody>
      </p:sp>
      <p:graphicFrame>
        <p:nvGraphicFramePr>
          <p:cNvPr id="22" name=""/>
          <p:cNvGraphicFramePr/>
          <p:nvPr/>
        </p:nvGraphicFramePr>
        <p:xfrm>
          <a:off xmlns:a="http://schemas.openxmlformats.org/drawingml/2006/main" x="594360" y="1798320"/>
          <a:ext xmlns:a="http://schemas.openxmlformats.org/drawingml/2006/main" cx="11003280" cy="2491740"/>
        </p:xfrm>
        <a:graphic xmlns:a="http://schemas.openxmlformats.org/drawingml/2006/main">
          <a:graphicData uri="http://schemas.openxmlformats.org/drawingml/2006/table">
            <a:tbl>
              <a:tblPr firstRow="0" bandRow="0"/>
              <a:tblGrid>
                <a:gridCol w="3230880"/>
                <a:gridCol w="7772400"/>
              </a:tblGrid>
              <a:tr h="411480">
                <a:tc>
                  <a:txBody>
                    <a:bodyPr lIns="121920" tIns="45720" rIns="106680" bIns="45720">
                      <a:noAutofit/>
                    </a:bodyPr>
                    <a:lstStyle/>
                    <a:p>
                      <a:r>
                        <a:rPr sz="1560" b="1">
                          <a:solidFill>
                            <a:srgbClr val="FFFFFF"/>
                          </a:solidFill>
                          <a:latin typeface="Calibri"/>
                          <a:ea typeface="Calibri"/>
                          <a:cs typeface="Calibri"/>
                        </a:rPr>
                        <a:t>Risk</a:t>
                      </a:r>
                    </a:p>
                  </a:txBody>
                  <a:tcPr marL="121920" marR="106680" marT="45720" marB="45720" anchor="ctr">
                    <a:solidFill>
                      <a:srgbClr val="234F83"/>
                    </a:solidFill>
                  </a:tcPr>
                </a:tc>
                <a:tc>
                  <a:txBody>
                    <a:bodyPr lIns="121920" tIns="45720" rIns="106680" bIns="45720">
                      <a:noAutofit/>
                    </a:bodyPr>
                    <a:lstStyle/>
                    <a:p>
                      <a:r>
                        <a:rPr sz="1560" b="1">
                          <a:solidFill>
                            <a:srgbClr val="FFFFFF"/>
                          </a:solidFill>
                          <a:latin typeface="Calibri"/>
                          <a:ea typeface="Calibri"/>
                          <a:cs typeface="Calibri"/>
                        </a:rPr>
                        <a:t>Proposed mitigation</a:t>
                      </a:r>
                    </a:p>
                  </a:txBody>
                  <a:tcPr marL="121920" marR="106680" marT="45720" marB="45720" anchor="ctr">
                    <a:solidFill>
                      <a:srgbClr val="234F83"/>
                    </a:solidFill>
                  </a:tcPr>
                </a:tc>
              </a:tr>
              <a:tr h="693420">
                <a:tc>
                  <a:txBody>
                    <a:bodyPr lIns="121920" tIns="45720" rIns="106680" bIns="45720">
                      <a:noAutofit/>
                    </a:bodyPr>
                    <a:lstStyle/>
                    <a:p>
                      <a:r>
                        <a:rPr sz="1620" b="1">
                          <a:solidFill>
                            <a:srgbClr val="162B3B"/>
                          </a:solidFill>
                          <a:latin typeface="Calibri"/>
                          <a:ea typeface="Calibri"/>
                          <a:cs typeface="Calibri"/>
                        </a:rPr>
                        <a:t>Data transparency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Vague or delayed district reports: automate authorized invoice and tender ingestion through FastAPI.</a:t>
                      </a:r>
                    </a:p>
                  </a:txBody>
                  <a:tcPr marL="121920" marR="106680" marT="45720" marB="45720" anchor="ctr">
                    <a:solidFill>
                      <a:srgbClr val="FFFFFF"/>
                    </a:solidFill>
                  </a:tcPr>
                </a:tc>
              </a:tr>
              <a:tr h="693420">
                <a:tc>
                  <a:txBody>
                    <a:bodyPr lIns="121920" tIns="45720" rIns="106680" bIns="45720">
                      <a:noAutofit/>
                    </a:bodyPr>
                    <a:lstStyle/>
                    <a:p>
                      <a:r>
                        <a:rPr sz="1620" b="1">
                          <a:solidFill>
                            <a:srgbClr val="162B3B"/>
                          </a:solidFill>
                          <a:latin typeface="Calibri"/>
                          <a:ea typeface="Calibri"/>
                          <a:cs typeface="Calibri"/>
                        </a:rPr>
                        <a:t>Auditing bottlenecks</a:t>
                      </a:r>
                    </a:p>
                  </a:txBody>
                  <a:tcPr marL="121920" marR="106680" marT="45720" marB="45720" anchor="ctr">
                    <a:solidFill>
                      <a:srgbClr val="EDF4FA"/>
                    </a:solidFill>
                  </a:tcPr>
                </a:tc>
                <a:tc>
                  <a:txBody>
                    <a:bodyPr lIns="121920" tIns="45720" rIns="106680" bIns="45720">
                      <a:noAutofit/>
                    </a:bodyPr>
                    <a:lstStyle/>
                    <a:p>
                      <a:r>
                        <a:rPr sz="1620" b="0">
                          <a:solidFill>
                            <a:srgbClr val="162B3B"/>
                          </a:solidFill>
                          <a:latin typeface="Calibri"/>
                          <a:ea typeface="Calibri"/>
                          <a:cs typeface="Calibri"/>
                        </a:rPr>
                        <a:t>High manual cost and oversight lags: use Isolation Forest to prioritize financial anomalies and outliers.</a:t>
                      </a:r>
                    </a:p>
                  </a:txBody>
                  <a:tcPr marL="121920" marR="106680" marT="45720" marB="45720" anchor="ctr">
                    <a:solidFill>
                      <a:srgbClr val="EDF4FA"/>
                    </a:solidFill>
                  </a:tcPr>
                </a:tc>
              </a:tr>
              <a:tr h="693420">
                <a:tc>
                  <a:txBody>
                    <a:bodyPr lIns="121920" tIns="45720" rIns="106680" bIns="45720">
                      <a:noAutofit/>
                    </a:bodyPr>
                    <a:lstStyle/>
                    <a:p>
                      <a:r>
                        <a:rPr sz="1620" b="1">
                          <a:solidFill>
                            <a:srgbClr val="162B3B"/>
                          </a:solidFill>
                          <a:latin typeface="Calibri"/>
                          <a:ea typeface="Calibri"/>
                          <a:cs typeface="Calibri"/>
                        </a:rPr>
                        <a:t>False positives and credibility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Support officials with multi-tier risk scores and verifiable district evidence before investigation.</a:t>
                      </a:r>
                    </a:p>
                  </a:txBody>
                  <a:tcPr marL="121920" marR="106680" marT="45720" marB="45720" anchor="ctr">
                    <a:solidFill>
                      <a:srgbClr val="FFFFFF"/>
                    </a:solidFill>
                  </a:tcPr>
                </a:tc>
              </a:tr>
            </a:tbl>
          </a:graphicData>
        </a:graphic>
      </p:graphicFrame>
      <p:sp>
        <p:nvSpPr>
          <p:cNvPr id="9" name="Technical feasibility">
            <a:extLst xmlns:a="http://schemas.openxmlformats.org/drawingml/2006/main">
              <a:ext uri="{FF2B5EF4-FFF2-40B4-BE49-F238E27FC236}">
                <a16:creationId xmlns:a16="http://schemas.microsoft.com/office/drawing/2014/main" id="{9B8FBC6A-365A-4560-9F67-733D6EF7978D}"/>
              </a:ext>
            </a:extLst>
          </p:cNvPr>
          <p:cNvSpPr>
            <a:spLocks xmlns:a="http://schemas.openxmlformats.org/drawingml/2006/main" noGrp="1"/>
          </p:cNvSpPr>
          <p:nvPr/>
        </p:nvSpPr>
        <p:spPr>
          <a:xfrm xmlns:a="http://schemas.openxmlformats.org/drawingml/2006/main">
            <a:off x="609600" y="44043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feasibility</a:t>
            </a:r>
          </a:p>
        </p:txBody>
      </p:sp>
      <p:sp>
        <p:nvSpPr>
          <p:cNvPr id="10" name="React.js UI, FastAPI APIs and MongoDB storage.&#10;&#10;Python ">
            <a:extLst xmlns:a="http://schemas.openxmlformats.org/drawingml/2006/main">
              <a:ext uri="{FF2B5EF4-FFF2-40B4-BE49-F238E27FC236}">
                <a16:creationId xmlns:a16="http://schemas.microsoft.com/office/drawing/2014/main" id="{0D0A7681-936F-4420-B58A-AA23993537B1}"/>
              </a:ext>
            </a:extLst>
          </p:cNvPr>
          <p:cNvSpPr>
            <a:spLocks xmlns:a="http://schemas.openxmlformats.org/drawingml/2006/main" noGrp="1"/>
          </p:cNvSpPr>
          <p:nvPr/>
        </p:nvSpPr>
        <p:spPr>
          <a:xfrm xmlns:a="http://schemas.openxmlformats.org/drawingml/2006/main">
            <a:off x="609600" y="4762500"/>
            <a:ext cx="343662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React.js UI, FastAPI APIs and MongoDB storage.</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Python analytics with Pandas and scikit-learn.</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Secure cloud architecture for district data at national scale.</a:t>
            </a:r>
          </a:p>
        </p:txBody>
      </p:sp>
      <p:sp>
        <p:nvSpPr>
          <p:cNvPr id="11" name="Economic approach">
            <a:extLst xmlns:a="http://schemas.openxmlformats.org/drawingml/2006/main">
              <a:ext uri="{FF2B5EF4-FFF2-40B4-BE49-F238E27FC236}">
                <a16:creationId xmlns:a16="http://schemas.microsoft.com/office/drawing/2014/main" id="{B249ECA5-D298-4000-875B-B7F21AF1F147}"/>
              </a:ext>
            </a:extLst>
          </p:cNvPr>
          <p:cNvSpPr>
            <a:spLocks xmlns:a="http://schemas.openxmlformats.org/drawingml/2006/main" noGrp="1"/>
          </p:cNvSpPr>
          <p:nvPr/>
        </p:nvSpPr>
        <p:spPr>
          <a:xfrm xmlns:a="http://schemas.openxmlformats.org/drawingml/2006/main">
            <a:off x="4373880" y="44043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Economic approach</a:t>
            </a:r>
          </a:p>
        </p:txBody>
      </p:sp>
      <p:sp>
        <p:nvSpPr>
          <p:cNvPr id="12" name="Reduce paperwork, audit delays and administrative cost.">
            <a:extLst xmlns:a="http://schemas.openxmlformats.org/drawingml/2006/main">
              <a:ext uri="{FF2B5EF4-FFF2-40B4-BE49-F238E27FC236}">
                <a16:creationId xmlns:a16="http://schemas.microsoft.com/office/drawing/2014/main" id="{B27CFF15-CC65-40E0-888B-82A1B977A10D}"/>
              </a:ext>
            </a:extLst>
          </p:cNvPr>
          <p:cNvSpPr>
            <a:spLocks xmlns:a="http://schemas.openxmlformats.org/drawingml/2006/main" noGrp="1"/>
          </p:cNvSpPr>
          <p:nvPr/>
        </p:nvSpPr>
        <p:spPr>
          <a:xfrm xmlns:a="http://schemas.openxmlformats.org/drawingml/2006/main">
            <a:off x="4373880" y="4762500"/>
            <a:ext cx="343662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Reduce paperwork, audit delays and administrative cost.</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Limit March Rush and ghost-project losses.</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Extend to states and ministries, with governance SaaS potential.</a:t>
            </a:r>
          </a:p>
        </p:txBody>
      </p:sp>
      <p:sp>
        <p:nvSpPr>
          <p:cNvPr id="13" name="Resource requirements">
            <a:extLst xmlns:a="http://schemas.openxmlformats.org/drawingml/2006/main">
              <a:ext uri="{FF2B5EF4-FFF2-40B4-BE49-F238E27FC236}">
                <a16:creationId xmlns:a16="http://schemas.microsoft.com/office/drawing/2014/main" id="{6D6F7600-79BF-4373-BC26-EBA68F318C21}"/>
              </a:ext>
            </a:extLst>
          </p:cNvPr>
          <p:cNvSpPr>
            <a:spLocks xmlns:a="http://schemas.openxmlformats.org/drawingml/2006/main" noGrp="1"/>
          </p:cNvSpPr>
          <p:nvPr/>
        </p:nvSpPr>
        <p:spPr>
          <a:xfrm xmlns:a="http://schemas.openxmlformats.org/drawingml/2006/main">
            <a:off x="8138160" y="4404360"/>
            <a:ext cx="34594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Resource requirements</a:t>
            </a:r>
          </a:p>
        </p:txBody>
      </p:sp>
      <p:sp>
        <p:nvSpPr>
          <p:cNvPr id="14" name="Python libraries and the application stack.&#10;&#10;AWS / Rend">
            <a:extLst xmlns:a="http://schemas.openxmlformats.org/drawingml/2006/main">
              <a:ext uri="{FF2B5EF4-FFF2-40B4-BE49-F238E27FC236}">
                <a16:creationId xmlns:a16="http://schemas.microsoft.com/office/drawing/2014/main" id="{B91BE174-5B0E-4703-B8DA-4DF0F29B2F87}"/>
              </a:ext>
            </a:extLst>
          </p:cNvPr>
          <p:cNvSpPr>
            <a:spLocks xmlns:a="http://schemas.openxmlformats.org/drawingml/2006/main" noGrp="1"/>
          </p:cNvSpPr>
          <p:nvPr/>
        </p:nvSpPr>
        <p:spPr>
          <a:xfrm xmlns:a="http://schemas.openxmlformats.org/drawingml/2006/main">
            <a:off x="8138160" y="4762500"/>
            <a:ext cx="345948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Python libraries and the application stack.</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AWS / Render for APIs and data, Vercel for the UI.</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Responsive dashboards, charting libraries and live risk heatmaps.</a:t>
            </a:r>
          </a:p>
        </p:txBody>
      </p:sp>
    </p:spTree>
    <p:extLst>
      <p:ext uri="{BB962C8B-B14F-4D97-AF65-F5344CB8AC3E}">
        <p14:creationId xmlns:p14="http://schemas.microsoft.com/office/powerpoint/2010/main" val="7000270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IMPACT AND BENEFITS">
            <a:extLst xmlns:a="http://schemas.openxmlformats.org/drawingml/2006/main">
              <a:ext uri="{FF2B5EF4-FFF2-40B4-BE49-F238E27FC236}">
                <a16:creationId xmlns:a16="http://schemas.microsoft.com/office/drawing/2014/main" id="{ABA47E33-DD64-464A-A77A-29C98B1AEBDB}"/>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IMPACT AND BENEFITS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709f844fdf34772"/>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Expected benefits for governance, public spending and l">
            <a:extLst xmlns:a="http://schemas.openxmlformats.org/drawingml/2006/main">
              <a:ext uri="{FF2B5EF4-FFF2-40B4-BE49-F238E27FC236}">
                <a16:creationId xmlns:a16="http://schemas.microsoft.com/office/drawing/2014/main" id="{3AA04BFB-D2D0-4281-BB2C-753CFDC8A6A3}"/>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Expected benefits for governance, public spending and local communities</a:t>
            </a:r>
          </a:p>
        </p:txBody>
      </p:sp>
      <p:sp>
        <p:nvSpPr>
          <p:cNvPr id="4" name="">
            <a:extLst xmlns:a="http://schemas.openxmlformats.org/drawingml/2006/main">
              <a:ext uri="{FF2B5EF4-FFF2-40B4-BE49-F238E27FC236}">
                <a16:creationId xmlns:a16="http://schemas.microsoft.com/office/drawing/2014/main" id="{162E4A59-CF23-471F-83BB-32B5DC5D83BC}"/>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9D29989F-0642-4807-8D7F-80731041DFE8}"/>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5ADE9801-A626-4492-AE27-F9EB4C195ED2}"/>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5 / 7">
            <a:extLst xmlns:a="http://schemas.openxmlformats.org/drawingml/2006/main">
              <a:ext uri="{FF2B5EF4-FFF2-40B4-BE49-F238E27FC236}">
                <a16:creationId xmlns:a16="http://schemas.microsoft.com/office/drawing/2014/main" id="{C800A32B-F6C2-4DD8-8EB0-98F3509D932F}"/>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5 / 7</a:t>
            </a:r>
          </a:p>
        </p:txBody>
      </p:sp>
      <p:sp>
        <p:nvSpPr>
          <p:cNvPr id="8" name="Potential impact">
            <a:extLst xmlns:a="http://schemas.openxmlformats.org/drawingml/2006/main">
              <a:ext uri="{FF2B5EF4-FFF2-40B4-BE49-F238E27FC236}">
                <a16:creationId xmlns:a16="http://schemas.microsoft.com/office/drawing/2014/main" id="{2EC580ED-293F-4C6A-A937-242A2DEC78BA}"/>
              </a:ext>
            </a:extLst>
          </p:cNvPr>
          <p:cNvSpPr>
            <a:spLocks xmlns:a="http://schemas.openxmlformats.org/drawingml/2006/main" noGrp="1"/>
          </p:cNvSpPr>
          <p:nvPr/>
        </p:nvSpPr>
        <p:spPr>
          <a:xfrm xmlns:a="http://schemas.openxmlformats.org/drawingml/2006/main">
            <a:off x="594360" y="1630680"/>
            <a:ext cx="53111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Potential impact</a:t>
            </a:r>
          </a:p>
        </p:txBody>
      </p:sp>
      <p:graphicFrame>
        <p:nvGraphicFramePr>
          <p:cNvPr id="30" name=""/>
          <p:cNvGraphicFramePr/>
          <p:nvPr/>
        </p:nvGraphicFramePr>
        <p:xfrm>
          <a:off xmlns:a="http://schemas.openxmlformats.org/drawingml/2006/main" x="594360" y="2080260"/>
          <a:ext xmlns:a="http://schemas.openxmlformats.org/drawingml/2006/main" cx="5311140" cy="3840480"/>
        </p:xfrm>
        <a:graphic xmlns:a="http://schemas.openxmlformats.org/drawingml/2006/main">
          <a:graphicData uri="http://schemas.openxmlformats.org/drawingml/2006/table">
            <a:tbl>
              <a:tblPr firstRow="0" bandRow="0"/>
              <a:tblGrid>
                <a:gridCol w="1661160"/>
                <a:gridCol w="3649980"/>
              </a:tblGrid>
              <a:tr h="426720">
                <a:tc>
                  <a:txBody>
                    <a:bodyPr lIns="121920" tIns="45720" rIns="106680" bIns="45720">
                      <a:noAutofit/>
                    </a:bodyPr>
                    <a:lstStyle/>
                    <a:p>
                      <a:r>
                        <a:rPr sz="1440" b="1">
                          <a:solidFill>
                            <a:srgbClr val="FFFFFF"/>
                          </a:solidFill>
                          <a:latin typeface="Calibri"/>
                          <a:ea typeface="Calibri"/>
                          <a:cs typeface="Calibri"/>
                        </a:rPr>
                        <a:t>Area</a:t>
                      </a:r>
                    </a:p>
                  </a:txBody>
                  <a:tcPr marL="121920" marR="106680" marT="45720" marB="45720" anchor="ctr">
                    <a:solidFill>
                      <a:srgbClr val="234F83"/>
                    </a:solidFill>
                  </a:tcPr>
                </a:tc>
                <a:tc>
                  <a:txBody>
                    <a:bodyPr lIns="121920" tIns="45720" rIns="106680" bIns="45720">
                      <a:noAutofit/>
                    </a:bodyPr>
                    <a:lstStyle/>
                    <a:p>
                      <a:r>
                        <a:rPr sz="1440" b="1">
                          <a:solidFill>
                            <a:srgbClr val="FFFFFF"/>
                          </a:solidFill>
                          <a:latin typeface="Calibri"/>
                          <a:ea typeface="Calibri"/>
                          <a:cs typeface="Calibri"/>
                        </a:rPr>
                        <a:t>Expected benefit</a:t>
                      </a:r>
                    </a:p>
                  </a:txBody>
                  <a:tcPr marL="121920" marR="106680" marT="45720" marB="45720" anchor="ctr">
                    <a:solidFill>
                      <a:srgbClr val="234F83"/>
                    </a:solidFill>
                  </a:tcPr>
                </a:tc>
              </a:tr>
              <a:tr h="853440">
                <a:tc>
                  <a:txBody>
                    <a:bodyPr lIns="121920" tIns="45720" rIns="106680" bIns="45720">
                      <a:noAutofit/>
                    </a:bodyPr>
                    <a:lstStyle/>
                    <a:p>
                      <a:r>
                        <a:rPr sz="1500" b="1">
                          <a:solidFill>
                            <a:srgbClr val="162B3B"/>
                          </a:solidFill>
                          <a:latin typeface="Calibri"/>
                          <a:ea typeface="Calibri"/>
                          <a:cs typeface="Calibri"/>
                        </a:rPr>
                        <a:t>Governance and transparency</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Give central authorities, districts and citizens a shared, traceable view of fund use.</a:t>
                      </a:r>
                    </a:p>
                  </a:txBody>
                  <a:tcPr marL="121920" marR="106680" marT="45720" marB="45720" anchor="ctr">
                    <a:solidFill>
                      <a:srgbClr val="FFFFFF"/>
                    </a:solidFill>
                  </a:tcPr>
                </a:tc>
              </a:tr>
              <a:tr h="853440">
                <a:tc>
                  <a:txBody>
                    <a:bodyPr lIns="121920" tIns="45720" rIns="106680" bIns="45720">
                      <a:noAutofit/>
                    </a:bodyPr>
                    <a:lstStyle/>
                    <a:p>
                      <a:r>
                        <a:rPr sz="1500" b="1">
                          <a:solidFill>
                            <a:srgbClr val="162B3B"/>
                          </a:solidFill>
                          <a:latin typeface="Calibri"/>
                          <a:ea typeface="Calibri"/>
                          <a:cs typeface="Calibri"/>
                        </a:rPr>
                        <a:t>Economic and financial</a:t>
                      </a:r>
                    </a:p>
                  </a:txBody>
                  <a:tcPr marL="121920" marR="106680" marT="45720" marB="45720" anchor="ctr">
                    <a:solidFill>
                      <a:srgbClr val="EDF4FA"/>
                    </a:solidFill>
                  </a:tcPr>
                </a:tc>
                <a:tc>
                  <a:txBody>
                    <a:bodyPr lIns="121920" tIns="45720" rIns="106680" bIns="45720">
                      <a:noAutofit/>
                    </a:bodyPr>
                    <a:lstStyle/>
                    <a:p>
                      <a:r>
                        <a:rPr sz="1500" b="0">
                          <a:solidFill>
                            <a:srgbClr val="162B3B"/>
                          </a:solidFill>
                          <a:latin typeface="Calibri"/>
                          <a:ea typeface="Calibri"/>
                          <a:cs typeface="Calibri"/>
                        </a:rPr>
                        <a:t>Reduce losses from March Rush, ghost funding and misallocation of public money.</a:t>
                      </a:r>
                    </a:p>
                  </a:txBody>
                  <a:tcPr marL="121920" marR="106680" marT="45720" marB="45720" anchor="ctr">
                    <a:solidFill>
                      <a:srgbClr val="EDF4FA"/>
                    </a:solidFill>
                  </a:tcPr>
                </a:tc>
              </a:tr>
              <a:tr h="853440">
                <a:tc>
                  <a:txBody>
                    <a:bodyPr lIns="121920" tIns="45720" rIns="106680" bIns="45720">
                      <a:noAutofit/>
                    </a:bodyPr>
                    <a:lstStyle/>
                    <a:p>
                      <a:r>
                        <a:rPr sz="1500" b="1">
                          <a:solidFill>
                            <a:srgbClr val="162B3B"/>
                          </a:solidFill>
                          <a:latin typeface="Calibri"/>
                          <a:ea typeface="Calibri"/>
                          <a:cs typeface="Calibri"/>
                        </a:rPr>
                        <a:t>Operational efficiency</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Screen all eligible digital records and issue timely alerts to prioritize audits.</a:t>
                      </a:r>
                    </a:p>
                  </a:txBody>
                  <a:tcPr marL="121920" marR="106680" marT="45720" marB="45720" anchor="ctr">
                    <a:solidFill>
                      <a:srgbClr val="FFFFFF"/>
                    </a:solidFill>
                  </a:tcPr>
                </a:tc>
              </a:tr>
              <a:tr h="853440">
                <a:tc>
                  <a:txBody>
                    <a:bodyPr lIns="121920" tIns="45720" rIns="106680" bIns="45720">
                      <a:noAutofit/>
                    </a:bodyPr>
                    <a:lstStyle/>
                    <a:p>
                      <a:r>
                        <a:rPr sz="1500" b="1">
                          <a:solidFill>
                            <a:srgbClr val="162B3B"/>
                          </a:solidFill>
                          <a:latin typeface="Calibri"/>
                          <a:ea typeface="Calibri"/>
                          <a:cs typeface="Calibri"/>
                        </a:rPr>
                        <a:t>National development</a:t>
                      </a:r>
                    </a:p>
                  </a:txBody>
                  <a:tcPr marL="121920" marR="106680" marT="45720" marB="45720" anchor="ctr">
                    <a:solidFill>
                      <a:srgbClr val="EDF4FA"/>
                    </a:solidFill>
                  </a:tcPr>
                </a:tc>
                <a:tc>
                  <a:txBody>
                    <a:bodyPr lIns="121920" tIns="45720" rIns="106680" bIns="45720">
                      <a:noAutofit/>
                    </a:bodyPr>
                    <a:lstStyle/>
                    <a:p>
                      <a:r>
                        <a:rPr sz="1500" b="0">
                          <a:solidFill>
                            <a:srgbClr val="162B3B"/>
                          </a:solidFill>
                          <a:latin typeface="Calibri"/>
                          <a:ea typeface="Calibri"/>
                          <a:cs typeface="Calibri"/>
                        </a:rPr>
                        <a:t>Strengthen grassroots infrastructure and direct MPLADS funds toward intended communities.</a:t>
                      </a:r>
                    </a:p>
                  </a:txBody>
                  <a:tcPr marL="121920" marR="106680" marT="45720" marB="45720" anchor="ctr">
                    <a:solidFill>
                      <a:srgbClr val="EDF4FA"/>
                    </a:solidFill>
                  </a:tcPr>
                </a:tc>
              </a:tr>
            </a:tbl>
          </a:graphicData>
        </a:graphic>
      </p:graphicFrame>
      <p:sp>
        <p:nvSpPr>
          <p:cNvPr id="10" name="Future prospects">
            <a:extLst xmlns:a="http://schemas.openxmlformats.org/drawingml/2006/main">
              <a:ext uri="{FF2B5EF4-FFF2-40B4-BE49-F238E27FC236}">
                <a16:creationId xmlns:a16="http://schemas.microsoft.com/office/drawing/2014/main" id="{6EEFED56-EBC5-4C77-8C1C-8F331A1059DD}"/>
              </a:ext>
            </a:extLst>
          </p:cNvPr>
          <p:cNvSpPr>
            <a:spLocks xmlns:a="http://schemas.openxmlformats.org/drawingml/2006/main" noGrp="1"/>
          </p:cNvSpPr>
          <p:nvPr/>
        </p:nvSpPr>
        <p:spPr>
          <a:xfrm xmlns:a="http://schemas.openxmlformats.org/drawingml/2006/main">
            <a:off x="6362700" y="163068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Future prospects</a:t>
            </a:r>
          </a:p>
        </p:txBody>
      </p:sp>
      <p:sp>
        <p:nvSpPr>
          <p:cNvPr id="11" name="01  Cross-scheme scalability">
            <a:extLst xmlns:a="http://schemas.openxmlformats.org/drawingml/2006/main">
              <a:ext uri="{FF2B5EF4-FFF2-40B4-BE49-F238E27FC236}">
                <a16:creationId xmlns:a16="http://schemas.microsoft.com/office/drawing/2014/main" id="{28D75CC6-69A5-4E6B-8698-9EA8553660FD}"/>
              </a:ext>
            </a:extLst>
          </p:cNvPr>
          <p:cNvSpPr>
            <a:spLocks xmlns:a="http://schemas.openxmlformats.org/drawingml/2006/main" noGrp="1"/>
          </p:cNvSpPr>
          <p:nvPr/>
        </p:nvSpPr>
        <p:spPr>
          <a:xfrm xmlns:a="http://schemas.openxmlformats.org/drawingml/2006/main">
            <a:off x="6385560" y="207264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01  Cross-scheme scalability</a:t>
            </a:r>
          </a:p>
        </p:txBody>
      </p:sp>
      <p:sp>
        <p:nvSpPr>
          <p:cNvPr id="12" name="Extend to MGNREGA, PMGSY and other central and state we">
            <a:extLst xmlns:a="http://schemas.openxmlformats.org/drawingml/2006/main">
              <a:ext uri="{FF2B5EF4-FFF2-40B4-BE49-F238E27FC236}">
                <a16:creationId xmlns:a16="http://schemas.microsoft.com/office/drawing/2014/main" id="{37DB386C-3733-4014-9E4F-FDDDD5156411}"/>
              </a:ext>
            </a:extLst>
          </p:cNvPr>
          <p:cNvSpPr>
            <a:spLocks xmlns:a="http://schemas.openxmlformats.org/drawingml/2006/main" noGrp="1"/>
          </p:cNvSpPr>
          <p:nvPr/>
        </p:nvSpPr>
        <p:spPr>
          <a:xfrm xmlns:a="http://schemas.openxmlformats.org/drawingml/2006/main">
            <a:off x="6385560" y="236982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Extend to MGNREGA, PMGSY and other central and state welfare schemes.</a:t>
            </a:r>
          </a:p>
        </p:txBody>
      </p:sp>
      <p:sp>
        <p:nvSpPr>
          <p:cNvPr id="13" name="02  Predictive AI modeling">
            <a:extLst xmlns:a="http://schemas.openxmlformats.org/drawingml/2006/main">
              <a:ext uri="{FF2B5EF4-FFF2-40B4-BE49-F238E27FC236}">
                <a16:creationId xmlns:a16="http://schemas.microsoft.com/office/drawing/2014/main" id="{A27C79FE-383D-40E2-A36B-0B0F4FCF1E93}"/>
              </a:ext>
            </a:extLst>
          </p:cNvPr>
          <p:cNvSpPr>
            <a:spLocks xmlns:a="http://schemas.openxmlformats.org/drawingml/2006/main" noGrp="1"/>
          </p:cNvSpPr>
          <p:nvPr/>
        </p:nvSpPr>
        <p:spPr>
          <a:xfrm xmlns:a="http://schemas.openxmlformats.org/drawingml/2006/main">
            <a:off x="6385560" y="284988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02  Predictive AI modeling</a:t>
            </a:r>
          </a:p>
        </p:txBody>
      </p:sp>
      <p:sp>
        <p:nvSpPr>
          <p:cNvPr id="14" name="Use time-series forecasting to anticipate budget defici">
            <a:extLst xmlns:a="http://schemas.openxmlformats.org/drawingml/2006/main">
              <a:ext uri="{FF2B5EF4-FFF2-40B4-BE49-F238E27FC236}">
                <a16:creationId xmlns:a16="http://schemas.microsoft.com/office/drawing/2014/main" id="{06546498-5C3B-4357-BAF7-3E847731ADD1}"/>
              </a:ext>
            </a:extLst>
          </p:cNvPr>
          <p:cNvSpPr>
            <a:spLocks xmlns:a="http://schemas.openxmlformats.org/drawingml/2006/main" noGrp="1"/>
          </p:cNvSpPr>
          <p:nvPr/>
        </p:nvSpPr>
        <p:spPr>
          <a:xfrm xmlns:a="http://schemas.openxmlformats.org/drawingml/2006/main">
            <a:off x="6385560" y="314706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Use time-series forecasting to anticipate budget deficits and fund overruns.</a:t>
            </a:r>
          </a:p>
        </p:txBody>
      </p:sp>
      <p:sp>
        <p:nvSpPr>
          <p:cNvPr id="15" name="03  Blockchain integration">
            <a:extLst xmlns:a="http://schemas.openxmlformats.org/drawingml/2006/main">
              <a:ext uri="{FF2B5EF4-FFF2-40B4-BE49-F238E27FC236}">
                <a16:creationId xmlns:a16="http://schemas.microsoft.com/office/drawing/2014/main" id="{07A8D277-9255-4D08-9DD6-EEF70E13AF9D}"/>
              </a:ext>
            </a:extLst>
          </p:cNvPr>
          <p:cNvSpPr>
            <a:spLocks xmlns:a="http://schemas.openxmlformats.org/drawingml/2006/main" noGrp="1"/>
          </p:cNvSpPr>
          <p:nvPr/>
        </p:nvSpPr>
        <p:spPr>
          <a:xfrm xmlns:a="http://schemas.openxmlformats.org/drawingml/2006/main">
            <a:off x="6385560" y="362712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03  Blockchain integration</a:t>
            </a:r>
          </a:p>
        </p:txBody>
      </p:sp>
      <p:sp>
        <p:nvSpPr>
          <p:cNvPr id="16" name="Explore immutable vendor-invoice logs to deter duplicat">
            <a:extLst xmlns:a="http://schemas.openxmlformats.org/drawingml/2006/main">
              <a:ext uri="{FF2B5EF4-FFF2-40B4-BE49-F238E27FC236}">
                <a16:creationId xmlns:a16="http://schemas.microsoft.com/office/drawing/2014/main" id="{3081FC5B-0351-4077-95AC-B42ED1D5F029}"/>
              </a:ext>
            </a:extLst>
          </p:cNvPr>
          <p:cNvSpPr>
            <a:spLocks xmlns:a="http://schemas.openxmlformats.org/drawingml/2006/main" noGrp="1"/>
          </p:cNvSpPr>
          <p:nvPr/>
        </p:nvSpPr>
        <p:spPr>
          <a:xfrm xmlns:a="http://schemas.openxmlformats.org/drawingml/2006/main">
            <a:off x="6385560" y="392430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Explore immutable vendor-invoice logs to deter duplicate billing and tampering.</a:t>
            </a:r>
          </a:p>
        </p:txBody>
      </p:sp>
      <p:sp>
        <p:nvSpPr>
          <p:cNvPr id="17" name="04  Citizen mobile app">
            <a:extLst xmlns:a="http://schemas.openxmlformats.org/drawingml/2006/main">
              <a:ext uri="{FF2B5EF4-FFF2-40B4-BE49-F238E27FC236}">
                <a16:creationId xmlns:a16="http://schemas.microsoft.com/office/drawing/2014/main" id="{C8D20236-9382-4B2E-9F0F-4AB170DCD966}"/>
              </a:ext>
            </a:extLst>
          </p:cNvPr>
          <p:cNvSpPr>
            <a:spLocks xmlns:a="http://schemas.openxmlformats.org/drawingml/2006/main" noGrp="1"/>
          </p:cNvSpPr>
          <p:nvPr/>
        </p:nvSpPr>
        <p:spPr>
          <a:xfrm xmlns:a="http://schemas.openxmlformats.org/drawingml/2006/main">
            <a:off x="6385560" y="440436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04  Citizen mobile app</a:t>
            </a:r>
          </a:p>
        </p:txBody>
      </p:sp>
      <p:sp>
        <p:nvSpPr>
          <p:cNvPr id="18" name="Crowdsource geotagged inspections of local public asset">
            <a:extLst xmlns:a="http://schemas.openxmlformats.org/drawingml/2006/main">
              <a:ext uri="{FF2B5EF4-FFF2-40B4-BE49-F238E27FC236}">
                <a16:creationId xmlns:a16="http://schemas.microsoft.com/office/drawing/2014/main" id="{04DB0C30-7EA8-4428-907B-5724B06D7AC7}"/>
              </a:ext>
            </a:extLst>
          </p:cNvPr>
          <p:cNvSpPr>
            <a:spLocks xmlns:a="http://schemas.openxmlformats.org/drawingml/2006/main" noGrp="1"/>
          </p:cNvSpPr>
          <p:nvPr/>
        </p:nvSpPr>
        <p:spPr>
          <a:xfrm xmlns:a="http://schemas.openxmlformats.org/drawingml/2006/main">
            <a:off x="6385560" y="470154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Crowdsource geotagged inspections of local public assets.</a:t>
            </a:r>
          </a:p>
        </p:txBody>
      </p:sp>
      <p:sp>
        <p:nvSpPr>
          <p:cNvPr id="19" name="05  Policy recommendations">
            <a:extLst xmlns:a="http://schemas.openxmlformats.org/drawingml/2006/main">
              <a:ext uri="{FF2B5EF4-FFF2-40B4-BE49-F238E27FC236}">
                <a16:creationId xmlns:a16="http://schemas.microsoft.com/office/drawing/2014/main" id="{3CDBD4DC-31FA-4D34-B836-E6317C9FD8D4}"/>
              </a:ext>
            </a:extLst>
          </p:cNvPr>
          <p:cNvSpPr>
            <a:spLocks xmlns:a="http://schemas.openxmlformats.org/drawingml/2006/main" noGrp="1"/>
          </p:cNvSpPr>
          <p:nvPr/>
        </p:nvSpPr>
        <p:spPr>
          <a:xfrm xmlns:a="http://schemas.openxmlformats.org/drawingml/2006/main">
            <a:off x="6385560" y="518160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05  Policy recommendations</a:t>
            </a:r>
          </a:p>
        </p:txBody>
      </p:sp>
      <p:sp>
        <p:nvSpPr>
          <p:cNvPr id="20" name="Use historical anomaly patterns to suggest stronger com">
            <a:extLst xmlns:a="http://schemas.openxmlformats.org/drawingml/2006/main">
              <a:ext uri="{FF2B5EF4-FFF2-40B4-BE49-F238E27FC236}">
                <a16:creationId xmlns:a16="http://schemas.microsoft.com/office/drawing/2014/main" id="{8AFE1EF6-77C9-4E4F-95A5-41B7C9B9D349}"/>
              </a:ext>
            </a:extLst>
          </p:cNvPr>
          <p:cNvSpPr>
            <a:spLocks xmlns:a="http://schemas.openxmlformats.org/drawingml/2006/main" noGrp="1"/>
          </p:cNvSpPr>
          <p:nvPr/>
        </p:nvSpPr>
        <p:spPr>
          <a:xfrm xmlns:a="http://schemas.openxmlformats.org/drawingml/2006/main">
            <a:off x="6385560" y="547878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Use historical anomaly patterns to suggest stronger compliance guidelines.</a:t>
            </a:r>
          </a:p>
        </p:txBody>
      </p:sp>
      <p:sp>
        <p:nvSpPr>
          <p:cNvPr id="21" name="100% digital screening is a coverage target. Financial ">
            <a:extLst xmlns:a="http://schemas.openxmlformats.org/drawingml/2006/main">
              <a:ext uri="{FF2B5EF4-FFF2-40B4-BE49-F238E27FC236}">
                <a16:creationId xmlns:a16="http://schemas.microsoft.com/office/drawing/2014/main" id="{18B26466-F6DC-4698-89B4-AED343027419}"/>
              </a:ext>
            </a:extLst>
          </p:cNvPr>
          <p:cNvSpPr>
            <a:spLocks xmlns:a="http://schemas.openxmlformats.org/drawingml/2006/main" noGrp="1"/>
          </p:cNvSpPr>
          <p:nvPr/>
        </p:nvSpPr>
        <p:spPr>
          <a:xfrm xmlns:a="http://schemas.openxmlformats.org/drawingml/2006/main">
            <a:off x="594360" y="6141720"/>
            <a:ext cx="110109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20" b="0">
                <a:solidFill>
                  <a:srgbClr val="4C606B"/>
                </a:solidFill>
                <a:latin typeface="Calibri"/>
                <a:ea typeface="Calibri"/>
                <a:cs typeface="Calibri"/>
              </a:defRPr>
            </a:pPr>
            <a:r>
              <a:rPr sz="1320" b="0">
                <a:solidFill>
                  <a:srgbClr val="4C606B"/>
                </a:solidFill>
                <a:latin typeface="Calibri"/>
                <a:ea typeface="Calibri"/>
                <a:cs typeface="Calibri"/>
              </a:rPr>
              <a:t>100% digital screening is a coverage target. Financial savings and detection quality require pilot evaluation.</a:t>
            </a:r>
          </a:p>
        </p:txBody>
      </p:sp>
    </p:spTree>
    <p:extLst>
      <p:ext uri="{BB962C8B-B14F-4D97-AF65-F5344CB8AC3E}">
        <p14:creationId xmlns:p14="http://schemas.microsoft.com/office/powerpoint/2010/main" val="7503545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SEARCH AND REFERENCES">
            <a:extLst xmlns:a="http://schemas.openxmlformats.org/drawingml/2006/main">
              <a:ext uri="{FF2B5EF4-FFF2-40B4-BE49-F238E27FC236}">
                <a16:creationId xmlns:a16="http://schemas.microsoft.com/office/drawing/2014/main" id="{211A9D5F-1945-47A7-A234-84B52985604C}"/>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RESEARCH AND REFERENCES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898a17607b0421d"/>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Evidence, proposed data sources and technical foundatio">
            <a:extLst xmlns:a="http://schemas.openxmlformats.org/drawingml/2006/main">
              <a:ext uri="{FF2B5EF4-FFF2-40B4-BE49-F238E27FC236}">
                <a16:creationId xmlns:a16="http://schemas.microsoft.com/office/drawing/2014/main" id="{41B8CB87-017E-4F48-A0AC-2609912D9E34}"/>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Evidence, proposed data sources and technical foundations</a:t>
            </a:r>
          </a:p>
        </p:txBody>
      </p:sp>
      <p:sp>
        <p:nvSpPr>
          <p:cNvPr id="4" name="">
            <a:extLst xmlns:a="http://schemas.openxmlformats.org/drawingml/2006/main">
              <a:ext uri="{FF2B5EF4-FFF2-40B4-BE49-F238E27FC236}">
                <a16:creationId xmlns:a16="http://schemas.microsoft.com/office/drawing/2014/main" id="{B3388AC7-3ECD-426B-BFA5-A0DB5ACEC282}"/>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48CEE2F4-5802-4F8D-B63C-154BF09A1394}"/>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3E8C9E87-4C6B-4C9A-9823-1F00FB1B9F6E}"/>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6 / 7">
            <a:extLst xmlns:a="http://schemas.openxmlformats.org/drawingml/2006/main">
              <a:ext uri="{FF2B5EF4-FFF2-40B4-BE49-F238E27FC236}">
                <a16:creationId xmlns:a16="http://schemas.microsoft.com/office/drawing/2014/main" id="{55111EB2-0F76-443E-B2C5-135080DCBF50}"/>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6 / 7</a:t>
            </a:r>
          </a:p>
        </p:txBody>
      </p:sp>
      <p:sp>
        <p:nvSpPr>
          <p:cNvPr id="8" name="Supporting research">
            <a:extLst xmlns:a="http://schemas.openxmlformats.org/drawingml/2006/main">
              <a:ext uri="{FF2B5EF4-FFF2-40B4-BE49-F238E27FC236}">
                <a16:creationId xmlns:a16="http://schemas.microsoft.com/office/drawing/2014/main" id="{EEFDC78C-55C5-4AAB-94D1-3BAF06C2CACD}"/>
              </a:ext>
            </a:extLst>
          </p:cNvPr>
          <p:cNvSpPr>
            <a:spLocks xmlns:a="http://schemas.openxmlformats.org/drawingml/2006/main" noGrp="1"/>
          </p:cNvSpPr>
          <p:nvPr/>
        </p:nvSpPr>
        <p:spPr>
          <a:xfrm xmlns:a="http://schemas.openxmlformats.org/drawingml/2006/main">
            <a:off x="594360" y="1623060"/>
            <a:ext cx="52959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Supporting research</a:t>
            </a:r>
          </a:p>
        </p:txBody>
      </p:sp>
      <p:sp>
        <p:nvSpPr>
          <p:cNvPr id="9" name="CAG reports">
            <a:extLst xmlns:a="http://schemas.openxmlformats.org/drawingml/2006/main">
              <a:ext uri="{FF2B5EF4-FFF2-40B4-BE49-F238E27FC236}">
                <a16:creationId xmlns:a16="http://schemas.microsoft.com/office/drawing/2014/main" id="{CF036724-BBBE-4662-9006-0277964ED7BC}"/>
              </a:ext>
            </a:extLst>
          </p:cNvPr>
          <p:cNvSpPr>
            <a:spLocks xmlns:a="http://schemas.openxmlformats.org/drawingml/2006/main" noGrp="1"/>
          </p:cNvSpPr>
          <p:nvPr/>
        </p:nvSpPr>
        <p:spPr>
          <a:xfrm xmlns:a="http://schemas.openxmlformats.org/drawingml/2006/main">
            <a:off x="594360" y="2049780"/>
            <a:ext cx="52578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162B3B"/>
                </a:solidFill>
                <a:latin typeface="Calibri"/>
                <a:ea typeface="Calibri"/>
                <a:cs typeface="Calibri"/>
              </a:defRPr>
            </a:pPr>
            <a:r>
              <a:rPr sz="1680" b="1">
                <a:solidFill>
                  <a:srgbClr val="162B3B"/>
                </a:solidFill>
                <a:latin typeface="Calibri"/>
                <a:ea typeface="Calibri"/>
                <a:cs typeface="Calibri"/>
              </a:rPr>
              <a:t>CAG reports</a:t>
            </a:r>
          </a:p>
        </p:txBody>
      </p:sp>
      <p:sp>
        <p:nvSpPr>
          <p:cNvPr id="10" name="Recurring fund slippages, implementation delays and unu">
            <a:extLst xmlns:a="http://schemas.openxmlformats.org/drawingml/2006/main">
              <a:ext uri="{FF2B5EF4-FFF2-40B4-BE49-F238E27FC236}">
                <a16:creationId xmlns:a16="http://schemas.microsoft.com/office/drawing/2014/main" id="{9D811806-8B2D-4185-9A46-78E8E8A65068}"/>
              </a:ext>
            </a:extLst>
          </p:cNvPr>
          <p:cNvSpPr>
            <a:spLocks xmlns:a="http://schemas.openxmlformats.org/drawingml/2006/main" noGrp="1"/>
          </p:cNvSpPr>
          <p:nvPr/>
        </p:nvSpPr>
        <p:spPr>
          <a:xfrm xmlns:a="http://schemas.openxmlformats.org/drawingml/2006/main">
            <a:off x="594360" y="2369820"/>
            <a:ext cx="525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Recurring fund slippages, implementation delays and unutilized district allocations in public schemes.</a:t>
            </a:r>
          </a:p>
        </p:txBody>
      </p:sp>
      <p:sp>
        <p:nvSpPr>
          <p:cNvPr id="11" name="CAG: MPLADS performance audit">
            <a:extLst xmlns:a="http://schemas.openxmlformats.org/drawingml/2006/main">
              <a:ext uri="{FF2B5EF4-FFF2-40B4-BE49-F238E27FC236}">
                <a16:creationId xmlns:a16="http://schemas.microsoft.com/office/drawing/2014/main" id="{0C2DD85D-4C7F-4CAE-BB92-34AF389B1C35}"/>
              </a:ext>
            </a:extLst>
          </p:cNvPr>
          <p:cNvSpPr>
            <a:spLocks xmlns:a="http://schemas.openxmlformats.org/drawingml/2006/main" noGrp="1"/>
          </p:cNvSpPr>
          <p:nvPr/>
        </p:nvSpPr>
        <p:spPr>
          <a:xfrm xmlns:a="http://schemas.openxmlformats.org/drawingml/2006/main">
            <a:off x="594360" y="2948940"/>
            <a:ext cx="52578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234F83"/>
                </a:solidFill>
                <a:latin typeface="Calibri"/>
                <a:ea typeface="Calibri"/>
                <a:cs typeface="Calibri"/>
              </a:defRPr>
            </a:pPr>
            <a:r>
              <a:rPr sz="1380" b="0">
                <a:solidFill>
                  <a:srgbClr val="234F83"/>
                </a:solidFill>
                <a:latin typeface="Calibri"/>
                <a:ea typeface="Calibri"/>
                <a:cs typeface="Calibri"/>
                <a:hlinkClick xmlns:r="http://schemas.openxmlformats.org/officeDocument/2006/relationships" r:id="Rbc3894d0a76547ca"/>
              </a:rPr>
              <a:t>CAG: MPLADS performance audit</a:t>
            </a:r>
          </a:p>
        </p:txBody>
      </p:sp>
      <p:sp>
        <p:nvSpPr>
          <p:cNvPr id="12" name="GovTech research themes">
            <a:extLst xmlns:a="http://schemas.openxmlformats.org/drawingml/2006/main">
              <a:ext uri="{FF2B5EF4-FFF2-40B4-BE49-F238E27FC236}">
                <a16:creationId xmlns:a16="http://schemas.microsoft.com/office/drawing/2014/main" id="{37C0C0A9-E89C-46B9-AB01-8E3D43A7DF6C}"/>
              </a:ext>
            </a:extLst>
          </p:cNvPr>
          <p:cNvSpPr>
            <a:spLocks xmlns:a="http://schemas.openxmlformats.org/drawingml/2006/main" noGrp="1"/>
          </p:cNvSpPr>
          <p:nvPr/>
        </p:nvSpPr>
        <p:spPr>
          <a:xfrm xmlns:a="http://schemas.openxmlformats.org/drawingml/2006/main">
            <a:off x="594360" y="3337560"/>
            <a:ext cx="52578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162B3B"/>
                </a:solidFill>
                <a:latin typeface="Calibri"/>
                <a:ea typeface="Calibri"/>
                <a:cs typeface="Calibri"/>
              </a:defRPr>
            </a:pPr>
            <a:r>
              <a:rPr sz="1680" b="1">
                <a:solidFill>
                  <a:srgbClr val="162B3B"/>
                </a:solidFill>
                <a:latin typeface="Calibri"/>
                <a:ea typeface="Calibri"/>
                <a:cs typeface="Calibri"/>
              </a:rPr>
              <a:t>GovTech research themes</a:t>
            </a:r>
          </a:p>
        </p:txBody>
      </p:sp>
      <p:sp>
        <p:nvSpPr>
          <p:cNvPr id="13" name="Automated fraud detection, public financial management ">
            <a:extLst xmlns:a="http://schemas.openxmlformats.org/drawingml/2006/main">
              <a:ext uri="{FF2B5EF4-FFF2-40B4-BE49-F238E27FC236}">
                <a16:creationId xmlns:a16="http://schemas.microsoft.com/office/drawing/2014/main" id="{D52A1B6B-B2FD-45B8-96C1-8104D5D7B155}"/>
              </a:ext>
            </a:extLst>
          </p:cNvPr>
          <p:cNvSpPr>
            <a:spLocks xmlns:a="http://schemas.openxmlformats.org/drawingml/2006/main" noGrp="1"/>
          </p:cNvSpPr>
          <p:nvPr/>
        </p:nvSpPr>
        <p:spPr>
          <a:xfrm xmlns:a="http://schemas.openxmlformats.org/drawingml/2006/main">
            <a:off x="594360" y="3649980"/>
            <a:ext cx="5257800" cy="556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Automated fraud detection, public financial management systems and unsupervised anomaly detection.</a:t>
            </a:r>
          </a:p>
        </p:txBody>
      </p:sp>
      <p:sp>
        <p:nvSpPr>
          <p:cNvPr id="14" name="Proposed data sources">
            <a:extLst xmlns:a="http://schemas.openxmlformats.org/drawingml/2006/main">
              <a:ext uri="{FF2B5EF4-FFF2-40B4-BE49-F238E27FC236}">
                <a16:creationId xmlns:a16="http://schemas.microsoft.com/office/drawing/2014/main" id="{D333DBD7-03B6-4708-99E6-181C05109EE9}"/>
              </a:ext>
            </a:extLst>
          </p:cNvPr>
          <p:cNvSpPr>
            <a:spLocks xmlns:a="http://schemas.openxmlformats.org/drawingml/2006/main" noGrp="1"/>
          </p:cNvSpPr>
          <p:nvPr/>
        </p:nvSpPr>
        <p:spPr>
          <a:xfrm xmlns:a="http://schemas.openxmlformats.org/drawingml/2006/main">
            <a:off x="6362700" y="1623060"/>
            <a:ext cx="524256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Proposed data sources</a:t>
            </a:r>
          </a:p>
        </p:txBody>
      </p:sp>
      <p:graphicFrame>
        <p:nvGraphicFramePr>
          <p:cNvPr id="37" name=""/>
          <p:cNvGraphicFramePr/>
          <p:nvPr/>
        </p:nvGraphicFramePr>
        <p:xfrm>
          <a:off xmlns:a="http://schemas.openxmlformats.org/drawingml/2006/main" x="6362700" y="2049780"/>
          <a:ext xmlns:a="http://schemas.openxmlformats.org/drawingml/2006/main" cx="5242560" cy="2148840"/>
        </p:xfrm>
        <a:graphic xmlns:a="http://schemas.openxmlformats.org/drawingml/2006/main">
          <a:graphicData uri="http://schemas.openxmlformats.org/drawingml/2006/table">
            <a:tbl>
              <a:tblPr firstRow="0" bandRow="0"/>
              <a:tblGrid>
                <a:gridCol w="1729740"/>
                <a:gridCol w="3512820"/>
              </a:tblGrid>
              <a:tr h="365760">
                <a:tc>
                  <a:txBody>
                    <a:bodyPr lIns="121920" tIns="45720" rIns="106680" bIns="45720">
                      <a:noAutofit/>
                    </a:bodyPr>
                    <a:lstStyle/>
                    <a:p>
                      <a:r>
                        <a:rPr sz="1440" b="1">
                          <a:solidFill>
                            <a:srgbClr val="FFFFFF"/>
                          </a:solidFill>
                          <a:latin typeface="Calibri"/>
                          <a:ea typeface="Calibri"/>
                          <a:cs typeface="Calibri"/>
                        </a:rPr>
                        <a:t>Source</a:t>
                      </a:r>
                    </a:p>
                  </a:txBody>
                  <a:tcPr marL="121920" marR="106680" marT="45720" marB="45720" anchor="ctr">
                    <a:solidFill>
                      <a:srgbClr val="234F83"/>
                    </a:solidFill>
                  </a:tcPr>
                </a:tc>
                <a:tc>
                  <a:txBody>
                    <a:bodyPr lIns="121920" tIns="45720" rIns="106680" bIns="45720">
                      <a:noAutofit/>
                    </a:bodyPr>
                    <a:lstStyle/>
                    <a:p>
                      <a:r>
                        <a:rPr sz="1440" b="1">
                          <a:solidFill>
                            <a:srgbClr val="FFFFFF"/>
                          </a:solidFill>
                          <a:latin typeface="Calibri"/>
                          <a:ea typeface="Calibri"/>
                          <a:cs typeface="Calibri"/>
                        </a:rPr>
                        <a:t>Records</a:t>
                      </a:r>
                    </a:p>
                  </a:txBody>
                  <a:tcPr marL="121920" marR="106680" marT="45720" marB="45720" anchor="ctr">
                    <a:solidFill>
                      <a:srgbClr val="234F83"/>
                    </a:solidFill>
                  </a:tcPr>
                </a:tc>
              </a:tr>
              <a:tr h="594360">
                <a:tc>
                  <a:txBody>
                    <a:bodyPr lIns="121920" tIns="45720" rIns="106680" bIns="45720">
                      <a:noAutofit/>
                    </a:bodyPr>
                    <a:lstStyle/>
                    <a:p>
                      <a:r>
                        <a:rPr sz="1500" b="1">
                          <a:solidFill>
                            <a:srgbClr val="162B3B"/>
                          </a:solidFill>
                          <a:latin typeface="Calibri"/>
                          <a:ea typeface="Calibri"/>
                          <a:cs typeface="Calibri"/>
                          <a:hlinkClick xmlns:r="http://schemas.openxmlformats.org/officeDocument/2006/relationships" r:id="R953bfbd2ce4e407f"/>
                        </a:rPr>
                        <a:t>MPLADS portal</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Allocations, MP recommendations and expenditure reports</a:t>
                      </a:r>
                    </a:p>
                  </a:txBody>
                  <a:tcPr marL="121920" marR="106680" marT="45720" marB="45720" anchor="ctr">
                    <a:solidFill>
                      <a:srgbClr val="FFFFFF"/>
                    </a:solidFill>
                  </a:tcPr>
                </a:tc>
              </a:tr>
              <a:tr h="594360">
                <a:tc>
                  <a:txBody>
                    <a:bodyPr lIns="121920" tIns="45720" rIns="106680" bIns="45720">
                      <a:noAutofit/>
                    </a:bodyPr>
                    <a:lstStyle/>
                    <a:p>
                      <a:r>
                        <a:rPr sz="1500" b="1">
                          <a:solidFill>
                            <a:srgbClr val="162B3B"/>
                          </a:solidFill>
                          <a:latin typeface="Calibri"/>
                          <a:ea typeface="Calibri"/>
                          <a:cs typeface="Calibri"/>
                          <a:hlinkClick xmlns:r="http://schemas.openxmlformats.org/officeDocument/2006/relationships" r:id="R097d1f1e7689431a"/>
                        </a:rPr>
                        <a:t>PFMS logs</a:t>
                      </a:r>
                    </a:p>
                  </a:txBody>
                  <a:tcPr marL="121920" marR="106680" marT="45720" marB="45720" anchor="ctr">
                    <a:solidFill>
                      <a:srgbClr val="EDF4FA"/>
                    </a:solidFill>
                  </a:tcPr>
                </a:tc>
                <a:tc>
                  <a:txBody>
                    <a:bodyPr lIns="121920" tIns="45720" rIns="106680" bIns="45720">
                      <a:noAutofit/>
                    </a:bodyPr>
                    <a:lstStyle/>
                    <a:p>
                      <a:r>
                        <a:rPr sz="1500" b="0">
                          <a:solidFill>
                            <a:srgbClr val="162B3B"/>
                          </a:solidFill>
                          <a:latin typeface="Calibri"/>
                          <a:ea typeface="Calibri"/>
                          <a:cs typeface="Calibri"/>
                        </a:rPr>
                        <a:t>Transaction trails and vendor payment records</a:t>
                      </a:r>
                    </a:p>
                  </a:txBody>
                  <a:tcPr marL="121920" marR="106680" marT="45720" marB="45720" anchor="ctr">
                    <a:solidFill>
                      <a:srgbClr val="EDF4FA"/>
                    </a:solidFill>
                  </a:tcPr>
                </a:tc>
              </a:tr>
              <a:tr h="594360">
                <a:tc>
                  <a:txBody>
                    <a:bodyPr lIns="121920" tIns="45720" rIns="106680" bIns="45720">
                      <a:noAutofit/>
                    </a:bodyPr>
                    <a:lstStyle/>
                    <a:p>
                      <a:r>
                        <a:rPr sz="1500" b="1">
                          <a:solidFill>
                            <a:srgbClr val="162B3B"/>
                          </a:solidFill>
                          <a:latin typeface="Calibri"/>
                          <a:ea typeface="Calibri"/>
                          <a:cs typeface="Calibri"/>
                        </a:rPr>
                        <a:t>Geospatial data</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District maps, coordinates and geotagged asset logs</a:t>
                      </a:r>
                    </a:p>
                  </a:txBody>
                  <a:tcPr marL="121920" marR="106680" marT="45720" marB="45720" anchor="ctr">
                    <a:solidFill>
                      <a:srgbClr val="FFFFFF"/>
                    </a:solidFill>
                  </a:tcPr>
                </a:tc>
              </a:tr>
            </a:tbl>
          </a:graphicData>
        </a:graphic>
      </p:graphicFrame>
      <p:sp>
        <p:nvSpPr>
          <p:cNvPr id="16" name="Market research">
            <a:extLst xmlns:a="http://schemas.openxmlformats.org/drawingml/2006/main">
              <a:ext uri="{FF2B5EF4-FFF2-40B4-BE49-F238E27FC236}">
                <a16:creationId xmlns:a16="http://schemas.microsoft.com/office/drawing/2014/main" id="{66D18F57-3431-4819-A553-BF70E23EBD60}"/>
              </a:ext>
            </a:extLst>
          </p:cNvPr>
          <p:cNvSpPr>
            <a:spLocks xmlns:a="http://schemas.openxmlformats.org/drawingml/2006/main" noGrp="1"/>
          </p:cNvSpPr>
          <p:nvPr/>
        </p:nvSpPr>
        <p:spPr>
          <a:xfrm xmlns:a="http://schemas.openxmlformats.org/drawingml/2006/main">
            <a:off x="594360" y="4541520"/>
            <a:ext cx="52882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Market research</a:t>
            </a:r>
          </a:p>
        </p:txBody>
      </p:sp>
      <p:sp>
        <p:nvSpPr>
          <p:cNvPr id="17" name="Demand: transparency tools for state and central minist">
            <a:extLst xmlns:a="http://schemas.openxmlformats.org/drawingml/2006/main">
              <a:ext uri="{FF2B5EF4-FFF2-40B4-BE49-F238E27FC236}">
                <a16:creationId xmlns:a16="http://schemas.microsoft.com/office/drawing/2014/main" id="{F82E41BA-C007-4BE4-A65C-26ED137CC18C}"/>
              </a:ext>
            </a:extLst>
          </p:cNvPr>
          <p:cNvSpPr>
            <a:spLocks xmlns:a="http://schemas.openxmlformats.org/drawingml/2006/main" noGrp="1"/>
          </p:cNvSpPr>
          <p:nvPr/>
        </p:nvSpPr>
        <p:spPr>
          <a:xfrm xmlns:a="http://schemas.openxmlformats.org/drawingml/2006/main">
            <a:off x="594360" y="4945380"/>
            <a:ext cx="52654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Demand: transparency tools for state and central ministries.</a:t>
            </a:r>
          </a:p>
          <a:p xmlns:a="http://schemas.openxmlformats.org/drawingml/2006/main">
            <a:r>
              <a:t/>
            </a:r>
          </a:p>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Efficiency target: digital monitoring of all eligible records.</a:t>
            </a:r>
          </a:p>
          <a:p xmlns:a="http://schemas.openxmlformats.org/drawingml/2006/main">
            <a:r>
              <a:t/>
            </a:r>
          </a:p>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Scalability: apply the approach beyond MPLADS, including MGNREGA and PMGSY.</a:t>
            </a:r>
          </a:p>
        </p:txBody>
      </p:sp>
      <p:sp>
        <p:nvSpPr>
          <p:cNvPr id="18" name="Technical documentation">
            <a:extLst xmlns:a="http://schemas.openxmlformats.org/drawingml/2006/main">
              <a:ext uri="{FF2B5EF4-FFF2-40B4-BE49-F238E27FC236}">
                <a16:creationId xmlns:a16="http://schemas.microsoft.com/office/drawing/2014/main" id="{919BF22B-7B43-4EE9-AAC5-86C7B73D87FC}"/>
              </a:ext>
            </a:extLst>
          </p:cNvPr>
          <p:cNvSpPr>
            <a:spLocks xmlns:a="http://schemas.openxmlformats.org/drawingml/2006/main" noGrp="1"/>
          </p:cNvSpPr>
          <p:nvPr/>
        </p:nvSpPr>
        <p:spPr>
          <a:xfrm xmlns:a="http://schemas.openxmlformats.org/drawingml/2006/main">
            <a:off x="6362700" y="4541520"/>
            <a:ext cx="524256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documentation</a:t>
            </a:r>
          </a:p>
        </p:txBody>
      </p:sp>
      <p:sp>
        <p:nvSpPr>
          <p:cNvPr id="19" name="Stack: React.js, FastAPI, MongoDB and Python analytics ">
            <a:extLst xmlns:a="http://schemas.openxmlformats.org/drawingml/2006/main">
              <a:ext uri="{FF2B5EF4-FFF2-40B4-BE49-F238E27FC236}">
                <a16:creationId xmlns:a16="http://schemas.microsoft.com/office/drawing/2014/main" id="{1016C45A-AEEB-4D60-93AC-1776D063C26F}"/>
              </a:ext>
            </a:extLst>
          </p:cNvPr>
          <p:cNvSpPr>
            <a:spLocks xmlns:a="http://schemas.openxmlformats.org/drawingml/2006/main" noGrp="1"/>
          </p:cNvSpPr>
          <p:nvPr/>
        </p:nvSpPr>
        <p:spPr>
          <a:xfrm xmlns:a="http://schemas.openxmlformats.org/drawingml/2006/main">
            <a:off x="6385560" y="4945380"/>
            <a:ext cx="51816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Stack: React.js, FastAPI, MongoDB and Python analytics with Pandas and scikit-learn.</a:t>
            </a:r>
          </a:p>
        </p:txBody>
      </p:sp>
      <p:sp>
        <p:nvSpPr>
          <p:cNvPr id="20" name="AI: Isolation Forest and a risk-scoring matrix.">
            <a:extLst xmlns:a="http://schemas.openxmlformats.org/drawingml/2006/main">
              <a:ext uri="{FF2B5EF4-FFF2-40B4-BE49-F238E27FC236}">
                <a16:creationId xmlns:a16="http://schemas.microsoft.com/office/drawing/2014/main" id="{7AE36C31-CB7E-43C0-8401-06B673BD299C}"/>
              </a:ext>
            </a:extLst>
          </p:cNvPr>
          <p:cNvSpPr>
            <a:spLocks xmlns:a="http://schemas.openxmlformats.org/drawingml/2006/main" noGrp="1"/>
          </p:cNvSpPr>
          <p:nvPr/>
        </p:nvSpPr>
        <p:spPr>
          <a:xfrm xmlns:a="http://schemas.openxmlformats.org/drawingml/2006/main">
            <a:off x="6385560" y="5532120"/>
            <a:ext cx="5181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AI: Isolation Forest and a risk-scoring matrix.</a:t>
            </a:r>
          </a:p>
        </p:txBody>
      </p:sp>
      <p:sp>
        <p:nvSpPr>
          <p:cNvPr id="21" name="Architecture: secure REST API microservices in the clou">
            <a:extLst xmlns:a="http://schemas.openxmlformats.org/drawingml/2006/main">
              <a:ext uri="{FF2B5EF4-FFF2-40B4-BE49-F238E27FC236}">
                <a16:creationId xmlns:a16="http://schemas.microsoft.com/office/drawing/2014/main" id="{B586ECC3-7C04-4888-BEA2-682E5D3D16AA}"/>
              </a:ext>
            </a:extLst>
          </p:cNvPr>
          <p:cNvSpPr>
            <a:spLocks xmlns:a="http://schemas.openxmlformats.org/drawingml/2006/main" noGrp="1"/>
          </p:cNvSpPr>
          <p:nvPr/>
        </p:nvSpPr>
        <p:spPr>
          <a:xfrm xmlns:a="http://schemas.openxmlformats.org/drawingml/2006/main">
            <a:off x="6385560" y="5905500"/>
            <a:ext cx="5181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Architecture: secure REST API microservices in the cloud.</a:t>
            </a:r>
          </a:p>
        </p:txBody>
      </p:sp>
      <p:sp>
        <p:nvSpPr>
          <p:cNvPr id="22" name="FastAPI documentation     Isolation Forest documentatio">
            <a:extLst xmlns:a="http://schemas.openxmlformats.org/drawingml/2006/main">
              <a:ext uri="{FF2B5EF4-FFF2-40B4-BE49-F238E27FC236}">
                <a16:creationId xmlns:a16="http://schemas.microsoft.com/office/drawing/2014/main" id="{EAA64978-5B41-4BC7-B13E-5556B3ADB687}"/>
              </a:ext>
            </a:extLst>
          </p:cNvPr>
          <p:cNvSpPr>
            <a:spLocks xmlns:a="http://schemas.openxmlformats.org/drawingml/2006/main" noGrp="1"/>
          </p:cNvSpPr>
          <p:nvPr/>
        </p:nvSpPr>
        <p:spPr>
          <a:xfrm xmlns:a="http://schemas.openxmlformats.org/drawingml/2006/main">
            <a:off x="6385560" y="6271260"/>
            <a:ext cx="521208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34F83"/>
                </a:solidFill>
                <a:latin typeface="Calibri"/>
                <a:ea typeface="Calibri"/>
                <a:cs typeface="Calibri"/>
              </a:defRPr>
            </a:pPr>
            <a:r>
              <a:rPr sz="1200" b="0">
                <a:solidFill>
                  <a:srgbClr val="234F83"/>
                </a:solidFill>
                <a:latin typeface="Calibri"/>
                <a:ea typeface="Calibri"/>
                <a:cs typeface="Calibri"/>
                <a:hlinkClick xmlns:r="http://schemas.openxmlformats.org/officeDocument/2006/relationships" r:id="R51deb4dcb19541af"/>
              </a:rPr>
              <a:t>FastAPI documentation</a:t>
            </a:r>
            <a:r>
              <a:rPr sz="1200" b="0">
                <a:solidFill>
                  <a:srgbClr val="234F83"/>
                </a:solidFill>
                <a:latin typeface="Calibri"/>
                <a:ea typeface="Calibri"/>
                <a:cs typeface="Calibri"/>
              </a:rPr>
              <a:t>     </a:t>
            </a:r>
            <a:r>
              <a:rPr sz="1200" b="0">
                <a:solidFill>
                  <a:srgbClr val="234F83"/>
                </a:solidFill>
                <a:latin typeface="Calibri"/>
                <a:ea typeface="Calibri"/>
                <a:cs typeface="Calibri"/>
                <a:hlinkClick xmlns:r="http://schemas.openxmlformats.org/officeDocument/2006/relationships" r:id="R5f1643a1151f4207"/>
              </a:rPr>
              <a:t>Isolation Forest documentation</a:t>
            </a:r>
          </a:p>
        </p:txBody>
      </p:sp>
    </p:spTree>
    <p:extLst>
      <p:ext uri="{BB962C8B-B14F-4D97-AF65-F5344CB8AC3E}">
        <p14:creationId xmlns:p14="http://schemas.microsoft.com/office/powerpoint/2010/main" val="6018844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ROJECT TEAM &amp; CONTRIBUTORS">
            <a:extLst xmlns:a="http://schemas.openxmlformats.org/drawingml/2006/main">
              <a:ext uri="{FF2B5EF4-FFF2-40B4-BE49-F238E27FC236}">
                <a16:creationId xmlns:a16="http://schemas.microsoft.com/office/drawing/2014/main" id="{C908BCC7-E7F4-45D0-8722-EFB77C186219}"/>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PROJECT TEAM &amp; CONTRIBUTORS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defa7305ce34281"/>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996566-A103-4A0E-880B-7EA0D2B37AA9}"/>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1C943936-66F0-401D-9ACD-4577467F267A}"/>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C3974AED-18BD-4C78-A5EB-B1C7AAE8F87E}"/>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7 / 7">
            <a:extLst xmlns:a="http://schemas.openxmlformats.org/drawingml/2006/main">
              <a:ext uri="{FF2B5EF4-FFF2-40B4-BE49-F238E27FC236}">
                <a16:creationId xmlns:a16="http://schemas.microsoft.com/office/drawing/2014/main" id="{78784A78-87F6-48F5-9096-C374A1BC314A}"/>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7 / 7</a:t>
            </a:r>
          </a:p>
        </p:txBody>
      </p:sp>
      <p:sp>
        <p:nvSpPr>
          <p:cNvPr id="7" name="College Name: F.E.T Agra College Agra">
            <a:extLst xmlns:a="http://schemas.openxmlformats.org/drawingml/2006/main">
              <a:ext uri="{FF2B5EF4-FFF2-40B4-BE49-F238E27FC236}">
                <a16:creationId xmlns:a16="http://schemas.microsoft.com/office/drawing/2014/main" id="{2B34AE5C-22E7-4050-BA71-A14D78ABDDD8}"/>
              </a:ext>
            </a:extLst>
          </p:cNvPr>
          <p:cNvSpPr>
            <a:spLocks xmlns:a="http://schemas.openxmlformats.org/drawingml/2006/main" noGrp="1"/>
          </p:cNvSpPr>
          <p:nvPr/>
        </p:nvSpPr>
        <p:spPr>
          <a:xfrm xmlns:a="http://schemas.openxmlformats.org/drawingml/2006/main">
            <a:off x="609600" y="1325880"/>
            <a:ext cx="10744200"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B3B"/>
                </a:solidFill>
                <a:latin typeface="Calibri"/>
                <a:ea typeface="Calibri"/>
                <a:cs typeface="Calibri"/>
              </a:defRPr>
            </a:pPr>
            <a:r>
              <a:rPr sz="2100" b="0">
                <a:solidFill>
                  <a:srgbClr val="162B3B"/>
                </a:solidFill>
                <a:latin typeface="Calibri"/>
                <a:ea typeface="Calibri"/>
                <a:cs typeface="Calibri"/>
              </a:rPr>
              <a:t>College Name: F.E.T Agra College Agra</a:t>
            </a:r>
          </a:p>
        </p:txBody>
      </p:sp>
      <p:sp>
        <p:nvSpPr>
          <p:cNvPr id="8" name="Team Name: Quantum Coders">
            <a:extLst xmlns:a="http://schemas.openxmlformats.org/drawingml/2006/main">
              <a:ext uri="{FF2B5EF4-FFF2-40B4-BE49-F238E27FC236}">
                <a16:creationId xmlns:a16="http://schemas.microsoft.com/office/drawing/2014/main" id="{5758F350-D793-489C-98DF-7DCFDC57E0CD}"/>
              </a:ext>
            </a:extLst>
          </p:cNvPr>
          <p:cNvSpPr>
            <a:spLocks xmlns:a="http://schemas.openxmlformats.org/drawingml/2006/main" noGrp="1"/>
          </p:cNvSpPr>
          <p:nvPr/>
        </p:nvSpPr>
        <p:spPr>
          <a:xfrm xmlns:a="http://schemas.openxmlformats.org/drawingml/2006/main">
            <a:off x="609600" y="186690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Name: Quantum Coders</a:t>
            </a:r>
          </a:p>
        </p:txBody>
      </p:sp>
      <p:sp>
        <p:nvSpPr>
          <p:cNvPr id="9" name="Team Leader: Krish Sehgal">
            <a:extLst xmlns:a="http://schemas.openxmlformats.org/drawingml/2006/main">
              <a:ext uri="{FF2B5EF4-FFF2-40B4-BE49-F238E27FC236}">
                <a16:creationId xmlns:a16="http://schemas.microsoft.com/office/drawing/2014/main" id="{14A7C4AF-D409-47CE-962F-4A9FF379F556}"/>
              </a:ext>
            </a:extLst>
          </p:cNvPr>
          <p:cNvSpPr>
            <a:spLocks xmlns:a="http://schemas.openxmlformats.org/drawingml/2006/main" noGrp="1"/>
          </p:cNvSpPr>
          <p:nvPr/>
        </p:nvSpPr>
        <p:spPr>
          <a:xfrm xmlns:a="http://schemas.openxmlformats.org/drawingml/2006/main">
            <a:off x="609600" y="229362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Leader: Krish Sehgal</a:t>
            </a:r>
          </a:p>
        </p:txBody>
      </p:sp>
      <p:graphicFrame>
        <p:nvGraphicFramePr>
          <p:cNvPr id="20" name=""/>
          <p:cNvGraphicFramePr/>
          <p:nvPr/>
        </p:nvGraphicFramePr>
        <p:xfrm>
          <a:off xmlns:a="http://schemas.openxmlformats.org/drawingml/2006/main" x="594360" y="2895600"/>
          <a:ext xmlns:a="http://schemas.openxmlformats.org/drawingml/2006/main" cx="11003280" cy="3429000"/>
        </p:xfrm>
        <a:graphic xmlns:a="http://schemas.openxmlformats.org/drawingml/2006/main">
          <a:graphicData uri="http://schemas.openxmlformats.org/drawingml/2006/table">
            <a:tbl>
              <a:tblPr firstRow="0" bandRow="0"/>
              <a:tblGrid>
                <a:gridCol w="3208020"/>
                <a:gridCol w="1905000"/>
                <a:gridCol w="3901440"/>
                <a:gridCol w="1988820"/>
              </a:tblGrid>
              <a:tr h="411480">
                <a:tc>
                  <a:txBody>
                    <a:bodyPr lIns="121920" tIns="45720" rIns="106680" bIns="45720">
                      <a:noAutofit/>
                    </a:bodyPr>
                    <a:lstStyle/>
                    <a:p>
                      <a:r>
                        <a:rPr sz="1500" b="1">
                          <a:solidFill>
                            <a:srgbClr val="FFFFFF"/>
                          </a:solidFill>
                          <a:latin typeface="Calibri"/>
                          <a:ea typeface="Calibri"/>
                          <a:cs typeface="Calibri"/>
                        </a:rPr>
                        <a:t>Name</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Roll number</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Email ID</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Branch / year</a:t>
                      </a:r>
                    </a:p>
                  </a:txBody>
                  <a:tcPr marL="121920" marR="106680" marT="45720" marB="45720" anchor="ctr">
                    <a:solidFill>
                      <a:srgbClr val="234F83"/>
                    </a:solidFill>
                  </a:tcPr>
                </a:tc>
              </a:tr>
              <a:tr h="502920">
                <a:tc>
                  <a:txBody>
                    <a:bodyPr lIns="121920" tIns="45720" rIns="106680" bIns="45720">
                      <a:noAutofit/>
                    </a:bodyPr>
                    <a:lstStyle/>
                    <a:p>
                      <a:r>
                        <a:rPr sz="1560" b="1">
                          <a:solidFill>
                            <a:srgbClr val="162B3B"/>
                          </a:solidFill>
                          <a:latin typeface="Calibri"/>
                          <a:ea typeface="Calibri"/>
                          <a:cs typeface="Calibri"/>
                        </a:rPr>
                        <a:t>Surya Pratap Singh Bais</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2500020100118</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suryasinghbais@gmail.com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2nd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Aqsa Mushir</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2400020100016</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aqsamushir@gmail.com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Shahin Khan</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2400020100092</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shahin01cse@gmail.com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Raj Prajapati</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2300020100061</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rajt65800@gmail.com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Krish Sehgal</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2300020100043</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krishsehgal08@gmail.com</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DFEEE7"/>
                    </a:solidFill>
                  </a:tcPr>
                </a:tc>
              </a:tr>
              <a:tr h="502920">
                <a:tc>
                  <a:txBody>
                    <a:bodyPr lIns="121920" tIns="45720" rIns="106680" bIns="45720">
                      <a:noAutofit/>
                    </a:bodyPr>
                    <a:lstStyle/>
                    <a:p>
                      <a:r>
                        <a:rPr sz="1560" b="1">
                          <a:solidFill>
                            <a:srgbClr val="162B3B"/>
                          </a:solidFill>
                          <a:latin typeface="Calibri"/>
                          <a:ea typeface="Calibri"/>
                          <a:cs typeface="Calibri"/>
                        </a:rPr>
                        <a:t>Vishal Sharma</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2300020100079</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vishal.sept05@gmail.com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bl>
          </a:graphicData>
        </a:graphic>
      </p:graphicFrame>
    </p:spTree>
    <p:extLst>
      <p:ext uri="{BB962C8B-B14F-4D97-AF65-F5344CB8AC3E}">
        <p14:creationId xmlns:p14="http://schemas.microsoft.com/office/powerpoint/2010/main" val="13511541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2026-09-11T05:12:47.0720000Z</dcterms:created>
  <dcterms:modified xsi:type="dcterms:W3CDTF">2026-09-11T05:12:47.0720000Z</dcterms:modified>
</coreProperties>
</file>